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4">
  <p:sldMasterIdLst>
    <p:sldMasterId id="2147483648" r:id="rId1"/>
  </p:sldMasterIdLst>
  <p:notesMasterIdLst>
    <p:notesMasterId r:id="rId26"/>
  </p:notesMasterIdLst>
  <p:sldIdLst>
    <p:sldId id="329" r:id="rId2"/>
    <p:sldId id="257" r:id="rId3"/>
    <p:sldId id="349" r:id="rId4"/>
    <p:sldId id="360" r:id="rId5"/>
    <p:sldId id="372" r:id="rId6"/>
    <p:sldId id="367" r:id="rId7"/>
    <p:sldId id="368" r:id="rId8"/>
    <p:sldId id="371" r:id="rId9"/>
    <p:sldId id="350" r:id="rId10"/>
    <p:sldId id="356" r:id="rId11"/>
    <p:sldId id="361" r:id="rId12"/>
    <p:sldId id="362" r:id="rId13"/>
    <p:sldId id="380" r:id="rId14"/>
    <p:sldId id="373" r:id="rId15"/>
    <p:sldId id="374" r:id="rId16"/>
    <p:sldId id="369" r:id="rId17"/>
    <p:sldId id="365" r:id="rId18"/>
    <p:sldId id="375" r:id="rId19"/>
    <p:sldId id="377" r:id="rId20"/>
    <p:sldId id="379" r:id="rId21"/>
    <p:sldId id="381" r:id="rId22"/>
    <p:sldId id="376" r:id="rId23"/>
    <p:sldId id="383" r:id="rId24"/>
    <p:sldId id="333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449A"/>
    <a:srgbClr val="2270B6"/>
    <a:srgbClr val="006641"/>
    <a:srgbClr val="005AA0"/>
    <a:srgbClr val="4E9136"/>
    <a:srgbClr val="004098"/>
    <a:srgbClr val="0D2F6E"/>
    <a:srgbClr val="B5C0D3"/>
    <a:srgbClr val="929292"/>
    <a:srgbClr val="1243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29" autoAdjust="0"/>
    <p:restoredTop sz="92769" autoAdjust="0"/>
  </p:normalViewPr>
  <p:slideViewPr>
    <p:cSldViewPr snapToGrid="0" snapToObjects="1" showGuides="1">
      <p:cViewPr varScale="1">
        <p:scale>
          <a:sx n="103" d="100"/>
          <a:sy n="103" d="100"/>
        </p:scale>
        <p:origin x="68" y="104"/>
      </p:cViewPr>
      <p:guideLst>
        <p:guide orient="horz" pos="2183"/>
        <p:guide pos="3863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F332C4-4416-41C6-8993-25982BFB68C8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B778AF-7DC8-457D-80B3-1AA98E87C2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2852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778AF-7DC8-457D-80B3-1AA98E87C27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66625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89503-FFF4-B786-C8A8-8F6233AFC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2588957-2DB0-CFF0-566F-4EDAF74B03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A9D1207-C72D-04E0-71DB-E1C11FD6E4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12DA3F5-D848-36EF-ED74-34AF61159A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778AF-7DC8-457D-80B3-1AA98E87C272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12598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D0533-B5A7-DC2B-87AB-3848AB9CA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DADF9C9-0CC7-1168-06C2-C039D01563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415C68C-F892-BA9E-D601-921787505C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C7E4F3-EB25-AAB8-B842-91E40EE05E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778AF-7DC8-457D-80B3-1AA98E87C272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64335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778AF-7DC8-457D-80B3-1AA98E87C272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19571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8FF3E-2750-4DA6-EEDB-C1D1191EA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5619FC6-8588-9F65-CC3B-E24BD11D8E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DE6750E-C958-828D-26C2-D1F4FFC3A5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ECA742-58CB-F3F6-6AEE-705D38B683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778AF-7DC8-457D-80B3-1AA98E87C272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40258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2B703F9E-6E73-A364-568D-4B2BC9F1C83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9783681" y="171169"/>
            <a:ext cx="2234833" cy="463191"/>
            <a:chOff x="1661209" y="2505078"/>
            <a:chExt cx="8869588" cy="1838309"/>
          </a:xfrm>
        </p:grpSpPr>
        <p:sp>
          <p:nvSpPr>
            <p:cNvPr id="12" name="ïṥ1íḋê">
              <a:extLst>
                <a:ext uri="{FF2B5EF4-FFF2-40B4-BE49-F238E27FC236}">
                  <a16:creationId xmlns:a16="http://schemas.microsoft.com/office/drawing/2014/main" id="{53E2C167-CD86-9962-D612-7691330E0FE1}"/>
                </a:ext>
              </a:extLst>
            </p:cNvPr>
            <p:cNvSpPr/>
            <p:nvPr/>
          </p:nvSpPr>
          <p:spPr bwMode="auto">
            <a:xfrm>
              <a:off x="3863508" y="3969363"/>
              <a:ext cx="6504588" cy="306947"/>
            </a:xfrm>
            <a:custGeom>
              <a:avLst/>
              <a:gdLst>
                <a:gd name="T0" fmla="*/ 43 w 1867"/>
                <a:gd name="T1" fmla="*/ 66 h 88"/>
                <a:gd name="T2" fmla="*/ 41 w 1867"/>
                <a:gd name="T3" fmla="*/ 35 h 88"/>
                <a:gd name="T4" fmla="*/ 104 w 1867"/>
                <a:gd name="T5" fmla="*/ 18 h 88"/>
                <a:gd name="T6" fmla="*/ 115 w 1867"/>
                <a:gd name="T7" fmla="*/ 65 h 88"/>
                <a:gd name="T8" fmla="*/ 113 w 1867"/>
                <a:gd name="T9" fmla="*/ 36 h 88"/>
                <a:gd name="T10" fmla="*/ 98 w 1867"/>
                <a:gd name="T11" fmla="*/ 58 h 88"/>
                <a:gd name="T12" fmla="*/ 152 w 1867"/>
                <a:gd name="T13" fmla="*/ 68 h 88"/>
                <a:gd name="T14" fmla="*/ 211 w 1867"/>
                <a:gd name="T15" fmla="*/ 68 h 88"/>
                <a:gd name="T16" fmla="*/ 270 w 1867"/>
                <a:gd name="T17" fmla="*/ 19 h 88"/>
                <a:gd name="T18" fmla="*/ 267 w 1867"/>
                <a:gd name="T19" fmla="*/ 62 h 88"/>
                <a:gd name="T20" fmla="*/ 264 w 1867"/>
                <a:gd name="T21" fmla="*/ 31 h 88"/>
                <a:gd name="T22" fmla="*/ 255 w 1867"/>
                <a:gd name="T23" fmla="*/ 59 h 88"/>
                <a:gd name="T24" fmla="*/ 339 w 1867"/>
                <a:gd name="T25" fmla="*/ 18 h 88"/>
                <a:gd name="T26" fmla="*/ 323 w 1867"/>
                <a:gd name="T27" fmla="*/ 45 h 88"/>
                <a:gd name="T28" fmla="*/ 451 w 1867"/>
                <a:gd name="T29" fmla="*/ 67 h 88"/>
                <a:gd name="T30" fmla="*/ 423 w 1867"/>
                <a:gd name="T31" fmla="*/ 42 h 88"/>
                <a:gd name="T32" fmla="*/ 513 w 1867"/>
                <a:gd name="T33" fmla="*/ 21 h 88"/>
                <a:gd name="T34" fmla="*/ 509 w 1867"/>
                <a:gd name="T35" fmla="*/ 36 h 88"/>
                <a:gd name="T36" fmla="*/ 560 w 1867"/>
                <a:gd name="T37" fmla="*/ 1 h 88"/>
                <a:gd name="T38" fmla="*/ 633 w 1867"/>
                <a:gd name="T39" fmla="*/ 20 h 88"/>
                <a:gd name="T40" fmla="*/ 695 w 1867"/>
                <a:gd name="T41" fmla="*/ 57 h 88"/>
                <a:gd name="T42" fmla="*/ 689 w 1867"/>
                <a:gd name="T43" fmla="*/ 18 h 88"/>
                <a:gd name="T44" fmla="*/ 681 w 1867"/>
                <a:gd name="T45" fmla="*/ 40 h 88"/>
                <a:gd name="T46" fmla="*/ 763 w 1867"/>
                <a:gd name="T47" fmla="*/ 33 h 88"/>
                <a:gd name="T48" fmla="*/ 813 w 1867"/>
                <a:gd name="T49" fmla="*/ 59 h 88"/>
                <a:gd name="T50" fmla="*/ 798 w 1867"/>
                <a:gd name="T51" fmla="*/ 20 h 88"/>
                <a:gd name="T52" fmla="*/ 804 w 1867"/>
                <a:gd name="T53" fmla="*/ 32 h 88"/>
                <a:gd name="T54" fmla="*/ 793 w 1867"/>
                <a:gd name="T55" fmla="*/ 66 h 88"/>
                <a:gd name="T56" fmla="*/ 875 w 1867"/>
                <a:gd name="T57" fmla="*/ 68 h 88"/>
                <a:gd name="T58" fmla="*/ 919 w 1867"/>
                <a:gd name="T59" fmla="*/ 55 h 88"/>
                <a:gd name="T60" fmla="*/ 892 w 1867"/>
                <a:gd name="T61" fmla="*/ 33 h 88"/>
                <a:gd name="T62" fmla="*/ 998 w 1867"/>
                <a:gd name="T63" fmla="*/ 20 h 88"/>
                <a:gd name="T64" fmla="*/ 941 w 1867"/>
                <a:gd name="T65" fmla="*/ 20 h 88"/>
                <a:gd name="T66" fmla="*/ 1053 w 1867"/>
                <a:gd name="T67" fmla="*/ 66 h 88"/>
                <a:gd name="T68" fmla="*/ 1071 w 1867"/>
                <a:gd name="T69" fmla="*/ 16 h 88"/>
                <a:gd name="T70" fmla="*/ 1127 w 1867"/>
                <a:gd name="T71" fmla="*/ 33 h 88"/>
                <a:gd name="T72" fmla="*/ 1159 w 1867"/>
                <a:gd name="T73" fmla="*/ 1 h 88"/>
                <a:gd name="T74" fmla="*/ 1240 w 1867"/>
                <a:gd name="T75" fmla="*/ 18 h 88"/>
                <a:gd name="T76" fmla="*/ 1299 w 1867"/>
                <a:gd name="T77" fmla="*/ 58 h 88"/>
                <a:gd name="T78" fmla="*/ 1277 w 1867"/>
                <a:gd name="T79" fmla="*/ 26 h 88"/>
                <a:gd name="T80" fmla="*/ 1291 w 1867"/>
                <a:gd name="T81" fmla="*/ 33 h 88"/>
                <a:gd name="T82" fmla="*/ 1350 w 1867"/>
                <a:gd name="T83" fmla="*/ 63 h 88"/>
                <a:gd name="T84" fmla="*/ 1380 w 1867"/>
                <a:gd name="T85" fmla="*/ 38 h 88"/>
                <a:gd name="T86" fmla="*/ 1414 w 1867"/>
                <a:gd name="T87" fmla="*/ 1 h 88"/>
                <a:gd name="T88" fmla="*/ 1447 w 1867"/>
                <a:gd name="T89" fmla="*/ 41 h 88"/>
                <a:gd name="T90" fmla="*/ 1503 w 1867"/>
                <a:gd name="T91" fmla="*/ 20 h 88"/>
                <a:gd name="T92" fmla="*/ 1517 w 1867"/>
                <a:gd name="T93" fmla="*/ 35 h 88"/>
                <a:gd name="T94" fmla="*/ 1583 w 1867"/>
                <a:gd name="T95" fmla="*/ 18 h 88"/>
                <a:gd name="T96" fmla="*/ 1583 w 1867"/>
                <a:gd name="T97" fmla="*/ 57 h 88"/>
                <a:gd name="T98" fmla="*/ 1649 w 1867"/>
                <a:gd name="T99" fmla="*/ 68 h 88"/>
                <a:gd name="T100" fmla="*/ 1695 w 1867"/>
                <a:gd name="T101" fmla="*/ 69 h 88"/>
                <a:gd name="T102" fmla="*/ 1695 w 1867"/>
                <a:gd name="T103" fmla="*/ 31 h 88"/>
                <a:gd name="T104" fmla="*/ 1777 w 1867"/>
                <a:gd name="T105" fmla="*/ 87 h 88"/>
                <a:gd name="T106" fmla="*/ 1774 w 1867"/>
                <a:gd name="T107" fmla="*/ 67 h 88"/>
                <a:gd name="T108" fmla="*/ 1775 w 1867"/>
                <a:gd name="T109" fmla="*/ 27 h 88"/>
                <a:gd name="T110" fmla="*/ 1760 w 1867"/>
                <a:gd name="T111" fmla="*/ 35 h 88"/>
                <a:gd name="T112" fmla="*/ 1826 w 1867"/>
                <a:gd name="T113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867" h="88">
                  <a:moveTo>
                    <a:pt x="0" y="1"/>
                  </a:moveTo>
                  <a:cubicBezTo>
                    <a:pt x="30" y="1"/>
                    <a:pt x="30" y="1"/>
                    <a:pt x="30" y="1"/>
                  </a:cubicBezTo>
                  <a:cubicBezTo>
                    <a:pt x="36" y="1"/>
                    <a:pt x="41" y="2"/>
                    <a:pt x="45" y="3"/>
                  </a:cubicBezTo>
                  <a:cubicBezTo>
                    <a:pt x="49" y="5"/>
                    <a:pt x="52" y="7"/>
                    <a:pt x="54" y="11"/>
                  </a:cubicBezTo>
                  <a:cubicBezTo>
                    <a:pt x="57" y="14"/>
                    <a:pt x="59" y="17"/>
                    <a:pt x="60" y="21"/>
                  </a:cubicBezTo>
                  <a:cubicBezTo>
                    <a:pt x="61" y="25"/>
                    <a:pt x="61" y="30"/>
                    <a:pt x="61" y="34"/>
                  </a:cubicBezTo>
                  <a:cubicBezTo>
                    <a:pt x="61" y="42"/>
                    <a:pt x="61" y="47"/>
                    <a:pt x="59" y="51"/>
                  </a:cubicBezTo>
                  <a:cubicBezTo>
                    <a:pt x="57" y="55"/>
                    <a:pt x="55" y="58"/>
                    <a:pt x="52" y="61"/>
                  </a:cubicBezTo>
                  <a:cubicBezTo>
                    <a:pt x="49" y="64"/>
                    <a:pt x="46" y="66"/>
                    <a:pt x="43" y="66"/>
                  </a:cubicBezTo>
                  <a:cubicBezTo>
                    <a:pt x="38" y="68"/>
                    <a:pt x="34" y="68"/>
                    <a:pt x="30" y="68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0" y="1"/>
                    <a:pt x="0" y="1"/>
                    <a:pt x="0" y="1"/>
                  </a:cubicBezTo>
                  <a:close/>
                  <a:moveTo>
                    <a:pt x="20" y="16"/>
                  </a:moveTo>
                  <a:cubicBezTo>
                    <a:pt x="20" y="53"/>
                    <a:pt x="20" y="53"/>
                    <a:pt x="20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30" y="53"/>
                    <a:pt x="33" y="53"/>
                    <a:pt x="35" y="52"/>
                  </a:cubicBezTo>
                  <a:cubicBezTo>
                    <a:pt x="37" y="51"/>
                    <a:pt x="38" y="49"/>
                    <a:pt x="39" y="46"/>
                  </a:cubicBezTo>
                  <a:cubicBezTo>
                    <a:pt x="40" y="44"/>
                    <a:pt x="41" y="40"/>
                    <a:pt x="41" y="35"/>
                  </a:cubicBezTo>
                  <a:cubicBezTo>
                    <a:pt x="41" y="28"/>
                    <a:pt x="39" y="23"/>
                    <a:pt x="37" y="20"/>
                  </a:cubicBezTo>
                  <a:cubicBezTo>
                    <a:pt x="35" y="18"/>
                    <a:pt x="31" y="16"/>
                    <a:pt x="25" y="16"/>
                  </a:cubicBezTo>
                  <a:cubicBezTo>
                    <a:pt x="20" y="16"/>
                    <a:pt x="20" y="16"/>
                    <a:pt x="20" y="16"/>
                  </a:cubicBezTo>
                  <a:close/>
                  <a:moveTo>
                    <a:pt x="97" y="35"/>
                  </a:moveTo>
                  <a:cubicBezTo>
                    <a:pt x="79" y="33"/>
                    <a:pt x="79" y="33"/>
                    <a:pt x="79" y="33"/>
                  </a:cubicBezTo>
                  <a:cubicBezTo>
                    <a:pt x="80" y="30"/>
                    <a:pt x="81" y="28"/>
                    <a:pt x="82" y="26"/>
                  </a:cubicBezTo>
                  <a:cubicBezTo>
                    <a:pt x="83" y="24"/>
                    <a:pt x="85" y="23"/>
                    <a:pt x="88" y="21"/>
                  </a:cubicBezTo>
                  <a:cubicBezTo>
                    <a:pt x="89" y="20"/>
                    <a:pt x="92" y="20"/>
                    <a:pt x="95" y="19"/>
                  </a:cubicBezTo>
                  <a:cubicBezTo>
                    <a:pt x="98" y="19"/>
                    <a:pt x="101" y="18"/>
                    <a:pt x="104" y="18"/>
                  </a:cubicBezTo>
                  <a:cubicBezTo>
                    <a:pt x="110" y="18"/>
                    <a:pt x="115" y="19"/>
                    <a:pt x="118" y="19"/>
                  </a:cubicBezTo>
                  <a:cubicBezTo>
                    <a:pt x="121" y="20"/>
                    <a:pt x="124" y="21"/>
                    <a:pt x="126" y="23"/>
                  </a:cubicBezTo>
                  <a:cubicBezTo>
                    <a:pt x="128" y="25"/>
                    <a:pt x="129" y="27"/>
                    <a:pt x="130" y="29"/>
                  </a:cubicBezTo>
                  <a:cubicBezTo>
                    <a:pt x="131" y="32"/>
                    <a:pt x="132" y="34"/>
                    <a:pt x="132" y="36"/>
                  </a:cubicBezTo>
                  <a:cubicBezTo>
                    <a:pt x="132" y="58"/>
                    <a:pt x="132" y="58"/>
                    <a:pt x="132" y="58"/>
                  </a:cubicBezTo>
                  <a:cubicBezTo>
                    <a:pt x="132" y="60"/>
                    <a:pt x="132" y="62"/>
                    <a:pt x="132" y="63"/>
                  </a:cubicBezTo>
                  <a:cubicBezTo>
                    <a:pt x="132" y="65"/>
                    <a:pt x="133" y="66"/>
                    <a:pt x="134" y="68"/>
                  </a:cubicBezTo>
                  <a:cubicBezTo>
                    <a:pt x="116" y="68"/>
                    <a:pt x="116" y="68"/>
                    <a:pt x="116" y="68"/>
                  </a:cubicBezTo>
                  <a:cubicBezTo>
                    <a:pt x="116" y="67"/>
                    <a:pt x="115" y="66"/>
                    <a:pt x="115" y="65"/>
                  </a:cubicBezTo>
                  <a:cubicBezTo>
                    <a:pt x="115" y="65"/>
                    <a:pt x="115" y="64"/>
                    <a:pt x="114" y="62"/>
                  </a:cubicBezTo>
                  <a:cubicBezTo>
                    <a:pt x="112" y="65"/>
                    <a:pt x="110" y="66"/>
                    <a:pt x="107" y="67"/>
                  </a:cubicBezTo>
                  <a:cubicBezTo>
                    <a:pt x="104" y="69"/>
                    <a:pt x="100" y="69"/>
                    <a:pt x="96" y="69"/>
                  </a:cubicBezTo>
                  <a:cubicBezTo>
                    <a:pt x="90" y="69"/>
                    <a:pt x="85" y="68"/>
                    <a:pt x="82" y="65"/>
                  </a:cubicBezTo>
                  <a:cubicBezTo>
                    <a:pt x="79" y="63"/>
                    <a:pt x="78" y="59"/>
                    <a:pt x="78" y="55"/>
                  </a:cubicBezTo>
                  <a:cubicBezTo>
                    <a:pt x="78" y="52"/>
                    <a:pt x="79" y="49"/>
                    <a:pt x="81" y="46"/>
                  </a:cubicBezTo>
                  <a:cubicBezTo>
                    <a:pt x="83" y="44"/>
                    <a:pt x="87" y="42"/>
                    <a:pt x="93" y="41"/>
                  </a:cubicBezTo>
                  <a:cubicBezTo>
                    <a:pt x="100" y="40"/>
                    <a:pt x="105" y="39"/>
                    <a:pt x="107" y="38"/>
                  </a:cubicBezTo>
                  <a:cubicBezTo>
                    <a:pt x="109" y="37"/>
                    <a:pt x="111" y="37"/>
                    <a:pt x="113" y="36"/>
                  </a:cubicBezTo>
                  <a:cubicBezTo>
                    <a:pt x="113" y="33"/>
                    <a:pt x="113" y="32"/>
                    <a:pt x="112" y="31"/>
                  </a:cubicBezTo>
                  <a:cubicBezTo>
                    <a:pt x="111" y="30"/>
                    <a:pt x="109" y="30"/>
                    <a:pt x="107" y="30"/>
                  </a:cubicBezTo>
                  <a:cubicBezTo>
                    <a:pt x="104" y="30"/>
                    <a:pt x="102" y="30"/>
                    <a:pt x="100" y="31"/>
                  </a:cubicBezTo>
                  <a:cubicBezTo>
                    <a:pt x="99" y="32"/>
                    <a:pt x="98" y="33"/>
                    <a:pt x="97" y="35"/>
                  </a:cubicBezTo>
                  <a:close/>
                  <a:moveTo>
                    <a:pt x="113" y="45"/>
                  </a:moveTo>
                  <a:cubicBezTo>
                    <a:pt x="111" y="46"/>
                    <a:pt x="108" y="47"/>
                    <a:pt x="105" y="48"/>
                  </a:cubicBezTo>
                  <a:cubicBezTo>
                    <a:pt x="102" y="49"/>
                    <a:pt x="99" y="50"/>
                    <a:pt x="98" y="51"/>
                  </a:cubicBezTo>
                  <a:cubicBezTo>
                    <a:pt x="97" y="52"/>
                    <a:pt x="97" y="53"/>
                    <a:pt x="97" y="54"/>
                  </a:cubicBezTo>
                  <a:cubicBezTo>
                    <a:pt x="97" y="55"/>
                    <a:pt x="97" y="57"/>
                    <a:pt x="98" y="58"/>
                  </a:cubicBezTo>
                  <a:cubicBezTo>
                    <a:pt x="99" y="59"/>
                    <a:pt x="101" y="59"/>
                    <a:pt x="103" y="59"/>
                  </a:cubicBezTo>
                  <a:cubicBezTo>
                    <a:pt x="105" y="59"/>
                    <a:pt x="107" y="58"/>
                    <a:pt x="108" y="57"/>
                  </a:cubicBezTo>
                  <a:cubicBezTo>
                    <a:pt x="110" y="56"/>
                    <a:pt x="111" y="55"/>
                    <a:pt x="112" y="54"/>
                  </a:cubicBezTo>
                  <a:cubicBezTo>
                    <a:pt x="113" y="52"/>
                    <a:pt x="113" y="50"/>
                    <a:pt x="113" y="48"/>
                  </a:cubicBezTo>
                  <a:cubicBezTo>
                    <a:pt x="113" y="45"/>
                    <a:pt x="113" y="45"/>
                    <a:pt x="113" y="45"/>
                  </a:cubicBezTo>
                  <a:close/>
                  <a:moveTo>
                    <a:pt x="152" y="1"/>
                  </a:moveTo>
                  <a:cubicBezTo>
                    <a:pt x="171" y="1"/>
                    <a:pt x="171" y="1"/>
                    <a:pt x="171" y="1"/>
                  </a:cubicBezTo>
                  <a:cubicBezTo>
                    <a:pt x="171" y="68"/>
                    <a:pt x="171" y="68"/>
                    <a:pt x="171" y="68"/>
                  </a:cubicBezTo>
                  <a:cubicBezTo>
                    <a:pt x="152" y="68"/>
                    <a:pt x="152" y="68"/>
                    <a:pt x="152" y="68"/>
                  </a:cubicBezTo>
                  <a:cubicBezTo>
                    <a:pt x="152" y="1"/>
                    <a:pt x="152" y="1"/>
                    <a:pt x="152" y="1"/>
                  </a:cubicBezTo>
                  <a:close/>
                  <a:moveTo>
                    <a:pt x="193" y="1"/>
                  </a:moveTo>
                  <a:cubicBezTo>
                    <a:pt x="211" y="1"/>
                    <a:pt x="211" y="1"/>
                    <a:pt x="211" y="1"/>
                  </a:cubicBezTo>
                  <a:cubicBezTo>
                    <a:pt x="211" y="14"/>
                    <a:pt x="211" y="14"/>
                    <a:pt x="211" y="14"/>
                  </a:cubicBezTo>
                  <a:cubicBezTo>
                    <a:pt x="193" y="14"/>
                    <a:pt x="193" y="14"/>
                    <a:pt x="193" y="14"/>
                  </a:cubicBezTo>
                  <a:cubicBezTo>
                    <a:pt x="193" y="1"/>
                    <a:pt x="193" y="1"/>
                    <a:pt x="193" y="1"/>
                  </a:cubicBezTo>
                  <a:close/>
                  <a:moveTo>
                    <a:pt x="193" y="20"/>
                  </a:moveTo>
                  <a:cubicBezTo>
                    <a:pt x="211" y="20"/>
                    <a:pt x="211" y="20"/>
                    <a:pt x="211" y="20"/>
                  </a:cubicBezTo>
                  <a:cubicBezTo>
                    <a:pt x="211" y="68"/>
                    <a:pt x="211" y="68"/>
                    <a:pt x="211" y="68"/>
                  </a:cubicBezTo>
                  <a:cubicBezTo>
                    <a:pt x="193" y="68"/>
                    <a:pt x="193" y="68"/>
                    <a:pt x="193" y="68"/>
                  </a:cubicBezTo>
                  <a:cubicBezTo>
                    <a:pt x="193" y="20"/>
                    <a:pt x="193" y="20"/>
                    <a:pt x="193" y="20"/>
                  </a:cubicBezTo>
                  <a:close/>
                  <a:moveTo>
                    <a:pt x="249" y="35"/>
                  </a:moveTo>
                  <a:cubicBezTo>
                    <a:pt x="232" y="33"/>
                    <a:pt x="232" y="33"/>
                    <a:pt x="232" y="33"/>
                  </a:cubicBezTo>
                  <a:cubicBezTo>
                    <a:pt x="232" y="30"/>
                    <a:pt x="233" y="28"/>
                    <a:pt x="234" y="26"/>
                  </a:cubicBezTo>
                  <a:cubicBezTo>
                    <a:pt x="236" y="24"/>
                    <a:pt x="238" y="23"/>
                    <a:pt x="240" y="21"/>
                  </a:cubicBezTo>
                  <a:cubicBezTo>
                    <a:pt x="242" y="20"/>
                    <a:pt x="244" y="20"/>
                    <a:pt x="247" y="19"/>
                  </a:cubicBezTo>
                  <a:cubicBezTo>
                    <a:pt x="250" y="19"/>
                    <a:pt x="253" y="18"/>
                    <a:pt x="257" y="18"/>
                  </a:cubicBezTo>
                  <a:cubicBezTo>
                    <a:pt x="262" y="18"/>
                    <a:pt x="267" y="19"/>
                    <a:pt x="270" y="19"/>
                  </a:cubicBezTo>
                  <a:cubicBezTo>
                    <a:pt x="274" y="20"/>
                    <a:pt x="276" y="21"/>
                    <a:pt x="279" y="23"/>
                  </a:cubicBezTo>
                  <a:cubicBezTo>
                    <a:pt x="280" y="25"/>
                    <a:pt x="282" y="27"/>
                    <a:pt x="283" y="29"/>
                  </a:cubicBezTo>
                  <a:cubicBezTo>
                    <a:pt x="283" y="32"/>
                    <a:pt x="284" y="34"/>
                    <a:pt x="284" y="36"/>
                  </a:cubicBezTo>
                  <a:cubicBezTo>
                    <a:pt x="284" y="58"/>
                    <a:pt x="284" y="58"/>
                    <a:pt x="284" y="58"/>
                  </a:cubicBezTo>
                  <a:cubicBezTo>
                    <a:pt x="284" y="60"/>
                    <a:pt x="284" y="62"/>
                    <a:pt x="284" y="63"/>
                  </a:cubicBezTo>
                  <a:cubicBezTo>
                    <a:pt x="285" y="65"/>
                    <a:pt x="285" y="66"/>
                    <a:pt x="286" y="68"/>
                  </a:cubicBezTo>
                  <a:cubicBezTo>
                    <a:pt x="269" y="68"/>
                    <a:pt x="269" y="68"/>
                    <a:pt x="269" y="68"/>
                  </a:cubicBezTo>
                  <a:cubicBezTo>
                    <a:pt x="268" y="67"/>
                    <a:pt x="268" y="66"/>
                    <a:pt x="267" y="65"/>
                  </a:cubicBezTo>
                  <a:cubicBezTo>
                    <a:pt x="267" y="65"/>
                    <a:pt x="267" y="64"/>
                    <a:pt x="267" y="62"/>
                  </a:cubicBezTo>
                  <a:cubicBezTo>
                    <a:pt x="264" y="65"/>
                    <a:pt x="262" y="66"/>
                    <a:pt x="259" y="67"/>
                  </a:cubicBezTo>
                  <a:cubicBezTo>
                    <a:pt x="256" y="69"/>
                    <a:pt x="252" y="69"/>
                    <a:pt x="248" y="69"/>
                  </a:cubicBezTo>
                  <a:cubicBezTo>
                    <a:pt x="242" y="69"/>
                    <a:pt x="238" y="68"/>
                    <a:pt x="235" y="65"/>
                  </a:cubicBezTo>
                  <a:cubicBezTo>
                    <a:pt x="232" y="63"/>
                    <a:pt x="230" y="59"/>
                    <a:pt x="230" y="55"/>
                  </a:cubicBezTo>
                  <a:cubicBezTo>
                    <a:pt x="230" y="52"/>
                    <a:pt x="231" y="49"/>
                    <a:pt x="233" y="46"/>
                  </a:cubicBezTo>
                  <a:cubicBezTo>
                    <a:pt x="236" y="44"/>
                    <a:pt x="240" y="42"/>
                    <a:pt x="245" y="41"/>
                  </a:cubicBezTo>
                  <a:cubicBezTo>
                    <a:pt x="252" y="40"/>
                    <a:pt x="257" y="39"/>
                    <a:pt x="259" y="38"/>
                  </a:cubicBezTo>
                  <a:cubicBezTo>
                    <a:pt x="261" y="37"/>
                    <a:pt x="263" y="37"/>
                    <a:pt x="266" y="36"/>
                  </a:cubicBezTo>
                  <a:cubicBezTo>
                    <a:pt x="266" y="33"/>
                    <a:pt x="265" y="32"/>
                    <a:pt x="264" y="31"/>
                  </a:cubicBezTo>
                  <a:cubicBezTo>
                    <a:pt x="263" y="30"/>
                    <a:pt x="262" y="30"/>
                    <a:pt x="259" y="30"/>
                  </a:cubicBezTo>
                  <a:cubicBezTo>
                    <a:pt x="256" y="30"/>
                    <a:pt x="254" y="30"/>
                    <a:pt x="252" y="31"/>
                  </a:cubicBezTo>
                  <a:cubicBezTo>
                    <a:pt x="251" y="32"/>
                    <a:pt x="250" y="33"/>
                    <a:pt x="249" y="35"/>
                  </a:cubicBezTo>
                  <a:close/>
                  <a:moveTo>
                    <a:pt x="266" y="45"/>
                  </a:moveTo>
                  <a:cubicBezTo>
                    <a:pt x="263" y="46"/>
                    <a:pt x="260" y="47"/>
                    <a:pt x="258" y="48"/>
                  </a:cubicBezTo>
                  <a:cubicBezTo>
                    <a:pt x="254" y="49"/>
                    <a:pt x="251" y="50"/>
                    <a:pt x="250" y="51"/>
                  </a:cubicBezTo>
                  <a:cubicBezTo>
                    <a:pt x="249" y="52"/>
                    <a:pt x="249" y="53"/>
                    <a:pt x="249" y="54"/>
                  </a:cubicBezTo>
                  <a:cubicBezTo>
                    <a:pt x="249" y="55"/>
                    <a:pt x="249" y="57"/>
                    <a:pt x="250" y="58"/>
                  </a:cubicBezTo>
                  <a:cubicBezTo>
                    <a:pt x="251" y="59"/>
                    <a:pt x="253" y="59"/>
                    <a:pt x="255" y="59"/>
                  </a:cubicBezTo>
                  <a:cubicBezTo>
                    <a:pt x="257" y="59"/>
                    <a:pt x="259" y="58"/>
                    <a:pt x="261" y="57"/>
                  </a:cubicBezTo>
                  <a:cubicBezTo>
                    <a:pt x="262" y="56"/>
                    <a:pt x="264" y="55"/>
                    <a:pt x="264" y="54"/>
                  </a:cubicBezTo>
                  <a:cubicBezTo>
                    <a:pt x="265" y="52"/>
                    <a:pt x="266" y="50"/>
                    <a:pt x="266" y="48"/>
                  </a:cubicBezTo>
                  <a:cubicBezTo>
                    <a:pt x="266" y="45"/>
                    <a:pt x="266" y="45"/>
                    <a:pt x="266" y="45"/>
                  </a:cubicBezTo>
                  <a:close/>
                  <a:moveTo>
                    <a:pt x="304" y="20"/>
                  </a:moveTo>
                  <a:cubicBezTo>
                    <a:pt x="321" y="20"/>
                    <a:pt x="321" y="20"/>
                    <a:pt x="321" y="20"/>
                  </a:cubicBezTo>
                  <a:cubicBezTo>
                    <a:pt x="321" y="27"/>
                    <a:pt x="321" y="27"/>
                    <a:pt x="321" y="27"/>
                  </a:cubicBezTo>
                  <a:cubicBezTo>
                    <a:pt x="324" y="24"/>
                    <a:pt x="327" y="22"/>
                    <a:pt x="329" y="21"/>
                  </a:cubicBezTo>
                  <a:cubicBezTo>
                    <a:pt x="332" y="19"/>
                    <a:pt x="335" y="18"/>
                    <a:pt x="339" y="18"/>
                  </a:cubicBezTo>
                  <a:cubicBezTo>
                    <a:pt x="344" y="18"/>
                    <a:pt x="348" y="20"/>
                    <a:pt x="351" y="23"/>
                  </a:cubicBezTo>
                  <a:cubicBezTo>
                    <a:pt x="354" y="26"/>
                    <a:pt x="356" y="31"/>
                    <a:pt x="356" y="37"/>
                  </a:cubicBezTo>
                  <a:cubicBezTo>
                    <a:pt x="356" y="68"/>
                    <a:pt x="356" y="68"/>
                    <a:pt x="356" y="68"/>
                  </a:cubicBezTo>
                  <a:cubicBezTo>
                    <a:pt x="337" y="68"/>
                    <a:pt x="337" y="68"/>
                    <a:pt x="337" y="68"/>
                  </a:cubicBezTo>
                  <a:cubicBezTo>
                    <a:pt x="337" y="41"/>
                    <a:pt x="337" y="41"/>
                    <a:pt x="337" y="41"/>
                  </a:cubicBezTo>
                  <a:cubicBezTo>
                    <a:pt x="337" y="38"/>
                    <a:pt x="336" y="36"/>
                    <a:pt x="335" y="35"/>
                  </a:cubicBezTo>
                  <a:cubicBezTo>
                    <a:pt x="334" y="34"/>
                    <a:pt x="332" y="33"/>
                    <a:pt x="330" y="33"/>
                  </a:cubicBezTo>
                  <a:cubicBezTo>
                    <a:pt x="328" y="33"/>
                    <a:pt x="326" y="34"/>
                    <a:pt x="325" y="36"/>
                  </a:cubicBezTo>
                  <a:cubicBezTo>
                    <a:pt x="323" y="37"/>
                    <a:pt x="323" y="40"/>
                    <a:pt x="323" y="45"/>
                  </a:cubicBezTo>
                  <a:cubicBezTo>
                    <a:pt x="323" y="68"/>
                    <a:pt x="323" y="68"/>
                    <a:pt x="323" y="68"/>
                  </a:cubicBezTo>
                  <a:cubicBezTo>
                    <a:pt x="304" y="68"/>
                    <a:pt x="304" y="68"/>
                    <a:pt x="304" y="68"/>
                  </a:cubicBezTo>
                  <a:cubicBezTo>
                    <a:pt x="304" y="20"/>
                    <a:pt x="304" y="20"/>
                    <a:pt x="304" y="20"/>
                  </a:cubicBezTo>
                  <a:close/>
                  <a:moveTo>
                    <a:pt x="446" y="1"/>
                  </a:moveTo>
                  <a:cubicBezTo>
                    <a:pt x="467" y="1"/>
                    <a:pt x="467" y="1"/>
                    <a:pt x="467" y="1"/>
                  </a:cubicBezTo>
                  <a:cubicBezTo>
                    <a:pt x="467" y="41"/>
                    <a:pt x="467" y="41"/>
                    <a:pt x="467" y="41"/>
                  </a:cubicBezTo>
                  <a:cubicBezTo>
                    <a:pt x="467" y="45"/>
                    <a:pt x="466" y="49"/>
                    <a:pt x="465" y="52"/>
                  </a:cubicBezTo>
                  <a:cubicBezTo>
                    <a:pt x="464" y="56"/>
                    <a:pt x="462" y="59"/>
                    <a:pt x="459" y="62"/>
                  </a:cubicBezTo>
                  <a:cubicBezTo>
                    <a:pt x="456" y="64"/>
                    <a:pt x="453" y="66"/>
                    <a:pt x="451" y="67"/>
                  </a:cubicBezTo>
                  <a:cubicBezTo>
                    <a:pt x="447" y="69"/>
                    <a:pt x="442" y="69"/>
                    <a:pt x="436" y="69"/>
                  </a:cubicBezTo>
                  <a:cubicBezTo>
                    <a:pt x="433" y="69"/>
                    <a:pt x="429" y="69"/>
                    <a:pt x="425" y="69"/>
                  </a:cubicBezTo>
                  <a:cubicBezTo>
                    <a:pt x="421" y="68"/>
                    <a:pt x="418" y="67"/>
                    <a:pt x="416" y="66"/>
                  </a:cubicBezTo>
                  <a:cubicBezTo>
                    <a:pt x="413" y="65"/>
                    <a:pt x="411" y="63"/>
                    <a:pt x="408" y="60"/>
                  </a:cubicBezTo>
                  <a:cubicBezTo>
                    <a:pt x="406" y="58"/>
                    <a:pt x="405" y="55"/>
                    <a:pt x="404" y="52"/>
                  </a:cubicBezTo>
                  <a:cubicBezTo>
                    <a:pt x="403" y="48"/>
                    <a:pt x="402" y="44"/>
                    <a:pt x="402" y="41"/>
                  </a:cubicBezTo>
                  <a:cubicBezTo>
                    <a:pt x="402" y="1"/>
                    <a:pt x="402" y="1"/>
                    <a:pt x="402" y="1"/>
                  </a:cubicBezTo>
                  <a:cubicBezTo>
                    <a:pt x="423" y="1"/>
                    <a:pt x="423" y="1"/>
                    <a:pt x="423" y="1"/>
                  </a:cubicBezTo>
                  <a:cubicBezTo>
                    <a:pt x="423" y="42"/>
                    <a:pt x="423" y="42"/>
                    <a:pt x="423" y="42"/>
                  </a:cubicBezTo>
                  <a:cubicBezTo>
                    <a:pt x="423" y="46"/>
                    <a:pt x="424" y="49"/>
                    <a:pt x="426" y="51"/>
                  </a:cubicBezTo>
                  <a:cubicBezTo>
                    <a:pt x="428" y="53"/>
                    <a:pt x="431" y="54"/>
                    <a:pt x="434" y="54"/>
                  </a:cubicBezTo>
                  <a:cubicBezTo>
                    <a:pt x="438" y="54"/>
                    <a:pt x="441" y="53"/>
                    <a:pt x="443" y="51"/>
                  </a:cubicBezTo>
                  <a:cubicBezTo>
                    <a:pt x="445" y="49"/>
                    <a:pt x="446" y="46"/>
                    <a:pt x="446" y="42"/>
                  </a:cubicBezTo>
                  <a:cubicBezTo>
                    <a:pt x="446" y="1"/>
                    <a:pt x="446" y="1"/>
                    <a:pt x="446" y="1"/>
                  </a:cubicBezTo>
                  <a:close/>
                  <a:moveTo>
                    <a:pt x="488" y="20"/>
                  </a:moveTo>
                  <a:cubicBezTo>
                    <a:pt x="506" y="20"/>
                    <a:pt x="506" y="20"/>
                    <a:pt x="506" y="20"/>
                  </a:cubicBezTo>
                  <a:cubicBezTo>
                    <a:pt x="506" y="27"/>
                    <a:pt x="506" y="27"/>
                    <a:pt x="506" y="27"/>
                  </a:cubicBezTo>
                  <a:cubicBezTo>
                    <a:pt x="508" y="24"/>
                    <a:pt x="511" y="22"/>
                    <a:pt x="513" y="21"/>
                  </a:cubicBezTo>
                  <a:cubicBezTo>
                    <a:pt x="516" y="19"/>
                    <a:pt x="519" y="18"/>
                    <a:pt x="523" y="18"/>
                  </a:cubicBezTo>
                  <a:cubicBezTo>
                    <a:pt x="528" y="18"/>
                    <a:pt x="532" y="20"/>
                    <a:pt x="535" y="23"/>
                  </a:cubicBezTo>
                  <a:cubicBezTo>
                    <a:pt x="538" y="26"/>
                    <a:pt x="540" y="31"/>
                    <a:pt x="540" y="37"/>
                  </a:cubicBezTo>
                  <a:cubicBezTo>
                    <a:pt x="540" y="68"/>
                    <a:pt x="540" y="68"/>
                    <a:pt x="540" y="68"/>
                  </a:cubicBezTo>
                  <a:cubicBezTo>
                    <a:pt x="521" y="68"/>
                    <a:pt x="521" y="68"/>
                    <a:pt x="521" y="68"/>
                  </a:cubicBezTo>
                  <a:cubicBezTo>
                    <a:pt x="521" y="41"/>
                    <a:pt x="521" y="41"/>
                    <a:pt x="521" y="41"/>
                  </a:cubicBezTo>
                  <a:cubicBezTo>
                    <a:pt x="521" y="38"/>
                    <a:pt x="520" y="36"/>
                    <a:pt x="519" y="35"/>
                  </a:cubicBezTo>
                  <a:cubicBezTo>
                    <a:pt x="518" y="34"/>
                    <a:pt x="516" y="33"/>
                    <a:pt x="514" y="33"/>
                  </a:cubicBezTo>
                  <a:cubicBezTo>
                    <a:pt x="512" y="33"/>
                    <a:pt x="510" y="34"/>
                    <a:pt x="509" y="36"/>
                  </a:cubicBezTo>
                  <a:cubicBezTo>
                    <a:pt x="508" y="37"/>
                    <a:pt x="507" y="40"/>
                    <a:pt x="507" y="45"/>
                  </a:cubicBezTo>
                  <a:cubicBezTo>
                    <a:pt x="507" y="68"/>
                    <a:pt x="507" y="68"/>
                    <a:pt x="507" y="68"/>
                  </a:cubicBezTo>
                  <a:cubicBezTo>
                    <a:pt x="488" y="68"/>
                    <a:pt x="488" y="68"/>
                    <a:pt x="488" y="68"/>
                  </a:cubicBezTo>
                  <a:cubicBezTo>
                    <a:pt x="488" y="20"/>
                    <a:pt x="488" y="20"/>
                    <a:pt x="488" y="20"/>
                  </a:cubicBezTo>
                  <a:close/>
                  <a:moveTo>
                    <a:pt x="560" y="1"/>
                  </a:moveTo>
                  <a:cubicBezTo>
                    <a:pt x="579" y="1"/>
                    <a:pt x="579" y="1"/>
                    <a:pt x="579" y="1"/>
                  </a:cubicBezTo>
                  <a:cubicBezTo>
                    <a:pt x="579" y="14"/>
                    <a:pt x="579" y="14"/>
                    <a:pt x="579" y="14"/>
                  </a:cubicBezTo>
                  <a:cubicBezTo>
                    <a:pt x="560" y="14"/>
                    <a:pt x="560" y="14"/>
                    <a:pt x="560" y="14"/>
                  </a:cubicBezTo>
                  <a:cubicBezTo>
                    <a:pt x="560" y="1"/>
                    <a:pt x="560" y="1"/>
                    <a:pt x="560" y="1"/>
                  </a:cubicBezTo>
                  <a:close/>
                  <a:moveTo>
                    <a:pt x="560" y="20"/>
                  </a:moveTo>
                  <a:cubicBezTo>
                    <a:pt x="579" y="20"/>
                    <a:pt x="579" y="20"/>
                    <a:pt x="579" y="20"/>
                  </a:cubicBezTo>
                  <a:cubicBezTo>
                    <a:pt x="579" y="68"/>
                    <a:pt x="579" y="68"/>
                    <a:pt x="579" y="68"/>
                  </a:cubicBezTo>
                  <a:cubicBezTo>
                    <a:pt x="560" y="68"/>
                    <a:pt x="560" y="68"/>
                    <a:pt x="560" y="68"/>
                  </a:cubicBezTo>
                  <a:cubicBezTo>
                    <a:pt x="560" y="20"/>
                    <a:pt x="560" y="20"/>
                    <a:pt x="560" y="20"/>
                  </a:cubicBezTo>
                  <a:close/>
                  <a:moveTo>
                    <a:pt x="595" y="20"/>
                  </a:moveTo>
                  <a:cubicBezTo>
                    <a:pt x="614" y="20"/>
                    <a:pt x="614" y="20"/>
                    <a:pt x="614" y="20"/>
                  </a:cubicBezTo>
                  <a:cubicBezTo>
                    <a:pt x="623" y="50"/>
                    <a:pt x="623" y="50"/>
                    <a:pt x="623" y="50"/>
                  </a:cubicBezTo>
                  <a:cubicBezTo>
                    <a:pt x="633" y="20"/>
                    <a:pt x="633" y="20"/>
                    <a:pt x="633" y="20"/>
                  </a:cubicBezTo>
                  <a:cubicBezTo>
                    <a:pt x="652" y="20"/>
                    <a:pt x="652" y="20"/>
                    <a:pt x="652" y="20"/>
                  </a:cubicBezTo>
                  <a:cubicBezTo>
                    <a:pt x="631" y="68"/>
                    <a:pt x="631" y="68"/>
                    <a:pt x="631" y="68"/>
                  </a:cubicBezTo>
                  <a:cubicBezTo>
                    <a:pt x="615" y="68"/>
                    <a:pt x="615" y="68"/>
                    <a:pt x="615" y="68"/>
                  </a:cubicBezTo>
                  <a:cubicBezTo>
                    <a:pt x="595" y="20"/>
                    <a:pt x="595" y="20"/>
                    <a:pt x="595" y="20"/>
                  </a:cubicBezTo>
                  <a:close/>
                  <a:moveTo>
                    <a:pt x="718" y="49"/>
                  </a:moveTo>
                  <a:cubicBezTo>
                    <a:pt x="681" y="49"/>
                    <a:pt x="681" y="49"/>
                    <a:pt x="681" y="49"/>
                  </a:cubicBezTo>
                  <a:cubicBezTo>
                    <a:pt x="681" y="52"/>
                    <a:pt x="682" y="54"/>
                    <a:pt x="683" y="55"/>
                  </a:cubicBezTo>
                  <a:cubicBezTo>
                    <a:pt x="685" y="57"/>
                    <a:pt x="687" y="58"/>
                    <a:pt x="690" y="58"/>
                  </a:cubicBezTo>
                  <a:cubicBezTo>
                    <a:pt x="692" y="58"/>
                    <a:pt x="694" y="58"/>
                    <a:pt x="695" y="57"/>
                  </a:cubicBezTo>
                  <a:cubicBezTo>
                    <a:pt x="696" y="56"/>
                    <a:pt x="698" y="55"/>
                    <a:pt x="699" y="54"/>
                  </a:cubicBezTo>
                  <a:cubicBezTo>
                    <a:pt x="717" y="56"/>
                    <a:pt x="717" y="56"/>
                    <a:pt x="717" y="56"/>
                  </a:cubicBezTo>
                  <a:cubicBezTo>
                    <a:pt x="714" y="61"/>
                    <a:pt x="711" y="64"/>
                    <a:pt x="707" y="66"/>
                  </a:cubicBezTo>
                  <a:cubicBezTo>
                    <a:pt x="703" y="68"/>
                    <a:pt x="697" y="69"/>
                    <a:pt x="690" y="69"/>
                  </a:cubicBezTo>
                  <a:cubicBezTo>
                    <a:pt x="683" y="69"/>
                    <a:pt x="678" y="68"/>
                    <a:pt x="675" y="67"/>
                  </a:cubicBezTo>
                  <a:cubicBezTo>
                    <a:pt x="671" y="65"/>
                    <a:pt x="668" y="62"/>
                    <a:pt x="665" y="58"/>
                  </a:cubicBezTo>
                  <a:cubicBezTo>
                    <a:pt x="663" y="54"/>
                    <a:pt x="662" y="49"/>
                    <a:pt x="662" y="44"/>
                  </a:cubicBezTo>
                  <a:cubicBezTo>
                    <a:pt x="662" y="36"/>
                    <a:pt x="664" y="30"/>
                    <a:pt x="669" y="26"/>
                  </a:cubicBezTo>
                  <a:cubicBezTo>
                    <a:pt x="674" y="21"/>
                    <a:pt x="681" y="18"/>
                    <a:pt x="689" y="18"/>
                  </a:cubicBezTo>
                  <a:cubicBezTo>
                    <a:pt x="696" y="18"/>
                    <a:pt x="702" y="19"/>
                    <a:pt x="706" y="22"/>
                  </a:cubicBezTo>
                  <a:cubicBezTo>
                    <a:pt x="710" y="24"/>
                    <a:pt x="713" y="27"/>
                    <a:pt x="715" y="31"/>
                  </a:cubicBezTo>
                  <a:cubicBezTo>
                    <a:pt x="717" y="35"/>
                    <a:pt x="718" y="40"/>
                    <a:pt x="718" y="46"/>
                  </a:cubicBezTo>
                  <a:cubicBezTo>
                    <a:pt x="718" y="49"/>
                    <a:pt x="718" y="49"/>
                    <a:pt x="718" y="49"/>
                  </a:cubicBezTo>
                  <a:close/>
                  <a:moveTo>
                    <a:pt x="699" y="40"/>
                  </a:moveTo>
                  <a:cubicBezTo>
                    <a:pt x="699" y="36"/>
                    <a:pt x="698" y="33"/>
                    <a:pt x="696" y="32"/>
                  </a:cubicBezTo>
                  <a:cubicBezTo>
                    <a:pt x="695" y="30"/>
                    <a:pt x="693" y="29"/>
                    <a:pt x="690" y="29"/>
                  </a:cubicBezTo>
                  <a:cubicBezTo>
                    <a:pt x="687" y="29"/>
                    <a:pt x="685" y="31"/>
                    <a:pt x="683" y="33"/>
                  </a:cubicBezTo>
                  <a:cubicBezTo>
                    <a:pt x="682" y="34"/>
                    <a:pt x="681" y="37"/>
                    <a:pt x="681" y="40"/>
                  </a:cubicBezTo>
                  <a:cubicBezTo>
                    <a:pt x="699" y="40"/>
                    <a:pt x="699" y="40"/>
                    <a:pt x="699" y="40"/>
                  </a:cubicBezTo>
                  <a:close/>
                  <a:moveTo>
                    <a:pt x="736" y="20"/>
                  </a:moveTo>
                  <a:cubicBezTo>
                    <a:pt x="753" y="20"/>
                    <a:pt x="753" y="20"/>
                    <a:pt x="753" y="20"/>
                  </a:cubicBezTo>
                  <a:cubicBezTo>
                    <a:pt x="753" y="28"/>
                    <a:pt x="753" y="28"/>
                    <a:pt x="753" y="28"/>
                  </a:cubicBezTo>
                  <a:cubicBezTo>
                    <a:pt x="755" y="24"/>
                    <a:pt x="757" y="22"/>
                    <a:pt x="759" y="20"/>
                  </a:cubicBezTo>
                  <a:cubicBezTo>
                    <a:pt x="760" y="19"/>
                    <a:pt x="763" y="18"/>
                    <a:pt x="765" y="18"/>
                  </a:cubicBezTo>
                  <a:cubicBezTo>
                    <a:pt x="768" y="18"/>
                    <a:pt x="771" y="19"/>
                    <a:pt x="774" y="21"/>
                  </a:cubicBezTo>
                  <a:cubicBezTo>
                    <a:pt x="769" y="34"/>
                    <a:pt x="769" y="34"/>
                    <a:pt x="769" y="34"/>
                  </a:cubicBezTo>
                  <a:cubicBezTo>
                    <a:pt x="766" y="33"/>
                    <a:pt x="765" y="33"/>
                    <a:pt x="763" y="33"/>
                  </a:cubicBezTo>
                  <a:cubicBezTo>
                    <a:pt x="761" y="33"/>
                    <a:pt x="759" y="34"/>
                    <a:pt x="758" y="36"/>
                  </a:cubicBezTo>
                  <a:cubicBezTo>
                    <a:pt x="756" y="39"/>
                    <a:pt x="755" y="44"/>
                    <a:pt x="755" y="52"/>
                  </a:cubicBezTo>
                  <a:cubicBezTo>
                    <a:pt x="755" y="68"/>
                    <a:pt x="755" y="68"/>
                    <a:pt x="755" y="68"/>
                  </a:cubicBezTo>
                  <a:cubicBezTo>
                    <a:pt x="736" y="68"/>
                    <a:pt x="736" y="68"/>
                    <a:pt x="736" y="68"/>
                  </a:cubicBezTo>
                  <a:cubicBezTo>
                    <a:pt x="736" y="20"/>
                    <a:pt x="736" y="20"/>
                    <a:pt x="736" y="20"/>
                  </a:cubicBezTo>
                  <a:close/>
                  <a:moveTo>
                    <a:pt x="786" y="55"/>
                  </a:moveTo>
                  <a:cubicBezTo>
                    <a:pt x="804" y="53"/>
                    <a:pt x="804" y="53"/>
                    <a:pt x="804" y="53"/>
                  </a:cubicBezTo>
                  <a:cubicBezTo>
                    <a:pt x="805" y="55"/>
                    <a:pt x="806" y="57"/>
                    <a:pt x="807" y="58"/>
                  </a:cubicBezTo>
                  <a:cubicBezTo>
                    <a:pt x="809" y="59"/>
                    <a:pt x="810" y="59"/>
                    <a:pt x="813" y="59"/>
                  </a:cubicBezTo>
                  <a:cubicBezTo>
                    <a:pt x="815" y="59"/>
                    <a:pt x="817" y="59"/>
                    <a:pt x="819" y="58"/>
                  </a:cubicBezTo>
                  <a:cubicBezTo>
                    <a:pt x="820" y="57"/>
                    <a:pt x="820" y="56"/>
                    <a:pt x="820" y="55"/>
                  </a:cubicBezTo>
                  <a:cubicBezTo>
                    <a:pt x="820" y="53"/>
                    <a:pt x="819" y="52"/>
                    <a:pt x="818" y="51"/>
                  </a:cubicBezTo>
                  <a:cubicBezTo>
                    <a:pt x="817" y="51"/>
                    <a:pt x="814" y="50"/>
                    <a:pt x="810" y="50"/>
                  </a:cubicBezTo>
                  <a:cubicBezTo>
                    <a:pt x="804" y="48"/>
                    <a:pt x="799" y="47"/>
                    <a:pt x="797" y="46"/>
                  </a:cubicBezTo>
                  <a:cubicBezTo>
                    <a:pt x="794" y="45"/>
                    <a:pt x="792" y="44"/>
                    <a:pt x="790" y="42"/>
                  </a:cubicBezTo>
                  <a:cubicBezTo>
                    <a:pt x="788" y="39"/>
                    <a:pt x="788" y="37"/>
                    <a:pt x="788" y="34"/>
                  </a:cubicBezTo>
                  <a:cubicBezTo>
                    <a:pt x="788" y="30"/>
                    <a:pt x="789" y="28"/>
                    <a:pt x="790" y="25"/>
                  </a:cubicBezTo>
                  <a:cubicBezTo>
                    <a:pt x="792" y="23"/>
                    <a:pt x="795" y="21"/>
                    <a:pt x="798" y="20"/>
                  </a:cubicBezTo>
                  <a:cubicBezTo>
                    <a:pt x="801" y="19"/>
                    <a:pt x="806" y="18"/>
                    <a:pt x="811" y="18"/>
                  </a:cubicBezTo>
                  <a:cubicBezTo>
                    <a:pt x="817" y="18"/>
                    <a:pt x="821" y="19"/>
                    <a:pt x="824" y="20"/>
                  </a:cubicBezTo>
                  <a:cubicBezTo>
                    <a:pt x="827" y="21"/>
                    <a:pt x="829" y="22"/>
                    <a:pt x="831" y="24"/>
                  </a:cubicBezTo>
                  <a:cubicBezTo>
                    <a:pt x="833" y="26"/>
                    <a:pt x="834" y="28"/>
                    <a:pt x="836" y="31"/>
                  </a:cubicBezTo>
                  <a:cubicBezTo>
                    <a:pt x="818" y="33"/>
                    <a:pt x="818" y="33"/>
                    <a:pt x="818" y="33"/>
                  </a:cubicBezTo>
                  <a:cubicBezTo>
                    <a:pt x="817" y="32"/>
                    <a:pt x="817" y="31"/>
                    <a:pt x="816" y="30"/>
                  </a:cubicBezTo>
                  <a:cubicBezTo>
                    <a:pt x="814" y="29"/>
                    <a:pt x="812" y="28"/>
                    <a:pt x="810" y="28"/>
                  </a:cubicBezTo>
                  <a:cubicBezTo>
                    <a:pt x="808" y="28"/>
                    <a:pt x="807" y="29"/>
                    <a:pt x="806" y="29"/>
                  </a:cubicBezTo>
                  <a:cubicBezTo>
                    <a:pt x="805" y="30"/>
                    <a:pt x="804" y="31"/>
                    <a:pt x="804" y="32"/>
                  </a:cubicBezTo>
                  <a:cubicBezTo>
                    <a:pt x="804" y="33"/>
                    <a:pt x="805" y="34"/>
                    <a:pt x="806" y="35"/>
                  </a:cubicBezTo>
                  <a:cubicBezTo>
                    <a:pt x="807" y="35"/>
                    <a:pt x="810" y="36"/>
                    <a:pt x="814" y="37"/>
                  </a:cubicBezTo>
                  <a:cubicBezTo>
                    <a:pt x="820" y="37"/>
                    <a:pt x="825" y="38"/>
                    <a:pt x="828" y="39"/>
                  </a:cubicBezTo>
                  <a:cubicBezTo>
                    <a:pt x="831" y="41"/>
                    <a:pt x="833" y="42"/>
                    <a:pt x="835" y="45"/>
                  </a:cubicBezTo>
                  <a:cubicBezTo>
                    <a:pt x="837" y="47"/>
                    <a:pt x="837" y="50"/>
                    <a:pt x="837" y="52"/>
                  </a:cubicBezTo>
                  <a:cubicBezTo>
                    <a:pt x="837" y="55"/>
                    <a:pt x="836" y="58"/>
                    <a:pt x="835" y="61"/>
                  </a:cubicBezTo>
                  <a:cubicBezTo>
                    <a:pt x="833" y="63"/>
                    <a:pt x="830" y="65"/>
                    <a:pt x="827" y="67"/>
                  </a:cubicBezTo>
                  <a:cubicBezTo>
                    <a:pt x="823" y="69"/>
                    <a:pt x="818" y="69"/>
                    <a:pt x="812" y="69"/>
                  </a:cubicBezTo>
                  <a:cubicBezTo>
                    <a:pt x="803" y="69"/>
                    <a:pt x="797" y="68"/>
                    <a:pt x="793" y="66"/>
                  </a:cubicBezTo>
                  <a:cubicBezTo>
                    <a:pt x="789" y="63"/>
                    <a:pt x="787" y="59"/>
                    <a:pt x="786" y="55"/>
                  </a:cubicBezTo>
                  <a:close/>
                  <a:moveTo>
                    <a:pt x="856" y="1"/>
                  </a:moveTo>
                  <a:cubicBezTo>
                    <a:pt x="875" y="1"/>
                    <a:pt x="875" y="1"/>
                    <a:pt x="875" y="1"/>
                  </a:cubicBezTo>
                  <a:cubicBezTo>
                    <a:pt x="875" y="14"/>
                    <a:pt x="875" y="14"/>
                    <a:pt x="875" y="14"/>
                  </a:cubicBezTo>
                  <a:cubicBezTo>
                    <a:pt x="856" y="14"/>
                    <a:pt x="856" y="14"/>
                    <a:pt x="856" y="14"/>
                  </a:cubicBezTo>
                  <a:cubicBezTo>
                    <a:pt x="856" y="1"/>
                    <a:pt x="856" y="1"/>
                    <a:pt x="856" y="1"/>
                  </a:cubicBezTo>
                  <a:close/>
                  <a:moveTo>
                    <a:pt x="856" y="20"/>
                  </a:moveTo>
                  <a:cubicBezTo>
                    <a:pt x="875" y="20"/>
                    <a:pt x="875" y="20"/>
                    <a:pt x="875" y="20"/>
                  </a:cubicBezTo>
                  <a:cubicBezTo>
                    <a:pt x="875" y="68"/>
                    <a:pt x="875" y="68"/>
                    <a:pt x="875" y="68"/>
                  </a:cubicBezTo>
                  <a:cubicBezTo>
                    <a:pt x="856" y="68"/>
                    <a:pt x="856" y="68"/>
                    <a:pt x="856" y="68"/>
                  </a:cubicBezTo>
                  <a:cubicBezTo>
                    <a:pt x="856" y="20"/>
                    <a:pt x="856" y="20"/>
                    <a:pt x="856" y="20"/>
                  </a:cubicBezTo>
                  <a:close/>
                  <a:moveTo>
                    <a:pt x="918" y="1"/>
                  </a:moveTo>
                  <a:cubicBezTo>
                    <a:pt x="918" y="20"/>
                    <a:pt x="918" y="20"/>
                    <a:pt x="918" y="20"/>
                  </a:cubicBezTo>
                  <a:cubicBezTo>
                    <a:pt x="928" y="20"/>
                    <a:pt x="928" y="20"/>
                    <a:pt x="928" y="20"/>
                  </a:cubicBezTo>
                  <a:cubicBezTo>
                    <a:pt x="928" y="33"/>
                    <a:pt x="928" y="33"/>
                    <a:pt x="928" y="33"/>
                  </a:cubicBezTo>
                  <a:cubicBezTo>
                    <a:pt x="918" y="33"/>
                    <a:pt x="918" y="33"/>
                    <a:pt x="918" y="33"/>
                  </a:cubicBezTo>
                  <a:cubicBezTo>
                    <a:pt x="918" y="50"/>
                    <a:pt x="918" y="50"/>
                    <a:pt x="918" y="50"/>
                  </a:cubicBezTo>
                  <a:cubicBezTo>
                    <a:pt x="918" y="53"/>
                    <a:pt x="918" y="54"/>
                    <a:pt x="919" y="55"/>
                  </a:cubicBezTo>
                  <a:cubicBezTo>
                    <a:pt x="919" y="56"/>
                    <a:pt x="920" y="56"/>
                    <a:pt x="922" y="56"/>
                  </a:cubicBezTo>
                  <a:cubicBezTo>
                    <a:pt x="923" y="56"/>
                    <a:pt x="925" y="56"/>
                    <a:pt x="928" y="55"/>
                  </a:cubicBezTo>
                  <a:cubicBezTo>
                    <a:pt x="929" y="68"/>
                    <a:pt x="929" y="68"/>
                    <a:pt x="929" y="68"/>
                  </a:cubicBezTo>
                  <a:cubicBezTo>
                    <a:pt x="924" y="69"/>
                    <a:pt x="920" y="69"/>
                    <a:pt x="916" y="69"/>
                  </a:cubicBezTo>
                  <a:cubicBezTo>
                    <a:pt x="911" y="69"/>
                    <a:pt x="908" y="69"/>
                    <a:pt x="906" y="68"/>
                  </a:cubicBezTo>
                  <a:cubicBezTo>
                    <a:pt x="904" y="66"/>
                    <a:pt x="902" y="65"/>
                    <a:pt x="901" y="62"/>
                  </a:cubicBezTo>
                  <a:cubicBezTo>
                    <a:pt x="900" y="60"/>
                    <a:pt x="899" y="56"/>
                    <a:pt x="899" y="50"/>
                  </a:cubicBezTo>
                  <a:cubicBezTo>
                    <a:pt x="899" y="33"/>
                    <a:pt x="899" y="33"/>
                    <a:pt x="899" y="33"/>
                  </a:cubicBezTo>
                  <a:cubicBezTo>
                    <a:pt x="892" y="33"/>
                    <a:pt x="892" y="33"/>
                    <a:pt x="892" y="33"/>
                  </a:cubicBezTo>
                  <a:cubicBezTo>
                    <a:pt x="892" y="20"/>
                    <a:pt x="892" y="20"/>
                    <a:pt x="892" y="20"/>
                  </a:cubicBezTo>
                  <a:cubicBezTo>
                    <a:pt x="899" y="20"/>
                    <a:pt x="899" y="20"/>
                    <a:pt x="899" y="20"/>
                  </a:cubicBezTo>
                  <a:cubicBezTo>
                    <a:pt x="899" y="11"/>
                    <a:pt x="899" y="11"/>
                    <a:pt x="899" y="11"/>
                  </a:cubicBezTo>
                  <a:cubicBezTo>
                    <a:pt x="918" y="1"/>
                    <a:pt x="918" y="1"/>
                    <a:pt x="918" y="1"/>
                  </a:cubicBezTo>
                  <a:close/>
                  <a:moveTo>
                    <a:pt x="941" y="20"/>
                  </a:moveTo>
                  <a:cubicBezTo>
                    <a:pt x="961" y="20"/>
                    <a:pt x="961" y="20"/>
                    <a:pt x="961" y="20"/>
                  </a:cubicBezTo>
                  <a:cubicBezTo>
                    <a:pt x="971" y="52"/>
                    <a:pt x="971" y="52"/>
                    <a:pt x="971" y="52"/>
                  </a:cubicBezTo>
                  <a:cubicBezTo>
                    <a:pt x="980" y="20"/>
                    <a:pt x="980" y="20"/>
                    <a:pt x="980" y="20"/>
                  </a:cubicBezTo>
                  <a:cubicBezTo>
                    <a:pt x="998" y="20"/>
                    <a:pt x="998" y="20"/>
                    <a:pt x="998" y="20"/>
                  </a:cubicBezTo>
                  <a:cubicBezTo>
                    <a:pt x="979" y="72"/>
                    <a:pt x="979" y="72"/>
                    <a:pt x="979" y="72"/>
                  </a:cubicBezTo>
                  <a:cubicBezTo>
                    <a:pt x="977" y="78"/>
                    <a:pt x="975" y="82"/>
                    <a:pt x="972" y="84"/>
                  </a:cubicBezTo>
                  <a:cubicBezTo>
                    <a:pt x="969" y="87"/>
                    <a:pt x="964" y="88"/>
                    <a:pt x="957" y="88"/>
                  </a:cubicBezTo>
                  <a:cubicBezTo>
                    <a:pt x="955" y="88"/>
                    <a:pt x="951" y="88"/>
                    <a:pt x="945" y="87"/>
                  </a:cubicBezTo>
                  <a:cubicBezTo>
                    <a:pt x="943" y="74"/>
                    <a:pt x="943" y="74"/>
                    <a:pt x="943" y="74"/>
                  </a:cubicBezTo>
                  <a:cubicBezTo>
                    <a:pt x="946" y="75"/>
                    <a:pt x="949" y="75"/>
                    <a:pt x="952" y="75"/>
                  </a:cubicBezTo>
                  <a:cubicBezTo>
                    <a:pt x="955" y="75"/>
                    <a:pt x="956" y="75"/>
                    <a:pt x="958" y="74"/>
                  </a:cubicBezTo>
                  <a:cubicBezTo>
                    <a:pt x="959" y="73"/>
                    <a:pt x="960" y="71"/>
                    <a:pt x="961" y="68"/>
                  </a:cubicBezTo>
                  <a:cubicBezTo>
                    <a:pt x="941" y="20"/>
                    <a:pt x="941" y="20"/>
                    <a:pt x="941" y="20"/>
                  </a:cubicBezTo>
                  <a:close/>
                  <a:moveTo>
                    <a:pt x="1036" y="35"/>
                  </a:moveTo>
                  <a:cubicBezTo>
                    <a:pt x="1036" y="24"/>
                    <a:pt x="1039" y="15"/>
                    <a:pt x="1046" y="9"/>
                  </a:cubicBezTo>
                  <a:cubicBezTo>
                    <a:pt x="1052" y="3"/>
                    <a:pt x="1060" y="0"/>
                    <a:pt x="1071" y="0"/>
                  </a:cubicBezTo>
                  <a:cubicBezTo>
                    <a:pt x="1082" y="0"/>
                    <a:pt x="1091" y="3"/>
                    <a:pt x="1097" y="9"/>
                  </a:cubicBezTo>
                  <a:cubicBezTo>
                    <a:pt x="1103" y="15"/>
                    <a:pt x="1106" y="23"/>
                    <a:pt x="1106" y="34"/>
                  </a:cubicBezTo>
                  <a:cubicBezTo>
                    <a:pt x="1106" y="42"/>
                    <a:pt x="1105" y="48"/>
                    <a:pt x="1102" y="53"/>
                  </a:cubicBezTo>
                  <a:cubicBezTo>
                    <a:pt x="1099" y="58"/>
                    <a:pt x="1096" y="62"/>
                    <a:pt x="1091" y="65"/>
                  </a:cubicBezTo>
                  <a:cubicBezTo>
                    <a:pt x="1086" y="68"/>
                    <a:pt x="1079" y="69"/>
                    <a:pt x="1072" y="69"/>
                  </a:cubicBezTo>
                  <a:cubicBezTo>
                    <a:pt x="1064" y="69"/>
                    <a:pt x="1058" y="68"/>
                    <a:pt x="1053" y="66"/>
                  </a:cubicBezTo>
                  <a:cubicBezTo>
                    <a:pt x="1048" y="63"/>
                    <a:pt x="1044" y="60"/>
                    <a:pt x="1041" y="54"/>
                  </a:cubicBezTo>
                  <a:cubicBezTo>
                    <a:pt x="1038" y="49"/>
                    <a:pt x="1036" y="43"/>
                    <a:pt x="1036" y="35"/>
                  </a:cubicBezTo>
                  <a:close/>
                  <a:moveTo>
                    <a:pt x="1057" y="35"/>
                  </a:moveTo>
                  <a:cubicBezTo>
                    <a:pt x="1057" y="42"/>
                    <a:pt x="1058" y="46"/>
                    <a:pt x="1061" y="49"/>
                  </a:cubicBezTo>
                  <a:cubicBezTo>
                    <a:pt x="1063" y="52"/>
                    <a:pt x="1067" y="54"/>
                    <a:pt x="1071" y="54"/>
                  </a:cubicBezTo>
                  <a:cubicBezTo>
                    <a:pt x="1076" y="54"/>
                    <a:pt x="1079" y="52"/>
                    <a:pt x="1082" y="50"/>
                  </a:cubicBezTo>
                  <a:cubicBezTo>
                    <a:pt x="1084" y="47"/>
                    <a:pt x="1085" y="41"/>
                    <a:pt x="1085" y="34"/>
                  </a:cubicBezTo>
                  <a:cubicBezTo>
                    <a:pt x="1085" y="28"/>
                    <a:pt x="1084" y="23"/>
                    <a:pt x="1081" y="20"/>
                  </a:cubicBezTo>
                  <a:cubicBezTo>
                    <a:pt x="1079" y="17"/>
                    <a:pt x="1075" y="16"/>
                    <a:pt x="1071" y="16"/>
                  </a:cubicBezTo>
                  <a:cubicBezTo>
                    <a:pt x="1067" y="16"/>
                    <a:pt x="1063" y="17"/>
                    <a:pt x="1061" y="20"/>
                  </a:cubicBezTo>
                  <a:cubicBezTo>
                    <a:pt x="1058" y="23"/>
                    <a:pt x="1057" y="28"/>
                    <a:pt x="1057" y="35"/>
                  </a:cubicBezTo>
                  <a:close/>
                  <a:moveTo>
                    <a:pt x="1146" y="20"/>
                  </a:moveTo>
                  <a:cubicBezTo>
                    <a:pt x="1155" y="20"/>
                    <a:pt x="1155" y="20"/>
                    <a:pt x="1155" y="20"/>
                  </a:cubicBezTo>
                  <a:cubicBezTo>
                    <a:pt x="1155" y="33"/>
                    <a:pt x="1155" y="33"/>
                    <a:pt x="1155" y="33"/>
                  </a:cubicBezTo>
                  <a:cubicBezTo>
                    <a:pt x="1146" y="33"/>
                    <a:pt x="1146" y="33"/>
                    <a:pt x="1146" y="33"/>
                  </a:cubicBezTo>
                  <a:cubicBezTo>
                    <a:pt x="1146" y="68"/>
                    <a:pt x="1146" y="68"/>
                    <a:pt x="1146" y="68"/>
                  </a:cubicBezTo>
                  <a:cubicBezTo>
                    <a:pt x="1127" y="68"/>
                    <a:pt x="1127" y="68"/>
                    <a:pt x="1127" y="68"/>
                  </a:cubicBezTo>
                  <a:cubicBezTo>
                    <a:pt x="1127" y="33"/>
                    <a:pt x="1127" y="33"/>
                    <a:pt x="1127" y="33"/>
                  </a:cubicBezTo>
                  <a:cubicBezTo>
                    <a:pt x="1120" y="33"/>
                    <a:pt x="1120" y="33"/>
                    <a:pt x="1120" y="33"/>
                  </a:cubicBezTo>
                  <a:cubicBezTo>
                    <a:pt x="1120" y="20"/>
                    <a:pt x="1120" y="20"/>
                    <a:pt x="1120" y="20"/>
                  </a:cubicBezTo>
                  <a:cubicBezTo>
                    <a:pt x="1127" y="20"/>
                    <a:pt x="1127" y="20"/>
                    <a:pt x="1127" y="20"/>
                  </a:cubicBezTo>
                  <a:cubicBezTo>
                    <a:pt x="1127" y="17"/>
                    <a:pt x="1127" y="17"/>
                    <a:pt x="1127" y="17"/>
                  </a:cubicBezTo>
                  <a:cubicBezTo>
                    <a:pt x="1127" y="15"/>
                    <a:pt x="1127" y="13"/>
                    <a:pt x="1128" y="11"/>
                  </a:cubicBezTo>
                  <a:cubicBezTo>
                    <a:pt x="1128" y="8"/>
                    <a:pt x="1129" y="6"/>
                    <a:pt x="1130" y="5"/>
                  </a:cubicBezTo>
                  <a:cubicBezTo>
                    <a:pt x="1131" y="3"/>
                    <a:pt x="1133" y="2"/>
                    <a:pt x="1135" y="1"/>
                  </a:cubicBezTo>
                  <a:cubicBezTo>
                    <a:pt x="1137" y="0"/>
                    <a:pt x="1140" y="0"/>
                    <a:pt x="1144" y="0"/>
                  </a:cubicBezTo>
                  <a:cubicBezTo>
                    <a:pt x="1148" y="0"/>
                    <a:pt x="1152" y="0"/>
                    <a:pt x="1159" y="1"/>
                  </a:cubicBezTo>
                  <a:cubicBezTo>
                    <a:pt x="1157" y="12"/>
                    <a:pt x="1157" y="12"/>
                    <a:pt x="1157" y="12"/>
                  </a:cubicBezTo>
                  <a:cubicBezTo>
                    <a:pt x="1154" y="12"/>
                    <a:pt x="1153" y="12"/>
                    <a:pt x="1151" y="12"/>
                  </a:cubicBezTo>
                  <a:cubicBezTo>
                    <a:pt x="1150" y="12"/>
                    <a:pt x="1148" y="12"/>
                    <a:pt x="1148" y="13"/>
                  </a:cubicBezTo>
                  <a:cubicBezTo>
                    <a:pt x="1147" y="13"/>
                    <a:pt x="1146" y="14"/>
                    <a:pt x="1146" y="15"/>
                  </a:cubicBezTo>
                  <a:cubicBezTo>
                    <a:pt x="1146" y="16"/>
                    <a:pt x="1146" y="17"/>
                    <a:pt x="1146" y="20"/>
                  </a:cubicBezTo>
                  <a:close/>
                  <a:moveTo>
                    <a:pt x="1198" y="1"/>
                  </a:moveTo>
                  <a:cubicBezTo>
                    <a:pt x="1261" y="1"/>
                    <a:pt x="1261" y="1"/>
                    <a:pt x="1261" y="1"/>
                  </a:cubicBezTo>
                  <a:cubicBezTo>
                    <a:pt x="1261" y="18"/>
                    <a:pt x="1261" y="18"/>
                    <a:pt x="1261" y="18"/>
                  </a:cubicBezTo>
                  <a:cubicBezTo>
                    <a:pt x="1240" y="18"/>
                    <a:pt x="1240" y="18"/>
                    <a:pt x="1240" y="18"/>
                  </a:cubicBezTo>
                  <a:cubicBezTo>
                    <a:pt x="1240" y="68"/>
                    <a:pt x="1240" y="68"/>
                    <a:pt x="1240" y="68"/>
                  </a:cubicBezTo>
                  <a:cubicBezTo>
                    <a:pt x="1219" y="68"/>
                    <a:pt x="1219" y="68"/>
                    <a:pt x="1219" y="68"/>
                  </a:cubicBezTo>
                  <a:cubicBezTo>
                    <a:pt x="1219" y="18"/>
                    <a:pt x="1219" y="18"/>
                    <a:pt x="1219" y="18"/>
                  </a:cubicBezTo>
                  <a:cubicBezTo>
                    <a:pt x="1198" y="18"/>
                    <a:pt x="1198" y="18"/>
                    <a:pt x="1198" y="18"/>
                  </a:cubicBezTo>
                  <a:cubicBezTo>
                    <a:pt x="1198" y="1"/>
                    <a:pt x="1198" y="1"/>
                    <a:pt x="1198" y="1"/>
                  </a:cubicBezTo>
                  <a:close/>
                  <a:moveTo>
                    <a:pt x="1326" y="49"/>
                  </a:moveTo>
                  <a:cubicBezTo>
                    <a:pt x="1289" y="49"/>
                    <a:pt x="1289" y="49"/>
                    <a:pt x="1289" y="49"/>
                  </a:cubicBezTo>
                  <a:cubicBezTo>
                    <a:pt x="1289" y="52"/>
                    <a:pt x="1290" y="54"/>
                    <a:pt x="1291" y="55"/>
                  </a:cubicBezTo>
                  <a:cubicBezTo>
                    <a:pt x="1293" y="57"/>
                    <a:pt x="1296" y="58"/>
                    <a:pt x="1299" y="58"/>
                  </a:cubicBezTo>
                  <a:cubicBezTo>
                    <a:pt x="1300" y="58"/>
                    <a:pt x="1302" y="58"/>
                    <a:pt x="1304" y="57"/>
                  </a:cubicBezTo>
                  <a:cubicBezTo>
                    <a:pt x="1305" y="56"/>
                    <a:pt x="1306" y="55"/>
                    <a:pt x="1307" y="54"/>
                  </a:cubicBezTo>
                  <a:cubicBezTo>
                    <a:pt x="1325" y="56"/>
                    <a:pt x="1325" y="56"/>
                    <a:pt x="1325" y="56"/>
                  </a:cubicBezTo>
                  <a:cubicBezTo>
                    <a:pt x="1323" y="61"/>
                    <a:pt x="1319" y="64"/>
                    <a:pt x="1315" y="66"/>
                  </a:cubicBezTo>
                  <a:cubicBezTo>
                    <a:pt x="1311" y="68"/>
                    <a:pt x="1306" y="69"/>
                    <a:pt x="1298" y="69"/>
                  </a:cubicBezTo>
                  <a:cubicBezTo>
                    <a:pt x="1292" y="69"/>
                    <a:pt x="1287" y="68"/>
                    <a:pt x="1283" y="67"/>
                  </a:cubicBezTo>
                  <a:cubicBezTo>
                    <a:pt x="1279" y="65"/>
                    <a:pt x="1276" y="62"/>
                    <a:pt x="1274" y="58"/>
                  </a:cubicBezTo>
                  <a:cubicBezTo>
                    <a:pt x="1271" y="54"/>
                    <a:pt x="1270" y="49"/>
                    <a:pt x="1270" y="44"/>
                  </a:cubicBezTo>
                  <a:cubicBezTo>
                    <a:pt x="1270" y="36"/>
                    <a:pt x="1272" y="30"/>
                    <a:pt x="1277" y="26"/>
                  </a:cubicBezTo>
                  <a:cubicBezTo>
                    <a:pt x="1282" y="21"/>
                    <a:pt x="1289" y="18"/>
                    <a:pt x="1298" y="18"/>
                  </a:cubicBezTo>
                  <a:cubicBezTo>
                    <a:pt x="1305" y="18"/>
                    <a:pt x="1310" y="19"/>
                    <a:pt x="1314" y="22"/>
                  </a:cubicBezTo>
                  <a:cubicBezTo>
                    <a:pt x="1318" y="24"/>
                    <a:pt x="1321" y="27"/>
                    <a:pt x="1323" y="31"/>
                  </a:cubicBezTo>
                  <a:cubicBezTo>
                    <a:pt x="1325" y="35"/>
                    <a:pt x="1326" y="40"/>
                    <a:pt x="1326" y="46"/>
                  </a:cubicBezTo>
                  <a:cubicBezTo>
                    <a:pt x="1326" y="49"/>
                    <a:pt x="1326" y="49"/>
                    <a:pt x="1326" y="49"/>
                  </a:cubicBezTo>
                  <a:close/>
                  <a:moveTo>
                    <a:pt x="1307" y="40"/>
                  </a:moveTo>
                  <a:cubicBezTo>
                    <a:pt x="1307" y="36"/>
                    <a:pt x="1306" y="33"/>
                    <a:pt x="1305" y="32"/>
                  </a:cubicBezTo>
                  <a:cubicBezTo>
                    <a:pt x="1303" y="30"/>
                    <a:pt x="1301" y="29"/>
                    <a:pt x="1298" y="29"/>
                  </a:cubicBezTo>
                  <a:cubicBezTo>
                    <a:pt x="1295" y="29"/>
                    <a:pt x="1293" y="31"/>
                    <a:pt x="1291" y="33"/>
                  </a:cubicBezTo>
                  <a:cubicBezTo>
                    <a:pt x="1290" y="34"/>
                    <a:pt x="1289" y="37"/>
                    <a:pt x="1289" y="40"/>
                  </a:cubicBezTo>
                  <a:cubicBezTo>
                    <a:pt x="1307" y="40"/>
                    <a:pt x="1307" y="40"/>
                    <a:pt x="1307" y="40"/>
                  </a:cubicBezTo>
                  <a:close/>
                  <a:moveTo>
                    <a:pt x="1380" y="49"/>
                  </a:moveTo>
                  <a:cubicBezTo>
                    <a:pt x="1398" y="51"/>
                    <a:pt x="1398" y="51"/>
                    <a:pt x="1398" y="51"/>
                  </a:cubicBezTo>
                  <a:cubicBezTo>
                    <a:pt x="1397" y="55"/>
                    <a:pt x="1396" y="58"/>
                    <a:pt x="1393" y="61"/>
                  </a:cubicBezTo>
                  <a:cubicBezTo>
                    <a:pt x="1391" y="64"/>
                    <a:pt x="1388" y="66"/>
                    <a:pt x="1385" y="67"/>
                  </a:cubicBezTo>
                  <a:cubicBezTo>
                    <a:pt x="1381" y="69"/>
                    <a:pt x="1377" y="69"/>
                    <a:pt x="1372" y="69"/>
                  </a:cubicBezTo>
                  <a:cubicBezTo>
                    <a:pt x="1366" y="69"/>
                    <a:pt x="1362" y="69"/>
                    <a:pt x="1359" y="68"/>
                  </a:cubicBezTo>
                  <a:cubicBezTo>
                    <a:pt x="1355" y="67"/>
                    <a:pt x="1352" y="65"/>
                    <a:pt x="1350" y="63"/>
                  </a:cubicBezTo>
                  <a:cubicBezTo>
                    <a:pt x="1347" y="61"/>
                    <a:pt x="1345" y="59"/>
                    <a:pt x="1344" y="56"/>
                  </a:cubicBezTo>
                  <a:cubicBezTo>
                    <a:pt x="1342" y="53"/>
                    <a:pt x="1342" y="49"/>
                    <a:pt x="1342" y="44"/>
                  </a:cubicBezTo>
                  <a:cubicBezTo>
                    <a:pt x="1342" y="39"/>
                    <a:pt x="1343" y="35"/>
                    <a:pt x="1344" y="32"/>
                  </a:cubicBezTo>
                  <a:cubicBezTo>
                    <a:pt x="1346" y="29"/>
                    <a:pt x="1347" y="27"/>
                    <a:pt x="1349" y="25"/>
                  </a:cubicBezTo>
                  <a:cubicBezTo>
                    <a:pt x="1352" y="23"/>
                    <a:pt x="1354" y="22"/>
                    <a:pt x="1356" y="21"/>
                  </a:cubicBezTo>
                  <a:cubicBezTo>
                    <a:pt x="1360" y="19"/>
                    <a:pt x="1365" y="18"/>
                    <a:pt x="1370" y="18"/>
                  </a:cubicBezTo>
                  <a:cubicBezTo>
                    <a:pt x="1378" y="18"/>
                    <a:pt x="1384" y="20"/>
                    <a:pt x="1388" y="23"/>
                  </a:cubicBezTo>
                  <a:cubicBezTo>
                    <a:pt x="1393" y="26"/>
                    <a:pt x="1396" y="30"/>
                    <a:pt x="1397" y="35"/>
                  </a:cubicBezTo>
                  <a:cubicBezTo>
                    <a:pt x="1380" y="38"/>
                    <a:pt x="1380" y="38"/>
                    <a:pt x="1380" y="38"/>
                  </a:cubicBezTo>
                  <a:cubicBezTo>
                    <a:pt x="1379" y="35"/>
                    <a:pt x="1378" y="34"/>
                    <a:pt x="1377" y="33"/>
                  </a:cubicBezTo>
                  <a:cubicBezTo>
                    <a:pt x="1375" y="32"/>
                    <a:pt x="1373" y="31"/>
                    <a:pt x="1371" y="31"/>
                  </a:cubicBezTo>
                  <a:cubicBezTo>
                    <a:pt x="1368" y="31"/>
                    <a:pt x="1365" y="32"/>
                    <a:pt x="1363" y="35"/>
                  </a:cubicBezTo>
                  <a:cubicBezTo>
                    <a:pt x="1361" y="37"/>
                    <a:pt x="1360" y="40"/>
                    <a:pt x="1360" y="45"/>
                  </a:cubicBezTo>
                  <a:cubicBezTo>
                    <a:pt x="1360" y="49"/>
                    <a:pt x="1361" y="52"/>
                    <a:pt x="1363" y="54"/>
                  </a:cubicBezTo>
                  <a:cubicBezTo>
                    <a:pt x="1365" y="56"/>
                    <a:pt x="1368" y="57"/>
                    <a:pt x="1370" y="57"/>
                  </a:cubicBezTo>
                  <a:cubicBezTo>
                    <a:pt x="1373" y="57"/>
                    <a:pt x="1375" y="56"/>
                    <a:pt x="1377" y="55"/>
                  </a:cubicBezTo>
                  <a:cubicBezTo>
                    <a:pt x="1378" y="54"/>
                    <a:pt x="1380" y="52"/>
                    <a:pt x="1380" y="49"/>
                  </a:cubicBezTo>
                  <a:close/>
                  <a:moveTo>
                    <a:pt x="1414" y="1"/>
                  </a:moveTo>
                  <a:cubicBezTo>
                    <a:pt x="1433" y="1"/>
                    <a:pt x="1433" y="1"/>
                    <a:pt x="1433" y="1"/>
                  </a:cubicBezTo>
                  <a:cubicBezTo>
                    <a:pt x="1433" y="26"/>
                    <a:pt x="1433" y="26"/>
                    <a:pt x="1433" y="26"/>
                  </a:cubicBezTo>
                  <a:cubicBezTo>
                    <a:pt x="1435" y="23"/>
                    <a:pt x="1438" y="21"/>
                    <a:pt x="1440" y="20"/>
                  </a:cubicBezTo>
                  <a:cubicBezTo>
                    <a:pt x="1443" y="19"/>
                    <a:pt x="1446" y="18"/>
                    <a:pt x="1449" y="18"/>
                  </a:cubicBezTo>
                  <a:cubicBezTo>
                    <a:pt x="1454" y="18"/>
                    <a:pt x="1458" y="20"/>
                    <a:pt x="1461" y="23"/>
                  </a:cubicBezTo>
                  <a:cubicBezTo>
                    <a:pt x="1464" y="26"/>
                    <a:pt x="1466" y="31"/>
                    <a:pt x="1466" y="37"/>
                  </a:cubicBezTo>
                  <a:cubicBezTo>
                    <a:pt x="1466" y="68"/>
                    <a:pt x="1466" y="68"/>
                    <a:pt x="1466" y="68"/>
                  </a:cubicBezTo>
                  <a:cubicBezTo>
                    <a:pt x="1447" y="68"/>
                    <a:pt x="1447" y="68"/>
                    <a:pt x="1447" y="68"/>
                  </a:cubicBezTo>
                  <a:cubicBezTo>
                    <a:pt x="1447" y="41"/>
                    <a:pt x="1447" y="41"/>
                    <a:pt x="1447" y="41"/>
                  </a:cubicBezTo>
                  <a:cubicBezTo>
                    <a:pt x="1447" y="38"/>
                    <a:pt x="1446" y="36"/>
                    <a:pt x="1445" y="35"/>
                  </a:cubicBezTo>
                  <a:cubicBezTo>
                    <a:pt x="1444" y="34"/>
                    <a:pt x="1442" y="33"/>
                    <a:pt x="1440" y="33"/>
                  </a:cubicBezTo>
                  <a:cubicBezTo>
                    <a:pt x="1438" y="33"/>
                    <a:pt x="1436" y="34"/>
                    <a:pt x="1435" y="36"/>
                  </a:cubicBezTo>
                  <a:cubicBezTo>
                    <a:pt x="1433" y="37"/>
                    <a:pt x="1433" y="40"/>
                    <a:pt x="1433" y="45"/>
                  </a:cubicBezTo>
                  <a:cubicBezTo>
                    <a:pt x="1433" y="68"/>
                    <a:pt x="1433" y="68"/>
                    <a:pt x="1433" y="68"/>
                  </a:cubicBezTo>
                  <a:cubicBezTo>
                    <a:pt x="1414" y="68"/>
                    <a:pt x="1414" y="68"/>
                    <a:pt x="1414" y="68"/>
                  </a:cubicBezTo>
                  <a:cubicBezTo>
                    <a:pt x="1414" y="1"/>
                    <a:pt x="1414" y="1"/>
                    <a:pt x="1414" y="1"/>
                  </a:cubicBezTo>
                  <a:close/>
                  <a:moveTo>
                    <a:pt x="1486" y="20"/>
                  </a:moveTo>
                  <a:cubicBezTo>
                    <a:pt x="1503" y="20"/>
                    <a:pt x="1503" y="20"/>
                    <a:pt x="1503" y="20"/>
                  </a:cubicBezTo>
                  <a:cubicBezTo>
                    <a:pt x="1503" y="27"/>
                    <a:pt x="1503" y="27"/>
                    <a:pt x="1503" y="27"/>
                  </a:cubicBezTo>
                  <a:cubicBezTo>
                    <a:pt x="1506" y="24"/>
                    <a:pt x="1508" y="22"/>
                    <a:pt x="1511" y="21"/>
                  </a:cubicBezTo>
                  <a:cubicBezTo>
                    <a:pt x="1514" y="19"/>
                    <a:pt x="1517" y="18"/>
                    <a:pt x="1521" y="18"/>
                  </a:cubicBezTo>
                  <a:cubicBezTo>
                    <a:pt x="1526" y="18"/>
                    <a:pt x="1530" y="20"/>
                    <a:pt x="1533" y="23"/>
                  </a:cubicBezTo>
                  <a:cubicBezTo>
                    <a:pt x="1536" y="26"/>
                    <a:pt x="1537" y="31"/>
                    <a:pt x="1537" y="37"/>
                  </a:cubicBezTo>
                  <a:cubicBezTo>
                    <a:pt x="1537" y="68"/>
                    <a:pt x="1537" y="68"/>
                    <a:pt x="1537" y="68"/>
                  </a:cubicBezTo>
                  <a:cubicBezTo>
                    <a:pt x="1519" y="68"/>
                    <a:pt x="1519" y="68"/>
                    <a:pt x="1519" y="68"/>
                  </a:cubicBezTo>
                  <a:cubicBezTo>
                    <a:pt x="1519" y="41"/>
                    <a:pt x="1519" y="41"/>
                    <a:pt x="1519" y="41"/>
                  </a:cubicBezTo>
                  <a:cubicBezTo>
                    <a:pt x="1519" y="38"/>
                    <a:pt x="1518" y="36"/>
                    <a:pt x="1517" y="35"/>
                  </a:cubicBezTo>
                  <a:cubicBezTo>
                    <a:pt x="1516" y="34"/>
                    <a:pt x="1514" y="33"/>
                    <a:pt x="1512" y="33"/>
                  </a:cubicBezTo>
                  <a:cubicBezTo>
                    <a:pt x="1510" y="33"/>
                    <a:pt x="1508" y="34"/>
                    <a:pt x="1507" y="36"/>
                  </a:cubicBezTo>
                  <a:cubicBezTo>
                    <a:pt x="1505" y="37"/>
                    <a:pt x="1504" y="40"/>
                    <a:pt x="1504" y="45"/>
                  </a:cubicBezTo>
                  <a:cubicBezTo>
                    <a:pt x="1504" y="68"/>
                    <a:pt x="1504" y="68"/>
                    <a:pt x="1504" y="68"/>
                  </a:cubicBezTo>
                  <a:cubicBezTo>
                    <a:pt x="1486" y="68"/>
                    <a:pt x="1486" y="68"/>
                    <a:pt x="1486" y="68"/>
                  </a:cubicBezTo>
                  <a:cubicBezTo>
                    <a:pt x="1486" y="20"/>
                    <a:pt x="1486" y="20"/>
                    <a:pt x="1486" y="20"/>
                  </a:cubicBezTo>
                  <a:close/>
                  <a:moveTo>
                    <a:pt x="1555" y="44"/>
                  </a:moveTo>
                  <a:cubicBezTo>
                    <a:pt x="1555" y="37"/>
                    <a:pt x="1558" y="30"/>
                    <a:pt x="1563" y="26"/>
                  </a:cubicBezTo>
                  <a:cubicBezTo>
                    <a:pt x="1568" y="21"/>
                    <a:pt x="1575" y="18"/>
                    <a:pt x="1583" y="18"/>
                  </a:cubicBezTo>
                  <a:cubicBezTo>
                    <a:pt x="1593" y="18"/>
                    <a:pt x="1600" y="21"/>
                    <a:pt x="1605" y="27"/>
                  </a:cubicBezTo>
                  <a:cubicBezTo>
                    <a:pt x="1609" y="31"/>
                    <a:pt x="1611" y="37"/>
                    <a:pt x="1611" y="44"/>
                  </a:cubicBezTo>
                  <a:cubicBezTo>
                    <a:pt x="1611" y="51"/>
                    <a:pt x="1609" y="57"/>
                    <a:pt x="1604" y="62"/>
                  </a:cubicBezTo>
                  <a:cubicBezTo>
                    <a:pt x="1599" y="67"/>
                    <a:pt x="1592" y="69"/>
                    <a:pt x="1583" y="69"/>
                  </a:cubicBezTo>
                  <a:cubicBezTo>
                    <a:pt x="1575" y="69"/>
                    <a:pt x="1569" y="67"/>
                    <a:pt x="1564" y="63"/>
                  </a:cubicBezTo>
                  <a:cubicBezTo>
                    <a:pt x="1558" y="58"/>
                    <a:pt x="1555" y="52"/>
                    <a:pt x="1555" y="44"/>
                  </a:cubicBezTo>
                  <a:close/>
                  <a:moveTo>
                    <a:pt x="1574" y="44"/>
                  </a:moveTo>
                  <a:cubicBezTo>
                    <a:pt x="1574" y="48"/>
                    <a:pt x="1575" y="52"/>
                    <a:pt x="1577" y="54"/>
                  </a:cubicBezTo>
                  <a:cubicBezTo>
                    <a:pt x="1578" y="56"/>
                    <a:pt x="1581" y="57"/>
                    <a:pt x="1583" y="57"/>
                  </a:cubicBezTo>
                  <a:cubicBezTo>
                    <a:pt x="1586" y="57"/>
                    <a:pt x="1588" y="56"/>
                    <a:pt x="1590" y="54"/>
                  </a:cubicBezTo>
                  <a:cubicBezTo>
                    <a:pt x="1592" y="52"/>
                    <a:pt x="1592" y="48"/>
                    <a:pt x="1592" y="44"/>
                  </a:cubicBezTo>
                  <a:cubicBezTo>
                    <a:pt x="1592" y="40"/>
                    <a:pt x="1592" y="36"/>
                    <a:pt x="1590" y="34"/>
                  </a:cubicBezTo>
                  <a:cubicBezTo>
                    <a:pt x="1588" y="32"/>
                    <a:pt x="1586" y="31"/>
                    <a:pt x="1583" y="31"/>
                  </a:cubicBezTo>
                  <a:cubicBezTo>
                    <a:pt x="1581" y="31"/>
                    <a:pt x="1578" y="32"/>
                    <a:pt x="1577" y="34"/>
                  </a:cubicBezTo>
                  <a:cubicBezTo>
                    <a:pt x="1575" y="37"/>
                    <a:pt x="1574" y="40"/>
                    <a:pt x="1574" y="44"/>
                  </a:cubicBezTo>
                  <a:close/>
                  <a:moveTo>
                    <a:pt x="1630" y="1"/>
                  </a:moveTo>
                  <a:cubicBezTo>
                    <a:pt x="1649" y="1"/>
                    <a:pt x="1649" y="1"/>
                    <a:pt x="1649" y="1"/>
                  </a:cubicBezTo>
                  <a:cubicBezTo>
                    <a:pt x="1649" y="68"/>
                    <a:pt x="1649" y="68"/>
                    <a:pt x="1649" y="68"/>
                  </a:cubicBezTo>
                  <a:cubicBezTo>
                    <a:pt x="1630" y="68"/>
                    <a:pt x="1630" y="68"/>
                    <a:pt x="1630" y="68"/>
                  </a:cubicBezTo>
                  <a:cubicBezTo>
                    <a:pt x="1630" y="1"/>
                    <a:pt x="1630" y="1"/>
                    <a:pt x="1630" y="1"/>
                  </a:cubicBezTo>
                  <a:close/>
                  <a:moveTo>
                    <a:pt x="1667" y="44"/>
                  </a:moveTo>
                  <a:cubicBezTo>
                    <a:pt x="1667" y="37"/>
                    <a:pt x="1670" y="30"/>
                    <a:pt x="1675" y="26"/>
                  </a:cubicBezTo>
                  <a:cubicBezTo>
                    <a:pt x="1680" y="21"/>
                    <a:pt x="1686" y="18"/>
                    <a:pt x="1695" y="18"/>
                  </a:cubicBezTo>
                  <a:cubicBezTo>
                    <a:pt x="1705" y="18"/>
                    <a:pt x="1712" y="21"/>
                    <a:pt x="1717" y="27"/>
                  </a:cubicBezTo>
                  <a:cubicBezTo>
                    <a:pt x="1721" y="31"/>
                    <a:pt x="1723" y="37"/>
                    <a:pt x="1723" y="44"/>
                  </a:cubicBezTo>
                  <a:cubicBezTo>
                    <a:pt x="1723" y="51"/>
                    <a:pt x="1721" y="57"/>
                    <a:pt x="1716" y="62"/>
                  </a:cubicBezTo>
                  <a:cubicBezTo>
                    <a:pt x="1711" y="67"/>
                    <a:pt x="1704" y="69"/>
                    <a:pt x="1695" y="69"/>
                  </a:cubicBezTo>
                  <a:cubicBezTo>
                    <a:pt x="1687" y="69"/>
                    <a:pt x="1681" y="67"/>
                    <a:pt x="1676" y="63"/>
                  </a:cubicBezTo>
                  <a:cubicBezTo>
                    <a:pt x="1670" y="58"/>
                    <a:pt x="1667" y="52"/>
                    <a:pt x="1667" y="44"/>
                  </a:cubicBezTo>
                  <a:close/>
                  <a:moveTo>
                    <a:pt x="1686" y="44"/>
                  </a:moveTo>
                  <a:cubicBezTo>
                    <a:pt x="1686" y="48"/>
                    <a:pt x="1687" y="52"/>
                    <a:pt x="1689" y="54"/>
                  </a:cubicBezTo>
                  <a:cubicBezTo>
                    <a:pt x="1690" y="56"/>
                    <a:pt x="1693" y="57"/>
                    <a:pt x="1695" y="57"/>
                  </a:cubicBezTo>
                  <a:cubicBezTo>
                    <a:pt x="1698" y="57"/>
                    <a:pt x="1700" y="56"/>
                    <a:pt x="1702" y="54"/>
                  </a:cubicBezTo>
                  <a:cubicBezTo>
                    <a:pt x="1704" y="52"/>
                    <a:pt x="1704" y="48"/>
                    <a:pt x="1704" y="44"/>
                  </a:cubicBezTo>
                  <a:cubicBezTo>
                    <a:pt x="1704" y="40"/>
                    <a:pt x="1704" y="36"/>
                    <a:pt x="1702" y="34"/>
                  </a:cubicBezTo>
                  <a:cubicBezTo>
                    <a:pt x="1700" y="32"/>
                    <a:pt x="1698" y="31"/>
                    <a:pt x="1695" y="31"/>
                  </a:cubicBezTo>
                  <a:cubicBezTo>
                    <a:pt x="1693" y="31"/>
                    <a:pt x="1690" y="32"/>
                    <a:pt x="1689" y="34"/>
                  </a:cubicBezTo>
                  <a:cubicBezTo>
                    <a:pt x="1687" y="37"/>
                    <a:pt x="1686" y="40"/>
                    <a:pt x="1686" y="44"/>
                  </a:cubicBezTo>
                  <a:close/>
                  <a:moveTo>
                    <a:pt x="1775" y="20"/>
                  </a:moveTo>
                  <a:cubicBezTo>
                    <a:pt x="1793" y="20"/>
                    <a:pt x="1793" y="20"/>
                    <a:pt x="1793" y="20"/>
                  </a:cubicBezTo>
                  <a:cubicBezTo>
                    <a:pt x="1793" y="66"/>
                    <a:pt x="1793" y="66"/>
                    <a:pt x="1793" y="66"/>
                  </a:cubicBezTo>
                  <a:cubicBezTo>
                    <a:pt x="1793" y="68"/>
                    <a:pt x="1793" y="68"/>
                    <a:pt x="1793" y="68"/>
                  </a:cubicBezTo>
                  <a:cubicBezTo>
                    <a:pt x="1793" y="71"/>
                    <a:pt x="1792" y="74"/>
                    <a:pt x="1791" y="76"/>
                  </a:cubicBezTo>
                  <a:cubicBezTo>
                    <a:pt x="1789" y="79"/>
                    <a:pt x="1788" y="81"/>
                    <a:pt x="1785" y="83"/>
                  </a:cubicBezTo>
                  <a:cubicBezTo>
                    <a:pt x="1783" y="85"/>
                    <a:pt x="1781" y="86"/>
                    <a:pt x="1777" y="87"/>
                  </a:cubicBezTo>
                  <a:cubicBezTo>
                    <a:pt x="1774" y="88"/>
                    <a:pt x="1770" y="88"/>
                    <a:pt x="1766" y="88"/>
                  </a:cubicBezTo>
                  <a:cubicBezTo>
                    <a:pt x="1756" y="88"/>
                    <a:pt x="1749" y="87"/>
                    <a:pt x="1746" y="84"/>
                  </a:cubicBezTo>
                  <a:cubicBezTo>
                    <a:pt x="1742" y="81"/>
                    <a:pt x="1740" y="77"/>
                    <a:pt x="1740" y="72"/>
                  </a:cubicBezTo>
                  <a:cubicBezTo>
                    <a:pt x="1740" y="71"/>
                    <a:pt x="1740" y="70"/>
                    <a:pt x="1740" y="69"/>
                  </a:cubicBezTo>
                  <a:cubicBezTo>
                    <a:pt x="1758" y="71"/>
                    <a:pt x="1758" y="71"/>
                    <a:pt x="1758" y="71"/>
                  </a:cubicBezTo>
                  <a:cubicBezTo>
                    <a:pt x="1759" y="73"/>
                    <a:pt x="1760" y="74"/>
                    <a:pt x="1761" y="75"/>
                  </a:cubicBezTo>
                  <a:cubicBezTo>
                    <a:pt x="1762" y="76"/>
                    <a:pt x="1764" y="76"/>
                    <a:pt x="1766" y="76"/>
                  </a:cubicBezTo>
                  <a:cubicBezTo>
                    <a:pt x="1768" y="76"/>
                    <a:pt x="1770" y="76"/>
                    <a:pt x="1772" y="74"/>
                  </a:cubicBezTo>
                  <a:cubicBezTo>
                    <a:pt x="1773" y="73"/>
                    <a:pt x="1774" y="70"/>
                    <a:pt x="1774" y="67"/>
                  </a:cubicBezTo>
                  <a:cubicBezTo>
                    <a:pt x="1774" y="59"/>
                    <a:pt x="1774" y="59"/>
                    <a:pt x="1774" y="59"/>
                  </a:cubicBezTo>
                  <a:cubicBezTo>
                    <a:pt x="1772" y="61"/>
                    <a:pt x="1770" y="63"/>
                    <a:pt x="1768" y="64"/>
                  </a:cubicBezTo>
                  <a:cubicBezTo>
                    <a:pt x="1765" y="66"/>
                    <a:pt x="1762" y="66"/>
                    <a:pt x="1759" y="66"/>
                  </a:cubicBezTo>
                  <a:cubicBezTo>
                    <a:pt x="1752" y="66"/>
                    <a:pt x="1747" y="63"/>
                    <a:pt x="1743" y="58"/>
                  </a:cubicBezTo>
                  <a:cubicBezTo>
                    <a:pt x="1740" y="54"/>
                    <a:pt x="1739" y="48"/>
                    <a:pt x="1739" y="42"/>
                  </a:cubicBezTo>
                  <a:cubicBezTo>
                    <a:pt x="1739" y="34"/>
                    <a:pt x="1741" y="28"/>
                    <a:pt x="1744" y="24"/>
                  </a:cubicBezTo>
                  <a:cubicBezTo>
                    <a:pt x="1748" y="20"/>
                    <a:pt x="1753" y="18"/>
                    <a:pt x="1759" y="18"/>
                  </a:cubicBezTo>
                  <a:cubicBezTo>
                    <a:pt x="1763" y="18"/>
                    <a:pt x="1766" y="19"/>
                    <a:pt x="1768" y="20"/>
                  </a:cubicBezTo>
                  <a:cubicBezTo>
                    <a:pt x="1771" y="22"/>
                    <a:pt x="1773" y="24"/>
                    <a:pt x="1775" y="27"/>
                  </a:cubicBezTo>
                  <a:cubicBezTo>
                    <a:pt x="1775" y="20"/>
                    <a:pt x="1775" y="20"/>
                    <a:pt x="1775" y="20"/>
                  </a:cubicBezTo>
                  <a:close/>
                  <a:moveTo>
                    <a:pt x="1757" y="43"/>
                  </a:moveTo>
                  <a:cubicBezTo>
                    <a:pt x="1757" y="47"/>
                    <a:pt x="1758" y="49"/>
                    <a:pt x="1760" y="51"/>
                  </a:cubicBezTo>
                  <a:cubicBezTo>
                    <a:pt x="1761" y="53"/>
                    <a:pt x="1763" y="54"/>
                    <a:pt x="1766" y="54"/>
                  </a:cubicBezTo>
                  <a:cubicBezTo>
                    <a:pt x="1768" y="54"/>
                    <a:pt x="1770" y="53"/>
                    <a:pt x="1772" y="51"/>
                  </a:cubicBezTo>
                  <a:cubicBezTo>
                    <a:pt x="1773" y="49"/>
                    <a:pt x="1774" y="46"/>
                    <a:pt x="1774" y="43"/>
                  </a:cubicBezTo>
                  <a:cubicBezTo>
                    <a:pt x="1774" y="39"/>
                    <a:pt x="1773" y="37"/>
                    <a:pt x="1771" y="35"/>
                  </a:cubicBezTo>
                  <a:cubicBezTo>
                    <a:pt x="1770" y="33"/>
                    <a:pt x="1768" y="32"/>
                    <a:pt x="1765" y="32"/>
                  </a:cubicBezTo>
                  <a:cubicBezTo>
                    <a:pt x="1763" y="32"/>
                    <a:pt x="1761" y="33"/>
                    <a:pt x="1760" y="35"/>
                  </a:cubicBezTo>
                  <a:cubicBezTo>
                    <a:pt x="1758" y="36"/>
                    <a:pt x="1757" y="39"/>
                    <a:pt x="1757" y="43"/>
                  </a:cubicBezTo>
                  <a:close/>
                  <a:moveTo>
                    <a:pt x="1809" y="20"/>
                  </a:moveTo>
                  <a:cubicBezTo>
                    <a:pt x="1829" y="20"/>
                    <a:pt x="1829" y="20"/>
                    <a:pt x="1829" y="20"/>
                  </a:cubicBezTo>
                  <a:cubicBezTo>
                    <a:pt x="1839" y="52"/>
                    <a:pt x="1839" y="52"/>
                    <a:pt x="1839" y="52"/>
                  </a:cubicBezTo>
                  <a:cubicBezTo>
                    <a:pt x="1848" y="20"/>
                    <a:pt x="1848" y="20"/>
                    <a:pt x="1848" y="20"/>
                  </a:cubicBezTo>
                  <a:cubicBezTo>
                    <a:pt x="1867" y="20"/>
                    <a:pt x="1867" y="20"/>
                    <a:pt x="1867" y="20"/>
                  </a:cubicBezTo>
                  <a:cubicBezTo>
                    <a:pt x="1847" y="72"/>
                    <a:pt x="1847" y="72"/>
                    <a:pt x="1847" y="72"/>
                  </a:cubicBezTo>
                  <a:cubicBezTo>
                    <a:pt x="1845" y="78"/>
                    <a:pt x="1843" y="82"/>
                    <a:pt x="1840" y="84"/>
                  </a:cubicBezTo>
                  <a:cubicBezTo>
                    <a:pt x="1837" y="87"/>
                    <a:pt x="1832" y="88"/>
                    <a:pt x="1826" y="88"/>
                  </a:cubicBezTo>
                  <a:cubicBezTo>
                    <a:pt x="1823" y="88"/>
                    <a:pt x="1819" y="88"/>
                    <a:pt x="1813" y="87"/>
                  </a:cubicBezTo>
                  <a:cubicBezTo>
                    <a:pt x="1812" y="74"/>
                    <a:pt x="1812" y="74"/>
                    <a:pt x="1812" y="74"/>
                  </a:cubicBezTo>
                  <a:cubicBezTo>
                    <a:pt x="1814" y="75"/>
                    <a:pt x="1817" y="75"/>
                    <a:pt x="1821" y="75"/>
                  </a:cubicBezTo>
                  <a:cubicBezTo>
                    <a:pt x="1823" y="75"/>
                    <a:pt x="1825" y="75"/>
                    <a:pt x="1826" y="74"/>
                  </a:cubicBezTo>
                  <a:cubicBezTo>
                    <a:pt x="1827" y="73"/>
                    <a:pt x="1829" y="71"/>
                    <a:pt x="1829" y="68"/>
                  </a:cubicBezTo>
                  <a:lnTo>
                    <a:pt x="1809" y="20"/>
                  </a:lnTo>
                  <a:close/>
                </a:path>
              </a:pathLst>
            </a:custGeom>
            <a:solidFill>
              <a:srgbClr val="2270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grpSp>
          <p:nvGrpSpPr>
            <p:cNvPr id="16" name="îšļiḍê">
              <a:extLst>
                <a:ext uri="{FF2B5EF4-FFF2-40B4-BE49-F238E27FC236}">
                  <a16:creationId xmlns:a16="http://schemas.microsoft.com/office/drawing/2014/main" id="{722BF47D-0A36-692F-F39E-919A59A4F53D}"/>
                </a:ext>
              </a:extLst>
            </p:cNvPr>
            <p:cNvGrpSpPr/>
            <p:nvPr/>
          </p:nvGrpSpPr>
          <p:grpSpPr>
            <a:xfrm>
              <a:off x="1661209" y="2525195"/>
              <a:ext cx="1811492" cy="1818192"/>
              <a:chOff x="1903413" y="2573338"/>
              <a:chExt cx="1714500" cy="1720850"/>
            </a:xfrm>
            <a:solidFill>
              <a:srgbClr val="2270B6"/>
            </a:solidFill>
          </p:grpSpPr>
          <p:sp>
            <p:nvSpPr>
              <p:cNvPr id="162" name="ï$ḷíḑè">
                <a:extLst>
                  <a:ext uri="{FF2B5EF4-FFF2-40B4-BE49-F238E27FC236}">
                    <a16:creationId xmlns:a16="http://schemas.microsoft.com/office/drawing/2014/main" id="{612FE9BB-9E3D-CE2C-B1AA-FB9DE52B2566}"/>
                  </a:ext>
                </a:extLst>
              </p:cNvPr>
              <p:cNvSpPr/>
              <p:nvPr/>
            </p:nvSpPr>
            <p:spPr bwMode="auto">
              <a:xfrm>
                <a:off x="3198813" y="3711576"/>
                <a:ext cx="198438" cy="192088"/>
              </a:xfrm>
              <a:custGeom>
                <a:avLst/>
                <a:gdLst>
                  <a:gd name="T0" fmla="*/ 31 w 125"/>
                  <a:gd name="T1" fmla="*/ 15 h 121"/>
                  <a:gd name="T2" fmla="*/ 23 w 125"/>
                  <a:gd name="T3" fmla="*/ 2 h 121"/>
                  <a:gd name="T4" fmla="*/ 15 w 125"/>
                  <a:gd name="T5" fmla="*/ 0 h 121"/>
                  <a:gd name="T6" fmla="*/ 6 w 125"/>
                  <a:gd name="T7" fmla="*/ 9 h 121"/>
                  <a:gd name="T8" fmla="*/ 17 w 125"/>
                  <a:gd name="T9" fmla="*/ 23 h 121"/>
                  <a:gd name="T10" fmla="*/ 23 w 125"/>
                  <a:gd name="T11" fmla="*/ 31 h 121"/>
                  <a:gd name="T12" fmla="*/ 23 w 125"/>
                  <a:gd name="T13" fmla="*/ 36 h 121"/>
                  <a:gd name="T14" fmla="*/ 11 w 125"/>
                  <a:gd name="T15" fmla="*/ 36 h 121"/>
                  <a:gd name="T16" fmla="*/ 4 w 125"/>
                  <a:gd name="T17" fmla="*/ 46 h 121"/>
                  <a:gd name="T18" fmla="*/ 17 w 125"/>
                  <a:gd name="T19" fmla="*/ 54 h 121"/>
                  <a:gd name="T20" fmla="*/ 25 w 125"/>
                  <a:gd name="T21" fmla="*/ 54 h 121"/>
                  <a:gd name="T22" fmla="*/ 31 w 125"/>
                  <a:gd name="T23" fmla="*/ 46 h 121"/>
                  <a:gd name="T24" fmla="*/ 31 w 125"/>
                  <a:gd name="T25" fmla="*/ 34 h 121"/>
                  <a:gd name="T26" fmla="*/ 2 w 125"/>
                  <a:gd name="T27" fmla="*/ 59 h 121"/>
                  <a:gd name="T28" fmla="*/ 8 w 125"/>
                  <a:gd name="T29" fmla="*/ 71 h 121"/>
                  <a:gd name="T30" fmla="*/ 27 w 125"/>
                  <a:gd name="T31" fmla="*/ 81 h 121"/>
                  <a:gd name="T32" fmla="*/ 31 w 125"/>
                  <a:gd name="T33" fmla="*/ 73 h 121"/>
                  <a:gd name="T34" fmla="*/ 4 w 125"/>
                  <a:gd name="T35" fmla="*/ 59 h 121"/>
                  <a:gd name="T36" fmla="*/ 42 w 125"/>
                  <a:gd name="T37" fmla="*/ 77 h 121"/>
                  <a:gd name="T38" fmla="*/ 44 w 125"/>
                  <a:gd name="T39" fmla="*/ 92 h 121"/>
                  <a:gd name="T40" fmla="*/ 50 w 125"/>
                  <a:gd name="T41" fmla="*/ 86 h 121"/>
                  <a:gd name="T42" fmla="*/ 50 w 125"/>
                  <a:gd name="T43" fmla="*/ 69 h 121"/>
                  <a:gd name="T44" fmla="*/ 54 w 125"/>
                  <a:gd name="T45" fmla="*/ 38 h 121"/>
                  <a:gd name="T46" fmla="*/ 65 w 125"/>
                  <a:gd name="T47" fmla="*/ 23 h 121"/>
                  <a:gd name="T48" fmla="*/ 71 w 125"/>
                  <a:gd name="T49" fmla="*/ 36 h 121"/>
                  <a:gd name="T50" fmla="*/ 71 w 125"/>
                  <a:gd name="T51" fmla="*/ 40 h 121"/>
                  <a:gd name="T52" fmla="*/ 75 w 125"/>
                  <a:gd name="T53" fmla="*/ 25 h 121"/>
                  <a:gd name="T54" fmla="*/ 71 w 125"/>
                  <a:gd name="T55" fmla="*/ 17 h 121"/>
                  <a:gd name="T56" fmla="*/ 62 w 125"/>
                  <a:gd name="T57" fmla="*/ 13 h 121"/>
                  <a:gd name="T58" fmla="*/ 54 w 125"/>
                  <a:gd name="T59" fmla="*/ 17 h 121"/>
                  <a:gd name="T60" fmla="*/ 42 w 125"/>
                  <a:gd name="T61" fmla="*/ 50 h 121"/>
                  <a:gd name="T62" fmla="*/ 42 w 125"/>
                  <a:gd name="T63" fmla="*/ 71 h 121"/>
                  <a:gd name="T64" fmla="*/ 42 w 125"/>
                  <a:gd name="T65" fmla="*/ 96 h 121"/>
                  <a:gd name="T66" fmla="*/ 42 w 125"/>
                  <a:gd name="T67" fmla="*/ 106 h 121"/>
                  <a:gd name="T68" fmla="*/ 54 w 125"/>
                  <a:gd name="T69" fmla="*/ 119 h 121"/>
                  <a:gd name="T70" fmla="*/ 62 w 125"/>
                  <a:gd name="T71" fmla="*/ 119 h 121"/>
                  <a:gd name="T72" fmla="*/ 67 w 125"/>
                  <a:gd name="T73" fmla="*/ 109 h 121"/>
                  <a:gd name="T74" fmla="*/ 44 w 125"/>
                  <a:gd name="T75" fmla="*/ 96 h 121"/>
                  <a:gd name="T76" fmla="*/ 116 w 125"/>
                  <a:gd name="T77" fmla="*/ 79 h 121"/>
                  <a:gd name="T78" fmla="*/ 125 w 125"/>
                  <a:gd name="T79" fmla="*/ 98 h 121"/>
                  <a:gd name="T80" fmla="*/ 121 w 125"/>
                  <a:gd name="T81" fmla="*/ 111 h 121"/>
                  <a:gd name="T82" fmla="*/ 119 w 125"/>
                  <a:gd name="T83" fmla="*/ 113 h 121"/>
                  <a:gd name="T84" fmla="*/ 116 w 125"/>
                  <a:gd name="T85" fmla="*/ 109 h 121"/>
                  <a:gd name="T86" fmla="*/ 114 w 125"/>
                  <a:gd name="T87" fmla="*/ 92 h 121"/>
                  <a:gd name="T88" fmla="*/ 104 w 125"/>
                  <a:gd name="T89" fmla="*/ 79 h 121"/>
                  <a:gd name="T90" fmla="*/ 96 w 125"/>
                  <a:gd name="T91" fmla="*/ 98 h 121"/>
                  <a:gd name="T92" fmla="*/ 85 w 125"/>
                  <a:gd name="T93" fmla="*/ 117 h 121"/>
                  <a:gd name="T94" fmla="*/ 85 w 125"/>
                  <a:gd name="T95" fmla="*/ 113 h 121"/>
                  <a:gd name="T96" fmla="*/ 85 w 125"/>
                  <a:gd name="T97" fmla="*/ 92 h 121"/>
                  <a:gd name="T98" fmla="*/ 89 w 125"/>
                  <a:gd name="T99" fmla="*/ 75 h 121"/>
                  <a:gd name="T100" fmla="*/ 79 w 125"/>
                  <a:gd name="T101" fmla="*/ 75 h 121"/>
                  <a:gd name="T102" fmla="*/ 71 w 125"/>
                  <a:gd name="T103" fmla="*/ 65 h 121"/>
                  <a:gd name="T104" fmla="*/ 67 w 125"/>
                  <a:gd name="T105" fmla="*/ 67 h 121"/>
                  <a:gd name="T106" fmla="*/ 60 w 125"/>
                  <a:gd name="T107" fmla="*/ 63 h 121"/>
                  <a:gd name="T108" fmla="*/ 65 w 125"/>
                  <a:gd name="T109" fmla="*/ 50 h 121"/>
                  <a:gd name="T110" fmla="*/ 73 w 125"/>
                  <a:gd name="T111" fmla="*/ 46 h 121"/>
                  <a:gd name="T112" fmla="*/ 77 w 125"/>
                  <a:gd name="T113" fmla="*/ 52 h 121"/>
                  <a:gd name="T114" fmla="*/ 83 w 125"/>
                  <a:gd name="T115" fmla="*/ 63 h 121"/>
                  <a:gd name="T116" fmla="*/ 92 w 125"/>
                  <a:gd name="T117" fmla="*/ 65 h 121"/>
                  <a:gd name="T118" fmla="*/ 106 w 125"/>
                  <a:gd name="T119" fmla="*/ 40 h 121"/>
                  <a:gd name="T120" fmla="*/ 112 w 125"/>
                  <a:gd name="T121" fmla="*/ 42 h 121"/>
                  <a:gd name="T122" fmla="*/ 104 w 125"/>
                  <a:gd name="T123" fmla="*/ 67 h 121"/>
                  <a:gd name="T124" fmla="*/ 112 w 125"/>
                  <a:gd name="T125" fmla="*/ 77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25" h="121">
                    <a:moveTo>
                      <a:pt x="33" y="27"/>
                    </a:moveTo>
                    <a:lnTo>
                      <a:pt x="33" y="27"/>
                    </a:lnTo>
                    <a:lnTo>
                      <a:pt x="33" y="23"/>
                    </a:lnTo>
                    <a:lnTo>
                      <a:pt x="33" y="19"/>
                    </a:lnTo>
                    <a:lnTo>
                      <a:pt x="31" y="15"/>
                    </a:lnTo>
                    <a:lnTo>
                      <a:pt x="31" y="11"/>
                    </a:lnTo>
                    <a:lnTo>
                      <a:pt x="29" y="6"/>
                    </a:lnTo>
                    <a:lnTo>
                      <a:pt x="27" y="4"/>
                    </a:lnTo>
                    <a:lnTo>
                      <a:pt x="25" y="2"/>
                    </a:lnTo>
                    <a:lnTo>
                      <a:pt x="23" y="2"/>
                    </a:lnTo>
                    <a:lnTo>
                      <a:pt x="21" y="0"/>
                    </a:lnTo>
                    <a:lnTo>
                      <a:pt x="19" y="0"/>
                    </a:lnTo>
                    <a:lnTo>
                      <a:pt x="17" y="0"/>
                    </a:lnTo>
                    <a:lnTo>
                      <a:pt x="17" y="0"/>
                    </a:lnTo>
                    <a:lnTo>
                      <a:pt x="15" y="0"/>
                    </a:lnTo>
                    <a:lnTo>
                      <a:pt x="13" y="0"/>
                    </a:lnTo>
                    <a:lnTo>
                      <a:pt x="13" y="2"/>
                    </a:lnTo>
                    <a:lnTo>
                      <a:pt x="11" y="2"/>
                    </a:lnTo>
                    <a:lnTo>
                      <a:pt x="8" y="6"/>
                    </a:lnTo>
                    <a:lnTo>
                      <a:pt x="6" y="9"/>
                    </a:lnTo>
                    <a:lnTo>
                      <a:pt x="6" y="9"/>
                    </a:lnTo>
                    <a:lnTo>
                      <a:pt x="8" y="13"/>
                    </a:lnTo>
                    <a:lnTo>
                      <a:pt x="11" y="15"/>
                    </a:lnTo>
                    <a:lnTo>
                      <a:pt x="15" y="21"/>
                    </a:lnTo>
                    <a:lnTo>
                      <a:pt x="17" y="23"/>
                    </a:lnTo>
                    <a:lnTo>
                      <a:pt x="19" y="25"/>
                    </a:lnTo>
                    <a:lnTo>
                      <a:pt x="19" y="27"/>
                    </a:lnTo>
                    <a:lnTo>
                      <a:pt x="21" y="31"/>
                    </a:lnTo>
                    <a:lnTo>
                      <a:pt x="21" y="31"/>
                    </a:lnTo>
                    <a:lnTo>
                      <a:pt x="23" y="31"/>
                    </a:lnTo>
                    <a:lnTo>
                      <a:pt x="23" y="31"/>
                    </a:lnTo>
                    <a:lnTo>
                      <a:pt x="23" y="34"/>
                    </a:lnTo>
                    <a:lnTo>
                      <a:pt x="23" y="34"/>
                    </a:lnTo>
                    <a:lnTo>
                      <a:pt x="23" y="36"/>
                    </a:lnTo>
                    <a:lnTo>
                      <a:pt x="23" y="36"/>
                    </a:lnTo>
                    <a:lnTo>
                      <a:pt x="21" y="38"/>
                    </a:lnTo>
                    <a:lnTo>
                      <a:pt x="21" y="38"/>
                    </a:lnTo>
                    <a:lnTo>
                      <a:pt x="17" y="38"/>
                    </a:lnTo>
                    <a:lnTo>
                      <a:pt x="13" y="36"/>
                    </a:lnTo>
                    <a:lnTo>
                      <a:pt x="11" y="36"/>
                    </a:lnTo>
                    <a:lnTo>
                      <a:pt x="11" y="36"/>
                    </a:lnTo>
                    <a:lnTo>
                      <a:pt x="8" y="38"/>
                    </a:lnTo>
                    <a:lnTo>
                      <a:pt x="6" y="40"/>
                    </a:lnTo>
                    <a:lnTo>
                      <a:pt x="4" y="46"/>
                    </a:lnTo>
                    <a:lnTo>
                      <a:pt x="4" y="46"/>
                    </a:lnTo>
                    <a:lnTo>
                      <a:pt x="8" y="52"/>
                    </a:lnTo>
                    <a:lnTo>
                      <a:pt x="11" y="52"/>
                    </a:lnTo>
                    <a:lnTo>
                      <a:pt x="13" y="54"/>
                    </a:lnTo>
                    <a:lnTo>
                      <a:pt x="15" y="54"/>
                    </a:lnTo>
                    <a:lnTo>
                      <a:pt x="17" y="54"/>
                    </a:lnTo>
                    <a:lnTo>
                      <a:pt x="17" y="54"/>
                    </a:lnTo>
                    <a:lnTo>
                      <a:pt x="19" y="56"/>
                    </a:lnTo>
                    <a:lnTo>
                      <a:pt x="23" y="56"/>
                    </a:lnTo>
                    <a:lnTo>
                      <a:pt x="25" y="54"/>
                    </a:lnTo>
                    <a:lnTo>
                      <a:pt x="25" y="54"/>
                    </a:lnTo>
                    <a:lnTo>
                      <a:pt x="27" y="50"/>
                    </a:lnTo>
                    <a:lnTo>
                      <a:pt x="29" y="48"/>
                    </a:lnTo>
                    <a:lnTo>
                      <a:pt x="31" y="46"/>
                    </a:lnTo>
                    <a:lnTo>
                      <a:pt x="31" y="46"/>
                    </a:lnTo>
                    <a:lnTo>
                      <a:pt x="31" y="46"/>
                    </a:lnTo>
                    <a:lnTo>
                      <a:pt x="33" y="46"/>
                    </a:lnTo>
                    <a:lnTo>
                      <a:pt x="35" y="46"/>
                    </a:lnTo>
                    <a:lnTo>
                      <a:pt x="35" y="44"/>
                    </a:lnTo>
                    <a:lnTo>
                      <a:pt x="35" y="44"/>
                    </a:lnTo>
                    <a:lnTo>
                      <a:pt x="31" y="34"/>
                    </a:lnTo>
                    <a:lnTo>
                      <a:pt x="31" y="34"/>
                    </a:lnTo>
                    <a:lnTo>
                      <a:pt x="33" y="27"/>
                    </a:lnTo>
                    <a:lnTo>
                      <a:pt x="33" y="27"/>
                    </a:lnTo>
                    <a:lnTo>
                      <a:pt x="33" y="27"/>
                    </a:lnTo>
                    <a:close/>
                    <a:moveTo>
                      <a:pt x="2" y="59"/>
                    </a:moveTo>
                    <a:lnTo>
                      <a:pt x="2" y="59"/>
                    </a:lnTo>
                    <a:lnTo>
                      <a:pt x="0" y="63"/>
                    </a:lnTo>
                    <a:lnTo>
                      <a:pt x="0" y="63"/>
                    </a:lnTo>
                    <a:lnTo>
                      <a:pt x="4" y="69"/>
                    </a:lnTo>
                    <a:lnTo>
                      <a:pt x="8" y="71"/>
                    </a:lnTo>
                    <a:lnTo>
                      <a:pt x="11" y="75"/>
                    </a:lnTo>
                    <a:lnTo>
                      <a:pt x="13" y="77"/>
                    </a:lnTo>
                    <a:lnTo>
                      <a:pt x="17" y="79"/>
                    </a:lnTo>
                    <a:lnTo>
                      <a:pt x="21" y="81"/>
                    </a:lnTo>
                    <a:lnTo>
                      <a:pt x="27" y="81"/>
                    </a:lnTo>
                    <a:lnTo>
                      <a:pt x="27" y="81"/>
                    </a:lnTo>
                    <a:lnTo>
                      <a:pt x="29" y="79"/>
                    </a:lnTo>
                    <a:lnTo>
                      <a:pt x="29" y="77"/>
                    </a:lnTo>
                    <a:lnTo>
                      <a:pt x="31" y="73"/>
                    </a:lnTo>
                    <a:lnTo>
                      <a:pt x="31" y="73"/>
                    </a:lnTo>
                    <a:lnTo>
                      <a:pt x="25" y="69"/>
                    </a:lnTo>
                    <a:lnTo>
                      <a:pt x="19" y="65"/>
                    </a:lnTo>
                    <a:lnTo>
                      <a:pt x="13" y="61"/>
                    </a:lnTo>
                    <a:lnTo>
                      <a:pt x="4" y="59"/>
                    </a:lnTo>
                    <a:lnTo>
                      <a:pt x="4" y="59"/>
                    </a:lnTo>
                    <a:lnTo>
                      <a:pt x="4" y="59"/>
                    </a:lnTo>
                    <a:lnTo>
                      <a:pt x="2" y="59"/>
                    </a:lnTo>
                    <a:lnTo>
                      <a:pt x="2" y="59"/>
                    </a:lnTo>
                    <a:lnTo>
                      <a:pt x="2" y="59"/>
                    </a:lnTo>
                    <a:close/>
                    <a:moveTo>
                      <a:pt x="42" y="77"/>
                    </a:moveTo>
                    <a:lnTo>
                      <a:pt x="42" y="77"/>
                    </a:lnTo>
                    <a:lnTo>
                      <a:pt x="44" y="84"/>
                    </a:lnTo>
                    <a:lnTo>
                      <a:pt x="44" y="88"/>
                    </a:lnTo>
                    <a:lnTo>
                      <a:pt x="44" y="92"/>
                    </a:lnTo>
                    <a:lnTo>
                      <a:pt x="44" y="92"/>
                    </a:lnTo>
                    <a:lnTo>
                      <a:pt x="46" y="92"/>
                    </a:lnTo>
                    <a:lnTo>
                      <a:pt x="46" y="92"/>
                    </a:lnTo>
                    <a:lnTo>
                      <a:pt x="48" y="90"/>
                    </a:lnTo>
                    <a:lnTo>
                      <a:pt x="50" y="88"/>
                    </a:lnTo>
                    <a:lnTo>
                      <a:pt x="50" y="86"/>
                    </a:lnTo>
                    <a:lnTo>
                      <a:pt x="50" y="84"/>
                    </a:lnTo>
                    <a:lnTo>
                      <a:pt x="50" y="79"/>
                    </a:lnTo>
                    <a:lnTo>
                      <a:pt x="50" y="75"/>
                    </a:lnTo>
                    <a:lnTo>
                      <a:pt x="50" y="75"/>
                    </a:lnTo>
                    <a:lnTo>
                      <a:pt x="50" y="69"/>
                    </a:lnTo>
                    <a:lnTo>
                      <a:pt x="48" y="63"/>
                    </a:lnTo>
                    <a:lnTo>
                      <a:pt x="50" y="56"/>
                    </a:lnTo>
                    <a:lnTo>
                      <a:pt x="50" y="50"/>
                    </a:lnTo>
                    <a:lnTo>
                      <a:pt x="52" y="44"/>
                    </a:lnTo>
                    <a:lnTo>
                      <a:pt x="54" y="38"/>
                    </a:lnTo>
                    <a:lnTo>
                      <a:pt x="56" y="31"/>
                    </a:lnTo>
                    <a:lnTo>
                      <a:pt x="60" y="23"/>
                    </a:lnTo>
                    <a:lnTo>
                      <a:pt x="60" y="23"/>
                    </a:lnTo>
                    <a:lnTo>
                      <a:pt x="62" y="23"/>
                    </a:lnTo>
                    <a:lnTo>
                      <a:pt x="65" y="23"/>
                    </a:lnTo>
                    <a:lnTo>
                      <a:pt x="65" y="23"/>
                    </a:lnTo>
                    <a:lnTo>
                      <a:pt x="65" y="25"/>
                    </a:lnTo>
                    <a:lnTo>
                      <a:pt x="67" y="27"/>
                    </a:lnTo>
                    <a:lnTo>
                      <a:pt x="69" y="31"/>
                    </a:lnTo>
                    <a:lnTo>
                      <a:pt x="71" y="36"/>
                    </a:lnTo>
                    <a:lnTo>
                      <a:pt x="71" y="38"/>
                    </a:lnTo>
                    <a:lnTo>
                      <a:pt x="71" y="40"/>
                    </a:lnTo>
                    <a:lnTo>
                      <a:pt x="71" y="40"/>
                    </a:lnTo>
                    <a:lnTo>
                      <a:pt x="71" y="40"/>
                    </a:lnTo>
                    <a:lnTo>
                      <a:pt x="71" y="40"/>
                    </a:lnTo>
                    <a:lnTo>
                      <a:pt x="73" y="42"/>
                    </a:lnTo>
                    <a:lnTo>
                      <a:pt x="73" y="42"/>
                    </a:lnTo>
                    <a:lnTo>
                      <a:pt x="73" y="36"/>
                    </a:lnTo>
                    <a:lnTo>
                      <a:pt x="75" y="29"/>
                    </a:lnTo>
                    <a:lnTo>
                      <a:pt x="75" y="25"/>
                    </a:lnTo>
                    <a:lnTo>
                      <a:pt x="75" y="23"/>
                    </a:lnTo>
                    <a:lnTo>
                      <a:pt x="73" y="21"/>
                    </a:lnTo>
                    <a:lnTo>
                      <a:pt x="73" y="17"/>
                    </a:lnTo>
                    <a:lnTo>
                      <a:pt x="73" y="17"/>
                    </a:lnTo>
                    <a:lnTo>
                      <a:pt x="71" y="17"/>
                    </a:lnTo>
                    <a:lnTo>
                      <a:pt x="71" y="15"/>
                    </a:lnTo>
                    <a:lnTo>
                      <a:pt x="67" y="15"/>
                    </a:lnTo>
                    <a:lnTo>
                      <a:pt x="67" y="15"/>
                    </a:lnTo>
                    <a:lnTo>
                      <a:pt x="65" y="13"/>
                    </a:lnTo>
                    <a:lnTo>
                      <a:pt x="62" y="13"/>
                    </a:lnTo>
                    <a:lnTo>
                      <a:pt x="60" y="13"/>
                    </a:lnTo>
                    <a:lnTo>
                      <a:pt x="58" y="13"/>
                    </a:lnTo>
                    <a:lnTo>
                      <a:pt x="58" y="15"/>
                    </a:lnTo>
                    <a:lnTo>
                      <a:pt x="56" y="15"/>
                    </a:lnTo>
                    <a:lnTo>
                      <a:pt x="54" y="17"/>
                    </a:lnTo>
                    <a:lnTo>
                      <a:pt x="50" y="21"/>
                    </a:lnTo>
                    <a:lnTo>
                      <a:pt x="50" y="25"/>
                    </a:lnTo>
                    <a:lnTo>
                      <a:pt x="46" y="34"/>
                    </a:lnTo>
                    <a:lnTo>
                      <a:pt x="46" y="34"/>
                    </a:lnTo>
                    <a:lnTo>
                      <a:pt x="42" y="50"/>
                    </a:lnTo>
                    <a:lnTo>
                      <a:pt x="42" y="50"/>
                    </a:lnTo>
                    <a:lnTo>
                      <a:pt x="42" y="54"/>
                    </a:lnTo>
                    <a:lnTo>
                      <a:pt x="42" y="56"/>
                    </a:lnTo>
                    <a:lnTo>
                      <a:pt x="42" y="63"/>
                    </a:lnTo>
                    <a:lnTo>
                      <a:pt x="42" y="71"/>
                    </a:lnTo>
                    <a:lnTo>
                      <a:pt x="42" y="73"/>
                    </a:lnTo>
                    <a:lnTo>
                      <a:pt x="42" y="77"/>
                    </a:lnTo>
                    <a:lnTo>
                      <a:pt x="42" y="77"/>
                    </a:lnTo>
                    <a:lnTo>
                      <a:pt x="42" y="77"/>
                    </a:lnTo>
                    <a:close/>
                    <a:moveTo>
                      <a:pt x="42" y="96"/>
                    </a:moveTo>
                    <a:lnTo>
                      <a:pt x="42" y="96"/>
                    </a:lnTo>
                    <a:lnTo>
                      <a:pt x="42" y="98"/>
                    </a:lnTo>
                    <a:lnTo>
                      <a:pt x="42" y="98"/>
                    </a:lnTo>
                    <a:lnTo>
                      <a:pt x="42" y="106"/>
                    </a:lnTo>
                    <a:lnTo>
                      <a:pt x="42" y="106"/>
                    </a:lnTo>
                    <a:lnTo>
                      <a:pt x="46" y="111"/>
                    </a:lnTo>
                    <a:lnTo>
                      <a:pt x="46" y="111"/>
                    </a:lnTo>
                    <a:lnTo>
                      <a:pt x="50" y="115"/>
                    </a:lnTo>
                    <a:lnTo>
                      <a:pt x="52" y="117"/>
                    </a:lnTo>
                    <a:lnTo>
                      <a:pt x="54" y="119"/>
                    </a:lnTo>
                    <a:lnTo>
                      <a:pt x="58" y="121"/>
                    </a:lnTo>
                    <a:lnTo>
                      <a:pt x="60" y="121"/>
                    </a:lnTo>
                    <a:lnTo>
                      <a:pt x="60" y="121"/>
                    </a:lnTo>
                    <a:lnTo>
                      <a:pt x="62" y="121"/>
                    </a:lnTo>
                    <a:lnTo>
                      <a:pt x="62" y="119"/>
                    </a:lnTo>
                    <a:lnTo>
                      <a:pt x="65" y="117"/>
                    </a:lnTo>
                    <a:lnTo>
                      <a:pt x="65" y="115"/>
                    </a:lnTo>
                    <a:lnTo>
                      <a:pt x="67" y="113"/>
                    </a:lnTo>
                    <a:lnTo>
                      <a:pt x="67" y="109"/>
                    </a:lnTo>
                    <a:lnTo>
                      <a:pt x="67" y="109"/>
                    </a:lnTo>
                    <a:lnTo>
                      <a:pt x="60" y="106"/>
                    </a:lnTo>
                    <a:lnTo>
                      <a:pt x="54" y="102"/>
                    </a:lnTo>
                    <a:lnTo>
                      <a:pt x="50" y="98"/>
                    </a:lnTo>
                    <a:lnTo>
                      <a:pt x="44" y="96"/>
                    </a:lnTo>
                    <a:lnTo>
                      <a:pt x="44" y="96"/>
                    </a:lnTo>
                    <a:lnTo>
                      <a:pt x="42" y="96"/>
                    </a:lnTo>
                    <a:lnTo>
                      <a:pt x="42" y="96"/>
                    </a:lnTo>
                    <a:lnTo>
                      <a:pt x="42" y="96"/>
                    </a:lnTo>
                    <a:close/>
                    <a:moveTo>
                      <a:pt x="116" y="79"/>
                    </a:moveTo>
                    <a:lnTo>
                      <a:pt x="116" y="79"/>
                    </a:lnTo>
                    <a:lnTo>
                      <a:pt x="119" y="81"/>
                    </a:lnTo>
                    <a:lnTo>
                      <a:pt x="121" y="86"/>
                    </a:lnTo>
                    <a:lnTo>
                      <a:pt x="123" y="90"/>
                    </a:lnTo>
                    <a:lnTo>
                      <a:pt x="125" y="94"/>
                    </a:lnTo>
                    <a:lnTo>
                      <a:pt x="125" y="98"/>
                    </a:lnTo>
                    <a:lnTo>
                      <a:pt x="125" y="102"/>
                    </a:lnTo>
                    <a:lnTo>
                      <a:pt x="125" y="104"/>
                    </a:lnTo>
                    <a:lnTo>
                      <a:pt x="125" y="106"/>
                    </a:lnTo>
                    <a:lnTo>
                      <a:pt x="123" y="109"/>
                    </a:lnTo>
                    <a:lnTo>
                      <a:pt x="121" y="111"/>
                    </a:lnTo>
                    <a:lnTo>
                      <a:pt x="121" y="111"/>
                    </a:lnTo>
                    <a:lnTo>
                      <a:pt x="121" y="111"/>
                    </a:lnTo>
                    <a:lnTo>
                      <a:pt x="121" y="111"/>
                    </a:lnTo>
                    <a:lnTo>
                      <a:pt x="119" y="113"/>
                    </a:lnTo>
                    <a:lnTo>
                      <a:pt x="119" y="113"/>
                    </a:lnTo>
                    <a:lnTo>
                      <a:pt x="112" y="111"/>
                    </a:lnTo>
                    <a:lnTo>
                      <a:pt x="112" y="111"/>
                    </a:lnTo>
                    <a:lnTo>
                      <a:pt x="112" y="109"/>
                    </a:lnTo>
                    <a:lnTo>
                      <a:pt x="112" y="109"/>
                    </a:lnTo>
                    <a:lnTo>
                      <a:pt x="116" y="109"/>
                    </a:lnTo>
                    <a:lnTo>
                      <a:pt x="119" y="106"/>
                    </a:lnTo>
                    <a:lnTo>
                      <a:pt x="119" y="106"/>
                    </a:lnTo>
                    <a:lnTo>
                      <a:pt x="116" y="102"/>
                    </a:lnTo>
                    <a:lnTo>
                      <a:pt x="116" y="96"/>
                    </a:lnTo>
                    <a:lnTo>
                      <a:pt x="114" y="92"/>
                    </a:lnTo>
                    <a:lnTo>
                      <a:pt x="114" y="88"/>
                    </a:lnTo>
                    <a:lnTo>
                      <a:pt x="114" y="88"/>
                    </a:lnTo>
                    <a:lnTo>
                      <a:pt x="110" y="86"/>
                    </a:lnTo>
                    <a:lnTo>
                      <a:pt x="106" y="81"/>
                    </a:lnTo>
                    <a:lnTo>
                      <a:pt x="104" y="79"/>
                    </a:lnTo>
                    <a:lnTo>
                      <a:pt x="100" y="79"/>
                    </a:lnTo>
                    <a:lnTo>
                      <a:pt x="100" y="79"/>
                    </a:lnTo>
                    <a:lnTo>
                      <a:pt x="100" y="79"/>
                    </a:lnTo>
                    <a:lnTo>
                      <a:pt x="100" y="79"/>
                    </a:lnTo>
                    <a:lnTo>
                      <a:pt x="96" y="98"/>
                    </a:lnTo>
                    <a:lnTo>
                      <a:pt x="89" y="115"/>
                    </a:lnTo>
                    <a:lnTo>
                      <a:pt x="89" y="115"/>
                    </a:lnTo>
                    <a:lnTo>
                      <a:pt x="87" y="117"/>
                    </a:lnTo>
                    <a:lnTo>
                      <a:pt x="87" y="117"/>
                    </a:lnTo>
                    <a:lnTo>
                      <a:pt x="85" y="117"/>
                    </a:lnTo>
                    <a:lnTo>
                      <a:pt x="85" y="117"/>
                    </a:lnTo>
                    <a:lnTo>
                      <a:pt x="83" y="117"/>
                    </a:lnTo>
                    <a:lnTo>
                      <a:pt x="83" y="117"/>
                    </a:lnTo>
                    <a:lnTo>
                      <a:pt x="85" y="115"/>
                    </a:lnTo>
                    <a:lnTo>
                      <a:pt x="85" y="113"/>
                    </a:lnTo>
                    <a:lnTo>
                      <a:pt x="85" y="111"/>
                    </a:lnTo>
                    <a:lnTo>
                      <a:pt x="83" y="109"/>
                    </a:lnTo>
                    <a:lnTo>
                      <a:pt x="83" y="109"/>
                    </a:lnTo>
                    <a:lnTo>
                      <a:pt x="85" y="100"/>
                    </a:lnTo>
                    <a:lnTo>
                      <a:pt x="85" y="92"/>
                    </a:lnTo>
                    <a:lnTo>
                      <a:pt x="87" y="86"/>
                    </a:lnTo>
                    <a:lnTo>
                      <a:pt x="89" y="77"/>
                    </a:lnTo>
                    <a:lnTo>
                      <a:pt x="89" y="77"/>
                    </a:lnTo>
                    <a:lnTo>
                      <a:pt x="89" y="75"/>
                    </a:lnTo>
                    <a:lnTo>
                      <a:pt x="89" y="75"/>
                    </a:lnTo>
                    <a:lnTo>
                      <a:pt x="87" y="75"/>
                    </a:lnTo>
                    <a:lnTo>
                      <a:pt x="85" y="75"/>
                    </a:lnTo>
                    <a:lnTo>
                      <a:pt x="83" y="75"/>
                    </a:lnTo>
                    <a:lnTo>
                      <a:pt x="81" y="75"/>
                    </a:lnTo>
                    <a:lnTo>
                      <a:pt x="79" y="75"/>
                    </a:lnTo>
                    <a:lnTo>
                      <a:pt x="77" y="73"/>
                    </a:lnTo>
                    <a:lnTo>
                      <a:pt x="77" y="73"/>
                    </a:lnTo>
                    <a:lnTo>
                      <a:pt x="75" y="69"/>
                    </a:lnTo>
                    <a:lnTo>
                      <a:pt x="73" y="67"/>
                    </a:lnTo>
                    <a:lnTo>
                      <a:pt x="71" y="65"/>
                    </a:lnTo>
                    <a:lnTo>
                      <a:pt x="71" y="65"/>
                    </a:lnTo>
                    <a:lnTo>
                      <a:pt x="71" y="65"/>
                    </a:lnTo>
                    <a:lnTo>
                      <a:pt x="71" y="65"/>
                    </a:lnTo>
                    <a:lnTo>
                      <a:pt x="69" y="67"/>
                    </a:lnTo>
                    <a:lnTo>
                      <a:pt x="67" y="67"/>
                    </a:lnTo>
                    <a:lnTo>
                      <a:pt x="65" y="67"/>
                    </a:lnTo>
                    <a:lnTo>
                      <a:pt x="62" y="67"/>
                    </a:lnTo>
                    <a:lnTo>
                      <a:pt x="62" y="67"/>
                    </a:lnTo>
                    <a:lnTo>
                      <a:pt x="60" y="65"/>
                    </a:lnTo>
                    <a:lnTo>
                      <a:pt x="60" y="63"/>
                    </a:lnTo>
                    <a:lnTo>
                      <a:pt x="62" y="61"/>
                    </a:lnTo>
                    <a:lnTo>
                      <a:pt x="62" y="56"/>
                    </a:lnTo>
                    <a:lnTo>
                      <a:pt x="62" y="54"/>
                    </a:lnTo>
                    <a:lnTo>
                      <a:pt x="65" y="52"/>
                    </a:lnTo>
                    <a:lnTo>
                      <a:pt x="65" y="50"/>
                    </a:lnTo>
                    <a:lnTo>
                      <a:pt x="67" y="48"/>
                    </a:lnTo>
                    <a:lnTo>
                      <a:pt x="67" y="48"/>
                    </a:lnTo>
                    <a:lnTo>
                      <a:pt x="69" y="46"/>
                    </a:lnTo>
                    <a:lnTo>
                      <a:pt x="71" y="46"/>
                    </a:lnTo>
                    <a:lnTo>
                      <a:pt x="73" y="46"/>
                    </a:lnTo>
                    <a:lnTo>
                      <a:pt x="75" y="46"/>
                    </a:lnTo>
                    <a:lnTo>
                      <a:pt x="75" y="46"/>
                    </a:lnTo>
                    <a:lnTo>
                      <a:pt x="75" y="50"/>
                    </a:lnTo>
                    <a:lnTo>
                      <a:pt x="75" y="50"/>
                    </a:lnTo>
                    <a:lnTo>
                      <a:pt x="77" y="52"/>
                    </a:lnTo>
                    <a:lnTo>
                      <a:pt x="79" y="54"/>
                    </a:lnTo>
                    <a:lnTo>
                      <a:pt x="79" y="54"/>
                    </a:lnTo>
                    <a:lnTo>
                      <a:pt x="81" y="59"/>
                    </a:lnTo>
                    <a:lnTo>
                      <a:pt x="81" y="61"/>
                    </a:lnTo>
                    <a:lnTo>
                      <a:pt x="83" y="63"/>
                    </a:lnTo>
                    <a:lnTo>
                      <a:pt x="83" y="63"/>
                    </a:lnTo>
                    <a:lnTo>
                      <a:pt x="85" y="65"/>
                    </a:lnTo>
                    <a:lnTo>
                      <a:pt x="89" y="65"/>
                    </a:lnTo>
                    <a:lnTo>
                      <a:pt x="92" y="65"/>
                    </a:lnTo>
                    <a:lnTo>
                      <a:pt x="92" y="65"/>
                    </a:lnTo>
                    <a:lnTo>
                      <a:pt x="96" y="56"/>
                    </a:lnTo>
                    <a:lnTo>
                      <a:pt x="98" y="50"/>
                    </a:lnTo>
                    <a:lnTo>
                      <a:pt x="100" y="46"/>
                    </a:lnTo>
                    <a:lnTo>
                      <a:pt x="102" y="42"/>
                    </a:lnTo>
                    <a:lnTo>
                      <a:pt x="106" y="40"/>
                    </a:lnTo>
                    <a:lnTo>
                      <a:pt x="106" y="40"/>
                    </a:lnTo>
                    <a:lnTo>
                      <a:pt x="108" y="40"/>
                    </a:lnTo>
                    <a:lnTo>
                      <a:pt x="108" y="40"/>
                    </a:lnTo>
                    <a:lnTo>
                      <a:pt x="112" y="42"/>
                    </a:lnTo>
                    <a:lnTo>
                      <a:pt x="112" y="42"/>
                    </a:lnTo>
                    <a:lnTo>
                      <a:pt x="114" y="46"/>
                    </a:lnTo>
                    <a:lnTo>
                      <a:pt x="114" y="46"/>
                    </a:lnTo>
                    <a:lnTo>
                      <a:pt x="110" y="56"/>
                    </a:lnTo>
                    <a:lnTo>
                      <a:pt x="106" y="63"/>
                    </a:lnTo>
                    <a:lnTo>
                      <a:pt x="104" y="67"/>
                    </a:lnTo>
                    <a:lnTo>
                      <a:pt x="104" y="67"/>
                    </a:lnTo>
                    <a:lnTo>
                      <a:pt x="106" y="69"/>
                    </a:lnTo>
                    <a:lnTo>
                      <a:pt x="106" y="71"/>
                    </a:lnTo>
                    <a:lnTo>
                      <a:pt x="110" y="73"/>
                    </a:lnTo>
                    <a:lnTo>
                      <a:pt x="112" y="77"/>
                    </a:lnTo>
                    <a:lnTo>
                      <a:pt x="116" y="79"/>
                    </a:lnTo>
                    <a:lnTo>
                      <a:pt x="116" y="7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3" name="îṩḷíḋê">
                <a:extLst>
                  <a:ext uri="{FF2B5EF4-FFF2-40B4-BE49-F238E27FC236}">
                    <a16:creationId xmlns:a16="http://schemas.microsoft.com/office/drawing/2014/main" id="{0B0D58F6-85CE-FC0B-8A9D-14335C26E542}"/>
                  </a:ext>
                </a:extLst>
              </p:cNvPr>
              <p:cNvSpPr/>
              <p:nvPr/>
            </p:nvSpPr>
            <p:spPr bwMode="auto">
              <a:xfrm>
                <a:off x="2133601" y="3805238"/>
                <a:ext cx="220663" cy="184150"/>
              </a:xfrm>
              <a:custGeom>
                <a:avLst/>
                <a:gdLst>
                  <a:gd name="T0" fmla="*/ 67 w 139"/>
                  <a:gd name="T1" fmla="*/ 62 h 116"/>
                  <a:gd name="T2" fmla="*/ 65 w 139"/>
                  <a:gd name="T3" fmla="*/ 66 h 116"/>
                  <a:gd name="T4" fmla="*/ 63 w 139"/>
                  <a:gd name="T5" fmla="*/ 79 h 116"/>
                  <a:gd name="T6" fmla="*/ 63 w 139"/>
                  <a:gd name="T7" fmla="*/ 112 h 116"/>
                  <a:gd name="T8" fmla="*/ 58 w 139"/>
                  <a:gd name="T9" fmla="*/ 116 h 116"/>
                  <a:gd name="T10" fmla="*/ 46 w 139"/>
                  <a:gd name="T11" fmla="*/ 100 h 116"/>
                  <a:gd name="T12" fmla="*/ 46 w 139"/>
                  <a:gd name="T13" fmla="*/ 95 h 116"/>
                  <a:gd name="T14" fmla="*/ 52 w 139"/>
                  <a:gd name="T15" fmla="*/ 72 h 116"/>
                  <a:gd name="T16" fmla="*/ 60 w 139"/>
                  <a:gd name="T17" fmla="*/ 47 h 116"/>
                  <a:gd name="T18" fmla="*/ 56 w 139"/>
                  <a:gd name="T19" fmla="*/ 45 h 116"/>
                  <a:gd name="T20" fmla="*/ 33 w 139"/>
                  <a:gd name="T21" fmla="*/ 47 h 116"/>
                  <a:gd name="T22" fmla="*/ 25 w 139"/>
                  <a:gd name="T23" fmla="*/ 47 h 116"/>
                  <a:gd name="T24" fmla="*/ 17 w 139"/>
                  <a:gd name="T25" fmla="*/ 45 h 116"/>
                  <a:gd name="T26" fmla="*/ 11 w 139"/>
                  <a:gd name="T27" fmla="*/ 43 h 116"/>
                  <a:gd name="T28" fmla="*/ 4 w 139"/>
                  <a:gd name="T29" fmla="*/ 39 h 116"/>
                  <a:gd name="T30" fmla="*/ 0 w 139"/>
                  <a:gd name="T31" fmla="*/ 33 h 116"/>
                  <a:gd name="T32" fmla="*/ 2 w 139"/>
                  <a:gd name="T33" fmla="*/ 35 h 116"/>
                  <a:gd name="T34" fmla="*/ 15 w 139"/>
                  <a:gd name="T35" fmla="*/ 39 h 116"/>
                  <a:gd name="T36" fmla="*/ 25 w 139"/>
                  <a:gd name="T37" fmla="*/ 39 h 116"/>
                  <a:gd name="T38" fmla="*/ 48 w 139"/>
                  <a:gd name="T39" fmla="*/ 37 h 116"/>
                  <a:gd name="T40" fmla="*/ 63 w 139"/>
                  <a:gd name="T41" fmla="*/ 33 h 116"/>
                  <a:gd name="T42" fmla="*/ 69 w 139"/>
                  <a:gd name="T43" fmla="*/ 27 h 116"/>
                  <a:gd name="T44" fmla="*/ 67 w 139"/>
                  <a:gd name="T45" fmla="*/ 25 h 116"/>
                  <a:gd name="T46" fmla="*/ 56 w 139"/>
                  <a:gd name="T47" fmla="*/ 14 h 116"/>
                  <a:gd name="T48" fmla="*/ 58 w 139"/>
                  <a:gd name="T49" fmla="*/ 4 h 116"/>
                  <a:gd name="T50" fmla="*/ 69 w 139"/>
                  <a:gd name="T51" fmla="*/ 6 h 116"/>
                  <a:gd name="T52" fmla="*/ 73 w 139"/>
                  <a:gd name="T53" fmla="*/ 8 h 116"/>
                  <a:gd name="T54" fmla="*/ 85 w 139"/>
                  <a:gd name="T55" fmla="*/ 16 h 116"/>
                  <a:gd name="T56" fmla="*/ 94 w 139"/>
                  <a:gd name="T57" fmla="*/ 20 h 116"/>
                  <a:gd name="T58" fmla="*/ 98 w 139"/>
                  <a:gd name="T59" fmla="*/ 18 h 116"/>
                  <a:gd name="T60" fmla="*/ 112 w 139"/>
                  <a:gd name="T61" fmla="*/ 10 h 116"/>
                  <a:gd name="T62" fmla="*/ 127 w 139"/>
                  <a:gd name="T63" fmla="*/ 2 h 116"/>
                  <a:gd name="T64" fmla="*/ 133 w 139"/>
                  <a:gd name="T65" fmla="*/ 0 h 116"/>
                  <a:gd name="T66" fmla="*/ 139 w 139"/>
                  <a:gd name="T67" fmla="*/ 10 h 116"/>
                  <a:gd name="T68" fmla="*/ 133 w 139"/>
                  <a:gd name="T69" fmla="*/ 16 h 116"/>
                  <a:gd name="T70" fmla="*/ 112 w 139"/>
                  <a:gd name="T71" fmla="*/ 27 h 116"/>
                  <a:gd name="T72" fmla="*/ 110 w 139"/>
                  <a:gd name="T73" fmla="*/ 31 h 116"/>
                  <a:gd name="T74" fmla="*/ 117 w 139"/>
                  <a:gd name="T75" fmla="*/ 39 h 116"/>
                  <a:gd name="T76" fmla="*/ 121 w 139"/>
                  <a:gd name="T77" fmla="*/ 45 h 116"/>
                  <a:gd name="T78" fmla="*/ 121 w 139"/>
                  <a:gd name="T79" fmla="*/ 50 h 116"/>
                  <a:gd name="T80" fmla="*/ 117 w 139"/>
                  <a:gd name="T81" fmla="*/ 52 h 116"/>
                  <a:gd name="T82" fmla="*/ 106 w 139"/>
                  <a:gd name="T83" fmla="*/ 47 h 116"/>
                  <a:gd name="T84" fmla="*/ 90 w 139"/>
                  <a:gd name="T85" fmla="*/ 37 h 116"/>
                  <a:gd name="T86" fmla="*/ 83 w 139"/>
                  <a:gd name="T87" fmla="*/ 39 h 116"/>
                  <a:gd name="T88" fmla="*/ 69 w 139"/>
                  <a:gd name="T89" fmla="*/ 43 h 116"/>
                  <a:gd name="T90" fmla="*/ 67 w 139"/>
                  <a:gd name="T91" fmla="*/ 47 h 116"/>
                  <a:gd name="T92" fmla="*/ 71 w 139"/>
                  <a:gd name="T93" fmla="*/ 52 h 116"/>
                  <a:gd name="T94" fmla="*/ 69 w 139"/>
                  <a:gd name="T95" fmla="*/ 56 h 116"/>
                  <a:gd name="T96" fmla="*/ 67 w 139"/>
                  <a:gd name="T97" fmla="*/ 6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39" h="116">
                    <a:moveTo>
                      <a:pt x="67" y="60"/>
                    </a:moveTo>
                    <a:lnTo>
                      <a:pt x="67" y="60"/>
                    </a:lnTo>
                    <a:lnTo>
                      <a:pt x="67" y="62"/>
                    </a:lnTo>
                    <a:lnTo>
                      <a:pt x="67" y="62"/>
                    </a:lnTo>
                    <a:lnTo>
                      <a:pt x="65" y="64"/>
                    </a:lnTo>
                    <a:lnTo>
                      <a:pt x="65" y="66"/>
                    </a:lnTo>
                    <a:lnTo>
                      <a:pt x="63" y="68"/>
                    </a:lnTo>
                    <a:lnTo>
                      <a:pt x="63" y="72"/>
                    </a:lnTo>
                    <a:lnTo>
                      <a:pt x="63" y="79"/>
                    </a:lnTo>
                    <a:lnTo>
                      <a:pt x="63" y="87"/>
                    </a:lnTo>
                    <a:lnTo>
                      <a:pt x="63" y="100"/>
                    </a:lnTo>
                    <a:lnTo>
                      <a:pt x="63" y="112"/>
                    </a:lnTo>
                    <a:lnTo>
                      <a:pt x="63" y="112"/>
                    </a:lnTo>
                    <a:lnTo>
                      <a:pt x="58" y="116"/>
                    </a:lnTo>
                    <a:lnTo>
                      <a:pt x="58" y="116"/>
                    </a:lnTo>
                    <a:lnTo>
                      <a:pt x="52" y="108"/>
                    </a:lnTo>
                    <a:lnTo>
                      <a:pt x="48" y="104"/>
                    </a:lnTo>
                    <a:lnTo>
                      <a:pt x="46" y="100"/>
                    </a:lnTo>
                    <a:lnTo>
                      <a:pt x="46" y="100"/>
                    </a:lnTo>
                    <a:lnTo>
                      <a:pt x="46" y="97"/>
                    </a:lnTo>
                    <a:lnTo>
                      <a:pt x="46" y="95"/>
                    </a:lnTo>
                    <a:lnTo>
                      <a:pt x="48" y="89"/>
                    </a:lnTo>
                    <a:lnTo>
                      <a:pt x="50" y="81"/>
                    </a:lnTo>
                    <a:lnTo>
                      <a:pt x="52" y="72"/>
                    </a:lnTo>
                    <a:lnTo>
                      <a:pt x="56" y="58"/>
                    </a:lnTo>
                    <a:lnTo>
                      <a:pt x="60" y="47"/>
                    </a:lnTo>
                    <a:lnTo>
                      <a:pt x="60" y="47"/>
                    </a:lnTo>
                    <a:lnTo>
                      <a:pt x="60" y="45"/>
                    </a:lnTo>
                    <a:lnTo>
                      <a:pt x="60" y="45"/>
                    </a:lnTo>
                    <a:lnTo>
                      <a:pt x="56" y="45"/>
                    </a:lnTo>
                    <a:lnTo>
                      <a:pt x="52" y="47"/>
                    </a:lnTo>
                    <a:lnTo>
                      <a:pt x="42" y="47"/>
                    </a:lnTo>
                    <a:lnTo>
                      <a:pt x="33" y="47"/>
                    </a:lnTo>
                    <a:lnTo>
                      <a:pt x="29" y="50"/>
                    </a:lnTo>
                    <a:lnTo>
                      <a:pt x="25" y="47"/>
                    </a:lnTo>
                    <a:lnTo>
                      <a:pt x="25" y="47"/>
                    </a:lnTo>
                    <a:lnTo>
                      <a:pt x="23" y="47"/>
                    </a:lnTo>
                    <a:lnTo>
                      <a:pt x="21" y="47"/>
                    </a:lnTo>
                    <a:lnTo>
                      <a:pt x="17" y="45"/>
                    </a:lnTo>
                    <a:lnTo>
                      <a:pt x="15" y="43"/>
                    </a:lnTo>
                    <a:lnTo>
                      <a:pt x="11" y="43"/>
                    </a:lnTo>
                    <a:lnTo>
                      <a:pt x="11" y="43"/>
                    </a:lnTo>
                    <a:lnTo>
                      <a:pt x="9" y="41"/>
                    </a:lnTo>
                    <a:lnTo>
                      <a:pt x="4" y="39"/>
                    </a:lnTo>
                    <a:lnTo>
                      <a:pt x="4" y="39"/>
                    </a:lnTo>
                    <a:lnTo>
                      <a:pt x="2" y="37"/>
                    </a:lnTo>
                    <a:lnTo>
                      <a:pt x="0" y="37"/>
                    </a:lnTo>
                    <a:lnTo>
                      <a:pt x="0" y="33"/>
                    </a:lnTo>
                    <a:lnTo>
                      <a:pt x="0" y="33"/>
                    </a:lnTo>
                    <a:lnTo>
                      <a:pt x="0" y="33"/>
                    </a:lnTo>
                    <a:lnTo>
                      <a:pt x="2" y="35"/>
                    </a:lnTo>
                    <a:lnTo>
                      <a:pt x="6" y="35"/>
                    </a:lnTo>
                    <a:lnTo>
                      <a:pt x="11" y="37"/>
                    </a:lnTo>
                    <a:lnTo>
                      <a:pt x="15" y="39"/>
                    </a:lnTo>
                    <a:lnTo>
                      <a:pt x="15" y="39"/>
                    </a:lnTo>
                    <a:lnTo>
                      <a:pt x="19" y="39"/>
                    </a:lnTo>
                    <a:lnTo>
                      <a:pt x="25" y="39"/>
                    </a:lnTo>
                    <a:lnTo>
                      <a:pt x="31" y="39"/>
                    </a:lnTo>
                    <a:lnTo>
                      <a:pt x="36" y="39"/>
                    </a:lnTo>
                    <a:lnTo>
                      <a:pt x="48" y="37"/>
                    </a:lnTo>
                    <a:lnTo>
                      <a:pt x="58" y="33"/>
                    </a:lnTo>
                    <a:lnTo>
                      <a:pt x="58" y="33"/>
                    </a:lnTo>
                    <a:lnTo>
                      <a:pt x="63" y="33"/>
                    </a:lnTo>
                    <a:lnTo>
                      <a:pt x="67" y="31"/>
                    </a:lnTo>
                    <a:lnTo>
                      <a:pt x="69" y="29"/>
                    </a:lnTo>
                    <a:lnTo>
                      <a:pt x="69" y="27"/>
                    </a:lnTo>
                    <a:lnTo>
                      <a:pt x="71" y="27"/>
                    </a:lnTo>
                    <a:lnTo>
                      <a:pt x="71" y="27"/>
                    </a:lnTo>
                    <a:lnTo>
                      <a:pt x="67" y="25"/>
                    </a:lnTo>
                    <a:lnTo>
                      <a:pt x="63" y="22"/>
                    </a:lnTo>
                    <a:lnTo>
                      <a:pt x="60" y="18"/>
                    </a:lnTo>
                    <a:lnTo>
                      <a:pt x="56" y="14"/>
                    </a:lnTo>
                    <a:lnTo>
                      <a:pt x="56" y="14"/>
                    </a:lnTo>
                    <a:lnTo>
                      <a:pt x="58" y="10"/>
                    </a:lnTo>
                    <a:lnTo>
                      <a:pt x="58" y="4"/>
                    </a:lnTo>
                    <a:lnTo>
                      <a:pt x="58" y="4"/>
                    </a:lnTo>
                    <a:lnTo>
                      <a:pt x="65" y="6"/>
                    </a:lnTo>
                    <a:lnTo>
                      <a:pt x="69" y="6"/>
                    </a:lnTo>
                    <a:lnTo>
                      <a:pt x="71" y="6"/>
                    </a:lnTo>
                    <a:lnTo>
                      <a:pt x="71" y="6"/>
                    </a:lnTo>
                    <a:lnTo>
                      <a:pt x="73" y="8"/>
                    </a:lnTo>
                    <a:lnTo>
                      <a:pt x="77" y="10"/>
                    </a:lnTo>
                    <a:lnTo>
                      <a:pt x="81" y="14"/>
                    </a:lnTo>
                    <a:lnTo>
                      <a:pt x="85" y="16"/>
                    </a:lnTo>
                    <a:lnTo>
                      <a:pt x="90" y="18"/>
                    </a:lnTo>
                    <a:lnTo>
                      <a:pt x="92" y="20"/>
                    </a:lnTo>
                    <a:lnTo>
                      <a:pt x="94" y="20"/>
                    </a:lnTo>
                    <a:lnTo>
                      <a:pt x="94" y="20"/>
                    </a:lnTo>
                    <a:lnTo>
                      <a:pt x="96" y="20"/>
                    </a:lnTo>
                    <a:lnTo>
                      <a:pt x="98" y="18"/>
                    </a:lnTo>
                    <a:lnTo>
                      <a:pt x="104" y="16"/>
                    </a:lnTo>
                    <a:lnTo>
                      <a:pt x="108" y="14"/>
                    </a:lnTo>
                    <a:lnTo>
                      <a:pt x="112" y="10"/>
                    </a:lnTo>
                    <a:lnTo>
                      <a:pt x="119" y="8"/>
                    </a:lnTo>
                    <a:lnTo>
                      <a:pt x="123" y="4"/>
                    </a:lnTo>
                    <a:lnTo>
                      <a:pt x="127" y="2"/>
                    </a:lnTo>
                    <a:lnTo>
                      <a:pt x="129" y="0"/>
                    </a:lnTo>
                    <a:lnTo>
                      <a:pt x="133" y="0"/>
                    </a:lnTo>
                    <a:lnTo>
                      <a:pt x="133" y="0"/>
                    </a:lnTo>
                    <a:lnTo>
                      <a:pt x="139" y="4"/>
                    </a:lnTo>
                    <a:lnTo>
                      <a:pt x="139" y="4"/>
                    </a:lnTo>
                    <a:lnTo>
                      <a:pt x="139" y="10"/>
                    </a:lnTo>
                    <a:lnTo>
                      <a:pt x="139" y="10"/>
                    </a:lnTo>
                    <a:lnTo>
                      <a:pt x="135" y="12"/>
                    </a:lnTo>
                    <a:lnTo>
                      <a:pt x="133" y="16"/>
                    </a:lnTo>
                    <a:lnTo>
                      <a:pt x="125" y="20"/>
                    </a:lnTo>
                    <a:lnTo>
                      <a:pt x="117" y="25"/>
                    </a:lnTo>
                    <a:lnTo>
                      <a:pt x="112" y="27"/>
                    </a:lnTo>
                    <a:lnTo>
                      <a:pt x="110" y="29"/>
                    </a:lnTo>
                    <a:lnTo>
                      <a:pt x="110" y="29"/>
                    </a:lnTo>
                    <a:lnTo>
                      <a:pt x="110" y="31"/>
                    </a:lnTo>
                    <a:lnTo>
                      <a:pt x="110" y="31"/>
                    </a:lnTo>
                    <a:lnTo>
                      <a:pt x="112" y="33"/>
                    </a:lnTo>
                    <a:lnTo>
                      <a:pt x="117" y="39"/>
                    </a:lnTo>
                    <a:lnTo>
                      <a:pt x="119" y="41"/>
                    </a:lnTo>
                    <a:lnTo>
                      <a:pt x="121" y="43"/>
                    </a:lnTo>
                    <a:lnTo>
                      <a:pt x="121" y="45"/>
                    </a:lnTo>
                    <a:lnTo>
                      <a:pt x="121" y="47"/>
                    </a:lnTo>
                    <a:lnTo>
                      <a:pt x="121" y="47"/>
                    </a:lnTo>
                    <a:lnTo>
                      <a:pt x="121" y="50"/>
                    </a:lnTo>
                    <a:lnTo>
                      <a:pt x="119" y="50"/>
                    </a:lnTo>
                    <a:lnTo>
                      <a:pt x="117" y="52"/>
                    </a:lnTo>
                    <a:lnTo>
                      <a:pt x="117" y="52"/>
                    </a:lnTo>
                    <a:lnTo>
                      <a:pt x="114" y="52"/>
                    </a:lnTo>
                    <a:lnTo>
                      <a:pt x="112" y="50"/>
                    </a:lnTo>
                    <a:lnTo>
                      <a:pt x="106" y="47"/>
                    </a:lnTo>
                    <a:lnTo>
                      <a:pt x="102" y="43"/>
                    </a:lnTo>
                    <a:lnTo>
                      <a:pt x="96" y="41"/>
                    </a:lnTo>
                    <a:lnTo>
                      <a:pt x="90" y="37"/>
                    </a:lnTo>
                    <a:lnTo>
                      <a:pt x="90" y="37"/>
                    </a:lnTo>
                    <a:lnTo>
                      <a:pt x="87" y="39"/>
                    </a:lnTo>
                    <a:lnTo>
                      <a:pt x="83" y="39"/>
                    </a:lnTo>
                    <a:lnTo>
                      <a:pt x="75" y="41"/>
                    </a:lnTo>
                    <a:lnTo>
                      <a:pt x="71" y="41"/>
                    </a:lnTo>
                    <a:lnTo>
                      <a:pt x="69" y="43"/>
                    </a:lnTo>
                    <a:lnTo>
                      <a:pt x="67" y="45"/>
                    </a:lnTo>
                    <a:lnTo>
                      <a:pt x="67" y="45"/>
                    </a:lnTo>
                    <a:lnTo>
                      <a:pt x="67" y="47"/>
                    </a:lnTo>
                    <a:lnTo>
                      <a:pt x="67" y="47"/>
                    </a:lnTo>
                    <a:lnTo>
                      <a:pt x="69" y="47"/>
                    </a:lnTo>
                    <a:lnTo>
                      <a:pt x="71" y="52"/>
                    </a:lnTo>
                    <a:lnTo>
                      <a:pt x="71" y="52"/>
                    </a:lnTo>
                    <a:lnTo>
                      <a:pt x="71" y="54"/>
                    </a:lnTo>
                    <a:lnTo>
                      <a:pt x="69" y="56"/>
                    </a:lnTo>
                    <a:lnTo>
                      <a:pt x="69" y="58"/>
                    </a:lnTo>
                    <a:lnTo>
                      <a:pt x="67" y="60"/>
                    </a:lnTo>
                    <a:lnTo>
                      <a:pt x="67" y="6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4" name="iŝľîḋé">
                <a:extLst>
                  <a:ext uri="{FF2B5EF4-FFF2-40B4-BE49-F238E27FC236}">
                    <a16:creationId xmlns:a16="http://schemas.microsoft.com/office/drawing/2014/main" id="{30776F19-A796-FC2D-B110-61BB8C20E113}"/>
                  </a:ext>
                </a:extLst>
              </p:cNvPr>
              <p:cNvSpPr/>
              <p:nvPr/>
            </p:nvSpPr>
            <p:spPr bwMode="auto">
              <a:xfrm>
                <a:off x="2354263" y="3924301"/>
                <a:ext cx="192088" cy="230188"/>
              </a:xfrm>
              <a:custGeom>
                <a:avLst/>
                <a:gdLst>
                  <a:gd name="T0" fmla="*/ 50 w 121"/>
                  <a:gd name="T1" fmla="*/ 93 h 145"/>
                  <a:gd name="T2" fmla="*/ 40 w 121"/>
                  <a:gd name="T3" fmla="*/ 89 h 145"/>
                  <a:gd name="T4" fmla="*/ 44 w 121"/>
                  <a:gd name="T5" fmla="*/ 87 h 145"/>
                  <a:gd name="T6" fmla="*/ 65 w 121"/>
                  <a:gd name="T7" fmla="*/ 85 h 145"/>
                  <a:gd name="T8" fmla="*/ 75 w 121"/>
                  <a:gd name="T9" fmla="*/ 68 h 145"/>
                  <a:gd name="T10" fmla="*/ 65 w 121"/>
                  <a:gd name="T11" fmla="*/ 70 h 145"/>
                  <a:gd name="T12" fmla="*/ 54 w 121"/>
                  <a:gd name="T13" fmla="*/ 66 h 145"/>
                  <a:gd name="T14" fmla="*/ 52 w 121"/>
                  <a:gd name="T15" fmla="*/ 62 h 145"/>
                  <a:gd name="T16" fmla="*/ 61 w 121"/>
                  <a:gd name="T17" fmla="*/ 47 h 145"/>
                  <a:gd name="T18" fmla="*/ 71 w 121"/>
                  <a:gd name="T19" fmla="*/ 35 h 145"/>
                  <a:gd name="T20" fmla="*/ 61 w 121"/>
                  <a:gd name="T21" fmla="*/ 31 h 145"/>
                  <a:gd name="T22" fmla="*/ 63 w 121"/>
                  <a:gd name="T23" fmla="*/ 22 h 145"/>
                  <a:gd name="T24" fmla="*/ 71 w 121"/>
                  <a:gd name="T25" fmla="*/ 18 h 145"/>
                  <a:gd name="T26" fmla="*/ 90 w 121"/>
                  <a:gd name="T27" fmla="*/ 16 h 145"/>
                  <a:gd name="T28" fmla="*/ 100 w 121"/>
                  <a:gd name="T29" fmla="*/ 0 h 145"/>
                  <a:gd name="T30" fmla="*/ 108 w 121"/>
                  <a:gd name="T31" fmla="*/ 4 h 145"/>
                  <a:gd name="T32" fmla="*/ 108 w 121"/>
                  <a:gd name="T33" fmla="*/ 14 h 145"/>
                  <a:gd name="T34" fmla="*/ 119 w 121"/>
                  <a:gd name="T35" fmla="*/ 20 h 145"/>
                  <a:gd name="T36" fmla="*/ 119 w 121"/>
                  <a:gd name="T37" fmla="*/ 29 h 145"/>
                  <a:gd name="T38" fmla="*/ 100 w 121"/>
                  <a:gd name="T39" fmla="*/ 31 h 145"/>
                  <a:gd name="T40" fmla="*/ 86 w 121"/>
                  <a:gd name="T41" fmla="*/ 37 h 145"/>
                  <a:gd name="T42" fmla="*/ 69 w 121"/>
                  <a:gd name="T43" fmla="*/ 56 h 145"/>
                  <a:gd name="T44" fmla="*/ 81 w 121"/>
                  <a:gd name="T45" fmla="*/ 54 h 145"/>
                  <a:gd name="T46" fmla="*/ 88 w 121"/>
                  <a:gd name="T47" fmla="*/ 43 h 145"/>
                  <a:gd name="T48" fmla="*/ 94 w 121"/>
                  <a:gd name="T49" fmla="*/ 50 h 145"/>
                  <a:gd name="T50" fmla="*/ 98 w 121"/>
                  <a:gd name="T51" fmla="*/ 58 h 145"/>
                  <a:gd name="T52" fmla="*/ 88 w 121"/>
                  <a:gd name="T53" fmla="*/ 64 h 145"/>
                  <a:gd name="T54" fmla="*/ 79 w 121"/>
                  <a:gd name="T55" fmla="*/ 77 h 145"/>
                  <a:gd name="T56" fmla="*/ 79 w 121"/>
                  <a:gd name="T57" fmla="*/ 83 h 145"/>
                  <a:gd name="T58" fmla="*/ 88 w 121"/>
                  <a:gd name="T59" fmla="*/ 87 h 145"/>
                  <a:gd name="T60" fmla="*/ 77 w 121"/>
                  <a:gd name="T61" fmla="*/ 93 h 145"/>
                  <a:gd name="T62" fmla="*/ 71 w 121"/>
                  <a:gd name="T63" fmla="*/ 106 h 145"/>
                  <a:gd name="T64" fmla="*/ 65 w 121"/>
                  <a:gd name="T65" fmla="*/ 118 h 145"/>
                  <a:gd name="T66" fmla="*/ 63 w 121"/>
                  <a:gd name="T67" fmla="*/ 120 h 145"/>
                  <a:gd name="T68" fmla="*/ 98 w 121"/>
                  <a:gd name="T69" fmla="*/ 139 h 145"/>
                  <a:gd name="T70" fmla="*/ 92 w 121"/>
                  <a:gd name="T71" fmla="*/ 145 h 145"/>
                  <a:gd name="T72" fmla="*/ 69 w 121"/>
                  <a:gd name="T73" fmla="*/ 141 h 145"/>
                  <a:gd name="T74" fmla="*/ 40 w 121"/>
                  <a:gd name="T75" fmla="*/ 116 h 145"/>
                  <a:gd name="T76" fmla="*/ 19 w 121"/>
                  <a:gd name="T77" fmla="*/ 104 h 145"/>
                  <a:gd name="T78" fmla="*/ 0 w 121"/>
                  <a:gd name="T79" fmla="*/ 97 h 145"/>
                  <a:gd name="T80" fmla="*/ 7 w 121"/>
                  <a:gd name="T81" fmla="*/ 93 h 145"/>
                  <a:gd name="T82" fmla="*/ 13 w 121"/>
                  <a:gd name="T83" fmla="*/ 85 h 145"/>
                  <a:gd name="T84" fmla="*/ 19 w 121"/>
                  <a:gd name="T85" fmla="*/ 68 h 145"/>
                  <a:gd name="T86" fmla="*/ 25 w 121"/>
                  <a:gd name="T87" fmla="*/ 56 h 145"/>
                  <a:gd name="T88" fmla="*/ 27 w 121"/>
                  <a:gd name="T89" fmla="*/ 45 h 145"/>
                  <a:gd name="T90" fmla="*/ 38 w 121"/>
                  <a:gd name="T91" fmla="*/ 47 h 145"/>
                  <a:gd name="T92" fmla="*/ 40 w 121"/>
                  <a:gd name="T93" fmla="*/ 58 h 145"/>
                  <a:gd name="T94" fmla="*/ 27 w 121"/>
                  <a:gd name="T95" fmla="*/ 66 h 145"/>
                  <a:gd name="T96" fmla="*/ 19 w 121"/>
                  <a:gd name="T97" fmla="*/ 81 h 145"/>
                  <a:gd name="T98" fmla="*/ 29 w 121"/>
                  <a:gd name="T99" fmla="*/ 100 h 145"/>
                  <a:gd name="T100" fmla="*/ 56 w 121"/>
                  <a:gd name="T101" fmla="*/ 116 h 145"/>
                  <a:gd name="T102" fmla="*/ 59 w 121"/>
                  <a:gd name="T103" fmla="*/ 106 h 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21" h="145">
                    <a:moveTo>
                      <a:pt x="63" y="93"/>
                    </a:moveTo>
                    <a:lnTo>
                      <a:pt x="63" y="93"/>
                    </a:lnTo>
                    <a:lnTo>
                      <a:pt x="59" y="93"/>
                    </a:lnTo>
                    <a:lnTo>
                      <a:pt x="56" y="93"/>
                    </a:lnTo>
                    <a:lnTo>
                      <a:pt x="50" y="93"/>
                    </a:lnTo>
                    <a:lnTo>
                      <a:pt x="48" y="93"/>
                    </a:lnTo>
                    <a:lnTo>
                      <a:pt x="44" y="91"/>
                    </a:lnTo>
                    <a:lnTo>
                      <a:pt x="42" y="91"/>
                    </a:lnTo>
                    <a:lnTo>
                      <a:pt x="40" y="89"/>
                    </a:lnTo>
                    <a:lnTo>
                      <a:pt x="40" y="89"/>
                    </a:lnTo>
                    <a:lnTo>
                      <a:pt x="40" y="89"/>
                    </a:lnTo>
                    <a:lnTo>
                      <a:pt x="40" y="89"/>
                    </a:lnTo>
                    <a:lnTo>
                      <a:pt x="40" y="87"/>
                    </a:lnTo>
                    <a:lnTo>
                      <a:pt x="40" y="87"/>
                    </a:lnTo>
                    <a:lnTo>
                      <a:pt x="44" y="87"/>
                    </a:lnTo>
                    <a:lnTo>
                      <a:pt x="48" y="87"/>
                    </a:lnTo>
                    <a:lnTo>
                      <a:pt x="50" y="87"/>
                    </a:lnTo>
                    <a:lnTo>
                      <a:pt x="54" y="87"/>
                    </a:lnTo>
                    <a:lnTo>
                      <a:pt x="61" y="85"/>
                    </a:lnTo>
                    <a:lnTo>
                      <a:pt x="65" y="85"/>
                    </a:lnTo>
                    <a:lnTo>
                      <a:pt x="67" y="85"/>
                    </a:lnTo>
                    <a:lnTo>
                      <a:pt x="67" y="85"/>
                    </a:lnTo>
                    <a:lnTo>
                      <a:pt x="71" y="77"/>
                    </a:lnTo>
                    <a:lnTo>
                      <a:pt x="73" y="72"/>
                    </a:lnTo>
                    <a:lnTo>
                      <a:pt x="75" y="68"/>
                    </a:lnTo>
                    <a:lnTo>
                      <a:pt x="75" y="68"/>
                    </a:lnTo>
                    <a:lnTo>
                      <a:pt x="73" y="68"/>
                    </a:lnTo>
                    <a:lnTo>
                      <a:pt x="73" y="68"/>
                    </a:lnTo>
                    <a:lnTo>
                      <a:pt x="69" y="68"/>
                    </a:lnTo>
                    <a:lnTo>
                      <a:pt x="65" y="70"/>
                    </a:lnTo>
                    <a:lnTo>
                      <a:pt x="63" y="70"/>
                    </a:lnTo>
                    <a:lnTo>
                      <a:pt x="61" y="70"/>
                    </a:lnTo>
                    <a:lnTo>
                      <a:pt x="59" y="68"/>
                    </a:lnTo>
                    <a:lnTo>
                      <a:pt x="54" y="66"/>
                    </a:lnTo>
                    <a:lnTo>
                      <a:pt x="54" y="66"/>
                    </a:lnTo>
                    <a:lnTo>
                      <a:pt x="54" y="66"/>
                    </a:lnTo>
                    <a:lnTo>
                      <a:pt x="52" y="64"/>
                    </a:lnTo>
                    <a:lnTo>
                      <a:pt x="52" y="64"/>
                    </a:lnTo>
                    <a:lnTo>
                      <a:pt x="52" y="62"/>
                    </a:lnTo>
                    <a:lnTo>
                      <a:pt x="52" y="62"/>
                    </a:lnTo>
                    <a:lnTo>
                      <a:pt x="52" y="60"/>
                    </a:lnTo>
                    <a:lnTo>
                      <a:pt x="52" y="58"/>
                    </a:lnTo>
                    <a:lnTo>
                      <a:pt x="54" y="54"/>
                    </a:lnTo>
                    <a:lnTo>
                      <a:pt x="56" y="50"/>
                    </a:lnTo>
                    <a:lnTo>
                      <a:pt x="61" y="47"/>
                    </a:lnTo>
                    <a:lnTo>
                      <a:pt x="67" y="41"/>
                    </a:lnTo>
                    <a:lnTo>
                      <a:pt x="69" y="37"/>
                    </a:lnTo>
                    <a:lnTo>
                      <a:pt x="71" y="35"/>
                    </a:lnTo>
                    <a:lnTo>
                      <a:pt x="71" y="35"/>
                    </a:lnTo>
                    <a:lnTo>
                      <a:pt x="71" y="35"/>
                    </a:lnTo>
                    <a:lnTo>
                      <a:pt x="71" y="35"/>
                    </a:lnTo>
                    <a:lnTo>
                      <a:pt x="67" y="33"/>
                    </a:lnTo>
                    <a:lnTo>
                      <a:pt x="65" y="33"/>
                    </a:lnTo>
                    <a:lnTo>
                      <a:pt x="63" y="31"/>
                    </a:lnTo>
                    <a:lnTo>
                      <a:pt x="61" y="31"/>
                    </a:lnTo>
                    <a:lnTo>
                      <a:pt x="61" y="29"/>
                    </a:lnTo>
                    <a:lnTo>
                      <a:pt x="61" y="27"/>
                    </a:lnTo>
                    <a:lnTo>
                      <a:pt x="61" y="27"/>
                    </a:lnTo>
                    <a:lnTo>
                      <a:pt x="63" y="25"/>
                    </a:lnTo>
                    <a:lnTo>
                      <a:pt x="63" y="22"/>
                    </a:lnTo>
                    <a:lnTo>
                      <a:pt x="63" y="22"/>
                    </a:lnTo>
                    <a:lnTo>
                      <a:pt x="63" y="22"/>
                    </a:lnTo>
                    <a:lnTo>
                      <a:pt x="65" y="20"/>
                    </a:lnTo>
                    <a:lnTo>
                      <a:pt x="69" y="18"/>
                    </a:lnTo>
                    <a:lnTo>
                      <a:pt x="71" y="18"/>
                    </a:lnTo>
                    <a:lnTo>
                      <a:pt x="75" y="18"/>
                    </a:lnTo>
                    <a:lnTo>
                      <a:pt x="81" y="18"/>
                    </a:lnTo>
                    <a:lnTo>
                      <a:pt x="88" y="18"/>
                    </a:lnTo>
                    <a:lnTo>
                      <a:pt x="88" y="18"/>
                    </a:lnTo>
                    <a:lnTo>
                      <a:pt x="90" y="16"/>
                    </a:lnTo>
                    <a:lnTo>
                      <a:pt x="92" y="16"/>
                    </a:lnTo>
                    <a:lnTo>
                      <a:pt x="92" y="14"/>
                    </a:lnTo>
                    <a:lnTo>
                      <a:pt x="94" y="10"/>
                    </a:lnTo>
                    <a:lnTo>
                      <a:pt x="96" y="6"/>
                    </a:lnTo>
                    <a:lnTo>
                      <a:pt x="100" y="0"/>
                    </a:lnTo>
                    <a:lnTo>
                      <a:pt x="100" y="0"/>
                    </a:lnTo>
                    <a:lnTo>
                      <a:pt x="104" y="2"/>
                    </a:lnTo>
                    <a:lnTo>
                      <a:pt x="106" y="2"/>
                    </a:lnTo>
                    <a:lnTo>
                      <a:pt x="108" y="4"/>
                    </a:lnTo>
                    <a:lnTo>
                      <a:pt x="108" y="4"/>
                    </a:lnTo>
                    <a:lnTo>
                      <a:pt x="108" y="6"/>
                    </a:lnTo>
                    <a:lnTo>
                      <a:pt x="108" y="8"/>
                    </a:lnTo>
                    <a:lnTo>
                      <a:pt x="108" y="12"/>
                    </a:lnTo>
                    <a:lnTo>
                      <a:pt x="108" y="12"/>
                    </a:lnTo>
                    <a:lnTo>
                      <a:pt x="108" y="14"/>
                    </a:lnTo>
                    <a:lnTo>
                      <a:pt x="110" y="14"/>
                    </a:lnTo>
                    <a:lnTo>
                      <a:pt x="113" y="16"/>
                    </a:lnTo>
                    <a:lnTo>
                      <a:pt x="115" y="18"/>
                    </a:lnTo>
                    <a:lnTo>
                      <a:pt x="117" y="20"/>
                    </a:lnTo>
                    <a:lnTo>
                      <a:pt x="119" y="20"/>
                    </a:lnTo>
                    <a:lnTo>
                      <a:pt x="119" y="22"/>
                    </a:lnTo>
                    <a:lnTo>
                      <a:pt x="121" y="25"/>
                    </a:lnTo>
                    <a:lnTo>
                      <a:pt x="121" y="27"/>
                    </a:lnTo>
                    <a:lnTo>
                      <a:pt x="121" y="27"/>
                    </a:lnTo>
                    <a:lnTo>
                      <a:pt x="119" y="29"/>
                    </a:lnTo>
                    <a:lnTo>
                      <a:pt x="115" y="31"/>
                    </a:lnTo>
                    <a:lnTo>
                      <a:pt x="113" y="31"/>
                    </a:lnTo>
                    <a:lnTo>
                      <a:pt x="110" y="31"/>
                    </a:lnTo>
                    <a:lnTo>
                      <a:pt x="104" y="31"/>
                    </a:lnTo>
                    <a:lnTo>
                      <a:pt x="100" y="31"/>
                    </a:lnTo>
                    <a:lnTo>
                      <a:pt x="96" y="31"/>
                    </a:lnTo>
                    <a:lnTo>
                      <a:pt x="96" y="31"/>
                    </a:lnTo>
                    <a:lnTo>
                      <a:pt x="94" y="33"/>
                    </a:lnTo>
                    <a:lnTo>
                      <a:pt x="90" y="35"/>
                    </a:lnTo>
                    <a:lnTo>
                      <a:pt x="86" y="37"/>
                    </a:lnTo>
                    <a:lnTo>
                      <a:pt x="81" y="41"/>
                    </a:lnTo>
                    <a:lnTo>
                      <a:pt x="75" y="47"/>
                    </a:lnTo>
                    <a:lnTo>
                      <a:pt x="69" y="54"/>
                    </a:lnTo>
                    <a:lnTo>
                      <a:pt x="69" y="54"/>
                    </a:lnTo>
                    <a:lnTo>
                      <a:pt x="69" y="56"/>
                    </a:lnTo>
                    <a:lnTo>
                      <a:pt x="69" y="56"/>
                    </a:lnTo>
                    <a:lnTo>
                      <a:pt x="73" y="56"/>
                    </a:lnTo>
                    <a:lnTo>
                      <a:pt x="77" y="56"/>
                    </a:lnTo>
                    <a:lnTo>
                      <a:pt x="79" y="56"/>
                    </a:lnTo>
                    <a:lnTo>
                      <a:pt x="81" y="54"/>
                    </a:lnTo>
                    <a:lnTo>
                      <a:pt x="83" y="52"/>
                    </a:lnTo>
                    <a:lnTo>
                      <a:pt x="86" y="50"/>
                    </a:lnTo>
                    <a:lnTo>
                      <a:pt x="86" y="47"/>
                    </a:lnTo>
                    <a:lnTo>
                      <a:pt x="88" y="43"/>
                    </a:lnTo>
                    <a:lnTo>
                      <a:pt x="88" y="43"/>
                    </a:lnTo>
                    <a:lnTo>
                      <a:pt x="90" y="43"/>
                    </a:lnTo>
                    <a:lnTo>
                      <a:pt x="94" y="45"/>
                    </a:lnTo>
                    <a:lnTo>
                      <a:pt x="94" y="45"/>
                    </a:lnTo>
                    <a:lnTo>
                      <a:pt x="94" y="47"/>
                    </a:lnTo>
                    <a:lnTo>
                      <a:pt x="94" y="50"/>
                    </a:lnTo>
                    <a:lnTo>
                      <a:pt x="94" y="52"/>
                    </a:lnTo>
                    <a:lnTo>
                      <a:pt x="96" y="52"/>
                    </a:lnTo>
                    <a:lnTo>
                      <a:pt x="96" y="54"/>
                    </a:lnTo>
                    <a:lnTo>
                      <a:pt x="98" y="58"/>
                    </a:lnTo>
                    <a:lnTo>
                      <a:pt x="98" y="58"/>
                    </a:lnTo>
                    <a:lnTo>
                      <a:pt x="96" y="60"/>
                    </a:lnTo>
                    <a:lnTo>
                      <a:pt x="94" y="62"/>
                    </a:lnTo>
                    <a:lnTo>
                      <a:pt x="92" y="62"/>
                    </a:lnTo>
                    <a:lnTo>
                      <a:pt x="88" y="64"/>
                    </a:lnTo>
                    <a:lnTo>
                      <a:pt x="88" y="64"/>
                    </a:lnTo>
                    <a:lnTo>
                      <a:pt x="88" y="64"/>
                    </a:lnTo>
                    <a:lnTo>
                      <a:pt x="86" y="66"/>
                    </a:lnTo>
                    <a:lnTo>
                      <a:pt x="83" y="70"/>
                    </a:lnTo>
                    <a:lnTo>
                      <a:pt x="81" y="75"/>
                    </a:lnTo>
                    <a:lnTo>
                      <a:pt x="79" y="77"/>
                    </a:lnTo>
                    <a:lnTo>
                      <a:pt x="79" y="79"/>
                    </a:lnTo>
                    <a:lnTo>
                      <a:pt x="79" y="81"/>
                    </a:lnTo>
                    <a:lnTo>
                      <a:pt x="79" y="81"/>
                    </a:lnTo>
                    <a:lnTo>
                      <a:pt x="79" y="83"/>
                    </a:lnTo>
                    <a:lnTo>
                      <a:pt x="79" y="83"/>
                    </a:lnTo>
                    <a:lnTo>
                      <a:pt x="81" y="83"/>
                    </a:lnTo>
                    <a:lnTo>
                      <a:pt x="86" y="85"/>
                    </a:lnTo>
                    <a:lnTo>
                      <a:pt x="86" y="85"/>
                    </a:lnTo>
                    <a:lnTo>
                      <a:pt x="88" y="87"/>
                    </a:lnTo>
                    <a:lnTo>
                      <a:pt x="88" y="87"/>
                    </a:lnTo>
                    <a:lnTo>
                      <a:pt x="86" y="91"/>
                    </a:lnTo>
                    <a:lnTo>
                      <a:pt x="86" y="91"/>
                    </a:lnTo>
                    <a:lnTo>
                      <a:pt x="83" y="93"/>
                    </a:lnTo>
                    <a:lnTo>
                      <a:pt x="79" y="93"/>
                    </a:lnTo>
                    <a:lnTo>
                      <a:pt x="77" y="93"/>
                    </a:lnTo>
                    <a:lnTo>
                      <a:pt x="75" y="95"/>
                    </a:lnTo>
                    <a:lnTo>
                      <a:pt x="75" y="95"/>
                    </a:lnTo>
                    <a:lnTo>
                      <a:pt x="73" y="97"/>
                    </a:lnTo>
                    <a:lnTo>
                      <a:pt x="71" y="100"/>
                    </a:lnTo>
                    <a:lnTo>
                      <a:pt x="71" y="106"/>
                    </a:lnTo>
                    <a:lnTo>
                      <a:pt x="69" y="112"/>
                    </a:lnTo>
                    <a:lnTo>
                      <a:pt x="67" y="114"/>
                    </a:lnTo>
                    <a:lnTo>
                      <a:pt x="65" y="116"/>
                    </a:lnTo>
                    <a:lnTo>
                      <a:pt x="65" y="116"/>
                    </a:lnTo>
                    <a:lnTo>
                      <a:pt x="65" y="118"/>
                    </a:lnTo>
                    <a:lnTo>
                      <a:pt x="65" y="118"/>
                    </a:lnTo>
                    <a:lnTo>
                      <a:pt x="63" y="118"/>
                    </a:lnTo>
                    <a:lnTo>
                      <a:pt x="63" y="120"/>
                    </a:lnTo>
                    <a:lnTo>
                      <a:pt x="63" y="120"/>
                    </a:lnTo>
                    <a:lnTo>
                      <a:pt x="63" y="120"/>
                    </a:lnTo>
                    <a:lnTo>
                      <a:pt x="63" y="120"/>
                    </a:lnTo>
                    <a:lnTo>
                      <a:pt x="96" y="137"/>
                    </a:lnTo>
                    <a:lnTo>
                      <a:pt x="96" y="137"/>
                    </a:lnTo>
                    <a:lnTo>
                      <a:pt x="98" y="137"/>
                    </a:lnTo>
                    <a:lnTo>
                      <a:pt x="98" y="139"/>
                    </a:lnTo>
                    <a:lnTo>
                      <a:pt x="98" y="141"/>
                    </a:lnTo>
                    <a:lnTo>
                      <a:pt x="98" y="141"/>
                    </a:lnTo>
                    <a:lnTo>
                      <a:pt x="98" y="141"/>
                    </a:lnTo>
                    <a:lnTo>
                      <a:pt x="92" y="145"/>
                    </a:lnTo>
                    <a:lnTo>
                      <a:pt x="92" y="145"/>
                    </a:lnTo>
                    <a:lnTo>
                      <a:pt x="90" y="145"/>
                    </a:lnTo>
                    <a:lnTo>
                      <a:pt x="86" y="143"/>
                    </a:lnTo>
                    <a:lnTo>
                      <a:pt x="77" y="143"/>
                    </a:lnTo>
                    <a:lnTo>
                      <a:pt x="73" y="141"/>
                    </a:lnTo>
                    <a:lnTo>
                      <a:pt x="69" y="141"/>
                    </a:lnTo>
                    <a:lnTo>
                      <a:pt x="67" y="139"/>
                    </a:lnTo>
                    <a:lnTo>
                      <a:pt x="63" y="137"/>
                    </a:lnTo>
                    <a:lnTo>
                      <a:pt x="63" y="137"/>
                    </a:lnTo>
                    <a:lnTo>
                      <a:pt x="48" y="123"/>
                    </a:lnTo>
                    <a:lnTo>
                      <a:pt x="40" y="116"/>
                    </a:lnTo>
                    <a:lnTo>
                      <a:pt x="32" y="108"/>
                    </a:lnTo>
                    <a:lnTo>
                      <a:pt x="32" y="108"/>
                    </a:lnTo>
                    <a:lnTo>
                      <a:pt x="27" y="106"/>
                    </a:lnTo>
                    <a:lnTo>
                      <a:pt x="23" y="104"/>
                    </a:lnTo>
                    <a:lnTo>
                      <a:pt x="19" y="104"/>
                    </a:lnTo>
                    <a:lnTo>
                      <a:pt x="15" y="102"/>
                    </a:lnTo>
                    <a:lnTo>
                      <a:pt x="9" y="100"/>
                    </a:lnTo>
                    <a:lnTo>
                      <a:pt x="5" y="100"/>
                    </a:lnTo>
                    <a:lnTo>
                      <a:pt x="0" y="97"/>
                    </a:lnTo>
                    <a:lnTo>
                      <a:pt x="0" y="97"/>
                    </a:lnTo>
                    <a:lnTo>
                      <a:pt x="0" y="95"/>
                    </a:lnTo>
                    <a:lnTo>
                      <a:pt x="0" y="95"/>
                    </a:lnTo>
                    <a:lnTo>
                      <a:pt x="2" y="95"/>
                    </a:lnTo>
                    <a:lnTo>
                      <a:pt x="5" y="95"/>
                    </a:lnTo>
                    <a:lnTo>
                      <a:pt x="7" y="93"/>
                    </a:lnTo>
                    <a:lnTo>
                      <a:pt x="9" y="93"/>
                    </a:lnTo>
                    <a:lnTo>
                      <a:pt x="11" y="93"/>
                    </a:lnTo>
                    <a:lnTo>
                      <a:pt x="13" y="91"/>
                    </a:lnTo>
                    <a:lnTo>
                      <a:pt x="13" y="91"/>
                    </a:lnTo>
                    <a:lnTo>
                      <a:pt x="13" y="85"/>
                    </a:lnTo>
                    <a:lnTo>
                      <a:pt x="13" y="81"/>
                    </a:lnTo>
                    <a:lnTo>
                      <a:pt x="13" y="77"/>
                    </a:lnTo>
                    <a:lnTo>
                      <a:pt x="15" y="75"/>
                    </a:lnTo>
                    <a:lnTo>
                      <a:pt x="17" y="70"/>
                    </a:lnTo>
                    <a:lnTo>
                      <a:pt x="19" y="68"/>
                    </a:lnTo>
                    <a:lnTo>
                      <a:pt x="21" y="64"/>
                    </a:lnTo>
                    <a:lnTo>
                      <a:pt x="25" y="60"/>
                    </a:lnTo>
                    <a:lnTo>
                      <a:pt x="25" y="60"/>
                    </a:lnTo>
                    <a:lnTo>
                      <a:pt x="25" y="58"/>
                    </a:lnTo>
                    <a:lnTo>
                      <a:pt x="25" y="56"/>
                    </a:lnTo>
                    <a:lnTo>
                      <a:pt x="25" y="54"/>
                    </a:lnTo>
                    <a:lnTo>
                      <a:pt x="25" y="50"/>
                    </a:lnTo>
                    <a:lnTo>
                      <a:pt x="25" y="47"/>
                    </a:lnTo>
                    <a:lnTo>
                      <a:pt x="27" y="45"/>
                    </a:lnTo>
                    <a:lnTo>
                      <a:pt x="27" y="45"/>
                    </a:lnTo>
                    <a:lnTo>
                      <a:pt x="29" y="45"/>
                    </a:lnTo>
                    <a:lnTo>
                      <a:pt x="29" y="45"/>
                    </a:lnTo>
                    <a:lnTo>
                      <a:pt x="32" y="45"/>
                    </a:lnTo>
                    <a:lnTo>
                      <a:pt x="34" y="45"/>
                    </a:lnTo>
                    <a:lnTo>
                      <a:pt x="38" y="47"/>
                    </a:lnTo>
                    <a:lnTo>
                      <a:pt x="40" y="50"/>
                    </a:lnTo>
                    <a:lnTo>
                      <a:pt x="40" y="50"/>
                    </a:lnTo>
                    <a:lnTo>
                      <a:pt x="40" y="54"/>
                    </a:lnTo>
                    <a:lnTo>
                      <a:pt x="40" y="56"/>
                    </a:lnTo>
                    <a:lnTo>
                      <a:pt x="40" y="58"/>
                    </a:lnTo>
                    <a:lnTo>
                      <a:pt x="40" y="58"/>
                    </a:lnTo>
                    <a:lnTo>
                      <a:pt x="36" y="60"/>
                    </a:lnTo>
                    <a:lnTo>
                      <a:pt x="34" y="62"/>
                    </a:lnTo>
                    <a:lnTo>
                      <a:pt x="29" y="64"/>
                    </a:lnTo>
                    <a:lnTo>
                      <a:pt x="27" y="66"/>
                    </a:lnTo>
                    <a:lnTo>
                      <a:pt x="25" y="68"/>
                    </a:lnTo>
                    <a:lnTo>
                      <a:pt x="23" y="70"/>
                    </a:lnTo>
                    <a:lnTo>
                      <a:pt x="21" y="75"/>
                    </a:lnTo>
                    <a:lnTo>
                      <a:pt x="19" y="81"/>
                    </a:lnTo>
                    <a:lnTo>
                      <a:pt x="19" y="81"/>
                    </a:lnTo>
                    <a:lnTo>
                      <a:pt x="23" y="89"/>
                    </a:lnTo>
                    <a:lnTo>
                      <a:pt x="25" y="95"/>
                    </a:lnTo>
                    <a:lnTo>
                      <a:pt x="27" y="100"/>
                    </a:lnTo>
                    <a:lnTo>
                      <a:pt x="27" y="100"/>
                    </a:lnTo>
                    <a:lnTo>
                      <a:pt x="29" y="100"/>
                    </a:lnTo>
                    <a:lnTo>
                      <a:pt x="32" y="102"/>
                    </a:lnTo>
                    <a:lnTo>
                      <a:pt x="42" y="108"/>
                    </a:lnTo>
                    <a:lnTo>
                      <a:pt x="52" y="114"/>
                    </a:lnTo>
                    <a:lnTo>
                      <a:pt x="56" y="116"/>
                    </a:lnTo>
                    <a:lnTo>
                      <a:pt x="56" y="116"/>
                    </a:lnTo>
                    <a:lnTo>
                      <a:pt x="56" y="116"/>
                    </a:lnTo>
                    <a:lnTo>
                      <a:pt x="56" y="116"/>
                    </a:lnTo>
                    <a:lnTo>
                      <a:pt x="56" y="112"/>
                    </a:lnTo>
                    <a:lnTo>
                      <a:pt x="56" y="110"/>
                    </a:lnTo>
                    <a:lnTo>
                      <a:pt x="59" y="106"/>
                    </a:lnTo>
                    <a:lnTo>
                      <a:pt x="61" y="100"/>
                    </a:lnTo>
                    <a:lnTo>
                      <a:pt x="63" y="93"/>
                    </a:lnTo>
                    <a:lnTo>
                      <a:pt x="63" y="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5" name="îŝliḍe">
                <a:extLst>
                  <a:ext uri="{FF2B5EF4-FFF2-40B4-BE49-F238E27FC236}">
                    <a16:creationId xmlns:a16="http://schemas.microsoft.com/office/drawing/2014/main" id="{94B923D9-FB8C-2470-2AE7-7C1C43EFF2CB}"/>
                  </a:ext>
                </a:extLst>
              </p:cNvPr>
              <p:cNvSpPr/>
              <p:nvPr/>
            </p:nvSpPr>
            <p:spPr bwMode="auto">
              <a:xfrm>
                <a:off x="2625726" y="3995738"/>
                <a:ext cx="161925" cy="188913"/>
              </a:xfrm>
              <a:custGeom>
                <a:avLst/>
                <a:gdLst>
                  <a:gd name="T0" fmla="*/ 68 w 102"/>
                  <a:gd name="T1" fmla="*/ 90 h 119"/>
                  <a:gd name="T2" fmla="*/ 85 w 102"/>
                  <a:gd name="T3" fmla="*/ 86 h 119"/>
                  <a:gd name="T4" fmla="*/ 83 w 102"/>
                  <a:gd name="T5" fmla="*/ 75 h 119"/>
                  <a:gd name="T6" fmla="*/ 72 w 102"/>
                  <a:gd name="T7" fmla="*/ 63 h 119"/>
                  <a:gd name="T8" fmla="*/ 85 w 102"/>
                  <a:gd name="T9" fmla="*/ 50 h 119"/>
                  <a:gd name="T10" fmla="*/ 99 w 102"/>
                  <a:gd name="T11" fmla="*/ 23 h 119"/>
                  <a:gd name="T12" fmla="*/ 97 w 102"/>
                  <a:gd name="T13" fmla="*/ 9 h 119"/>
                  <a:gd name="T14" fmla="*/ 87 w 102"/>
                  <a:gd name="T15" fmla="*/ 0 h 119"/>
                  <a:gd name="T16" fmla="*/ 72 w 102"/>
                  <a:gd name="T17" fmla="*/ 2 h 119"/>
                  <a:gd name="T18" fmla="*/ 58 w 102"/>
                  <a:gd name="T19" fmla="*/ 17 h 119"/>
                  <a:gd name="T20" fmla="*/ 54 w 102"/>
                  <a:gd name="T21" fmla="*/ 23 h 119"/>
                  <a:gd name="T22" fmla="*/ 72 w 102"/>
                  <a:gd name="T23" fmla="*/ 15 h 119"/>
                  <a:gd name="T24" fmla="*/ 95 w 102"/>
                  <a:gd name="T25" fmla="*/ 13 h 119"/>
                  <a:gd name="T26" fmla="*/ 91 w 102"/>
                  <a:gd name="T27" fmla="*/ 34 h 119"/>
                  <a:gd name="T28" fmla="*/ 77 w 102"/>
                  <a:gd name="T29" fmla="*/ 46 h 119"/>
                  <a:gd name="T30" fmla="*/ 83 w 102"/>
                  <a:gd name="T31" fmla="*/ 36 h 119"/>
                  <a:gd name="T32" fmla="*/ 83 w 102"/>
                  <a:gd name="T33" fmla="*/ 25 h 119"/>
                  <a:gd name="T34" fmla="*/ 72 w 102"/>
                  <a:gd name="T35" fmla="*/ 19 h 119"/>
                  <a:gd name="T36" fmla="*/ 68 w 102"/>
                  <a:gd name="T37" fmla="*/ 30 h 119"/>
                  <a:gd name="T38" fmla="*/ 62 w 102"/>
                  <a:gd name="T39" fmla="*/ 40 h 119"/>
                  <a:gd name="T40" fmla="*/ 68 w 102"/>
                  <a:gd name="T41" fmla="*/ 46 h 119"/>
                  <a:gd name="T42" fmla="*/ 66 w 102"/>
                  <a:gd name="T43" fmla="*/ 55 h 119"/>
                  <a:gd name="T44" fmla="*/ 60 w 102"/>
                  <a:gd name="T45" fmla="*/ 55 h 119"/>
                  <a:gd name="T46" fmla="*/ 52 w 102"/>
                  <a:gd name="T47" fmla="*/ 36 h 119"/>
                  <a:gd name="T48" fmla="*/ 43 w 102"/>
                  <a:gd name="T49" fmla="*/ 46 h 119"/>
                  <a:gd name="T50" fmla="*/ 43 w 102"/>
                  <a:gd name="T51" fmla="*/ 61 h 119"/>
                  <a:gd name="T52" fmla="*/ 50 w 102"/>
                  <a:gd name="T53" fmla="*/ 67 h 119"/>
                  <a:gd name="T54" fmla="*/ 60 w 102"/>
                  <a:gd name="T55" fmla="*/ 65 h 119"/>
                  <a:gd name="T56" fmla="*/ 64 w 102"/>
                  <a:gd name="T57" fmla="*/ 75 h 119"/>
                  <a:gd name="T58" fmla="*/ 54 w 102"/>
                  <a:gd name="T59" fmla="*/ 86 h 119"/>
                  <a:gd name="T60" fmla="*/ 60 w 102"/>
                  <a:gd name="T61" fmla="*/ 96 h 119"/>
                  <a:gd name="T62" fmla="*/ 50 w 102"/>
                  <a:gd name="T63" fmla="*/ 107 h 119"/>
                  <a:gd name="T64" fmla="*/ 41 w 102"/>
                  <a:gd name="T65" fmla="*/ 113 h 119"/>
                  <a:gd name="T66" fmla="*/ 68 w 102"/>
                  <a:gd name="T67" fmla="*/ 115 h 119"/>
                  <a:gd name="T68" fmla="*/ 89 w 102"/>
                  <a:gd name="T69" fmla="*/ 117 h 119"/>
                  <a:gd name="T70" fmla="*/ 97 w 102"/>
                  <a:gd name="T71" fmla="*/ 113 h 119"/>
                  <a:gd name="T72" fmla="*/ 99 w 102"/>
                  <a:gd name="T73" fmla="*/ 107 h 119"/>
                  <a:gd name="T74" fmla="*/ 85 w 102"/>
                  <a:gd name="T75" fmla="*/ 100 h 119"/>
                  <a:gd name="T76" fmla="*/ 43 w 102"/>
                  <a:gd name="T77" fmla="*/ 71 h 119"/>
                  <a:gd name="T78" fmla="*/ 20 w 102"/>
                  <a:gd name="T79" fmla="*/ 115 h 119"/>
                  <a:gd name="T80" fmla="*/ 12 w 102"/>
                  <a:gd name="T81" fmla="*/ 117 h 119"/>
                  <a:gd name="T82" fmla="*/ 18 w 102"/>
                  <a:gd name="T83" fmla="*/ 84 h 119"/>
                  <a:gd name="T84" fmla="*/ 14 w 102"/>
                  <a:gd name="T85" fmla="*/ 84 h 119"/>
                  <a:gd name="T86" fmla="*/ 2 w 102"/>
                  <a:gd name="T87" fmla="*/ 82 h 119"/>
                  <a:gd name="T88" fmla="*/ 2 w 102"/>
                  <a:gd name="T89" fmla="*/ 67 h 119"/>
                  <a:gd name="T90" fmla="*/ 12 w 102"/>
                  <a:gd name="T91" fmla="*/ 61 h 119"/>
                  <a:gd name="T92" fmla="*/ 25 w 102"/>
                  <a:gd name="T93" fmla="*/ 38 h 119"/>
                  <a:gd name="T94" fmla="*/ 12 w 102"/>
                  <a:gd name="T95" fmla="*/ 40 h 119"/>
                  <a:gd name="T96" fmla="*/ 10 w 102"/>
                  <a:gd name="T97" fmla="*/ 30 h 119"/>
                  <a:gd name="T98" fmla="*/ 35 w 102"/>
                  <a:gd name="T99" fmla="*/ 19 h 119"/>
                  <a:gd name="T100" fmla="*/ 41 w 102"/>
                  <a:gd name="T101" fmla="*/ 21 h 119"/>
                  <a:gd name="T102" fmla="*/ 33 w 102"/>
                  <a:gd name="T103" fmla="*/ 38 h 119"/>
                  <a:gd name="T104" fmla="*/ 25 w 102"/>
                  <a:gd name="T105" fmla="*/ 63 h 119"/>
                  <a:gd name="T106" fmla="*/ 25 w 102"/>
                  <a:gd name="T107" fmla="*/ 73 h 119"/>
                  <a:gd name="T108" fmla="*/ 14 w 102"/>
                  <a:gd name="T109" fmla="*/ 105 h 119"/>
                  <a:gd name="T110" fmla="*/ 27 w 102"/>
                  <a:gd name="T111" fmla="*/ 96 h 119"/>
                  <a:gd name="T112" fmla="*/ 43 w 102"/>
                  <a:gd name="T113" fmla="*/ 71 h 119"/>
                  <a:gd name="T114" fmla="*/ 12 w 102"/>
                  <a:gd name="T115" fmla="*/ 75 h 119"/>
                  <a:gd name="T116" fmla="*/ 14 w 102"/>
                  <a:gd name="T117" fmla="*/ 65 h 119"/>
                  <a:gd name="T118" fmla="*/ 6 w 102"/>
                  <a:gd name="T119" fmla="*/ 75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02" h="119">
                    <a:moveTo>
                      <a:pt x="70" y="100"/>
                    </a:moveTo>
                    <a:lnTo>
                      <a:pt x="70" y="100"/>
                    </a:lnTo>
                    <a:lnTo>
                      <a:pt x="68" y="100"/>
                    </a:lnTo>
                    <a:lnTo>
                      <a:pt x="68" y="96"/>
                    </a:lnTo>
                    <a:lnTo>
                      <a:pt x="68" y="90"/>
                    </a:lnTo>
                    <a:lnTo>
                      <a:pt x="68" y="90"/>
                    </a:lnTo>
                    <a:lnTo>
                      <a:pt x="72" y="88"/>
                    </a:lnTo>
                    <a:lnTo>
                      <a:pt x="77" y="86"/>
                    </a:lnTo>
                    <a:lnTo>
                      <a:pt x="79" y="86"/>
                    </a:lnTo>
                    <a:lnTo>
                      <a:pt x="81" y="86"/>
                    </a:lnTo>
                    <a:lnTo>
                      <a:pt x="83" y="86"/>
                    </a:lnTo>
                    <a:lnTo>
                      <a:pt x="85" y="86"/>
                    </a:lnTo>
                    <a:lnTo>
                      <a:pt x="85" y="86"/>
                    </a:lnTo>
                    <a:lnTo>
                      <a:pt x="85" y="84"/>
                    </a:lnTo>
                    <a:lnTo>
                      <a:pt x="87" y="84"/>
                    </a:lnTo>
                    <a:lnTo>
                      <a:pt x="87" y="75"/>
                    </a:lnTo>
                    <a:lnTo>
                      <a:pt x="87" y="75"/>
                    </a:lnTo>
                    <a:lnTo>
                      <a:pt x="83" y="75"/>
                    </a:lnTo>
                    <a:lnTo>
                      <a:pt x="81" y="75"/>
                    </a:lnTo>
                    <a:lnTo>
                      <a:pt x="79" y="75"/>
                    </a:lnTo>
                    <a:lnTo>
                      <a:pt x="79" y="75"/>
                    </a:lnTo>
                    <a:lnTo>
                      <a:pt x="70" y="75"/>
                    </a:lnTo>
                    <a:lnTo>
                      <a:pt x="70" y="75"/>
                    </a:lnTo>
                    <a:lnTo>
                      <a:pt x="72" y="63"/>
                    </a:lnTo>
                    <a:lnTo>
                      <a:pt x="72" y="63"/>
                    </a:lnTo>
                    <a:lnTo>
                      <a:pt x="75" y="59"/>
                    </a:lnTo>
                    <a:lnTo>
                      <a:pt x="79" y="57"/>
                    </a:lnTo>
                    <a:lnTo>
                      <a:pt x="83" y="52"/>
                    </a:lnTo>
                    <a:lnTo>
                      <a:pt x="85" y="50"/>
                    </a:lnTo>
                    <a:lnTo>
                      <a:pt x="85" y="50"/>
                    </a:lnTo>
                    <a:lnTo>
                      <a:pt x="89" y="44"/>
                    </a:lnTo>
                    <a:lnTo>
                      <a:pt x="93" y="38"/>
                    </a:lnTo>
                    <a:lnTo>
                      <a:pt x="97" y="32"/>
                    </a:lnTo>
                    <a:lnTo>
                      <a:pt x="99" y="27"/>
                    </a:lnTo>
                    <a:lnTo>
                      <a:pt x="99" y="27"/>
                    </a:lnTo>
                    <a:lnTo>
                      <a:pt x="99" y="23"/>
                    </a:lnTo>
                    <a:lnTo>
                      <a:pt x="99" y="21"/>
                    </a:lnTo>
                    <a:lnTo>
                      <a:pt x="102" y="19"/>
                    </a:lnTo>
                    <a:lnTo>
                      <a:pt x="99" y="15"/>
                    </a:lnTo>
                    <a:lnTo>
                      <a:pt x="99" y="13"/>
                    </a:lnTo>
                    <a:lnTo>
                      <a:pt x="99" y="11"/>
                    </a:lnTo>
                    <a:lnTo>
                      <a:pt x="97" y="9"/>
                    </a:lnTo>
                    <a:lnTo>
                      <a:pt x="97" y="7"/>
                    </a:lnTo>
                    <a:lnTo>
                      <a:pt x="95" y="5"/>
                    </a:lnTo>
                    <a:lnTo>
                      <a:pt x="93" y="2"/>
                    </a:lnTo>
                    <a:lnTo>
                      <a:pt x="91" y="0"/>
                    </a:lnTo>
                    <a:lnTo>
                      <a:pt x="89" y="0"/>
                    </a:lnTo>
                    <a:lnTo>
                      <a:pt x="87" y="0"/>
                    </a:lnTo>
                    <a:lnTo>
                      <a:pt x="85" y="0"/>
                    </a:lnTo>
                    <a:lnTo>
                      <a:pt x="81" y="0"/>
                    </a:lnTo>
                    <a:lnTo>
                      <a:pt x="79" y="0"/>
                    </a:lnTo>
                    <a:lnTo>
                      <a:pt x="79" y="0"/>
                    </a:lnTo>
                    <a:lnTo>
                      <a:pt x="77" y="2"/>
                    </a:lnTo>
                    <a:lnTo>
                      <a:pt x="72" y="2"/>
                    </a:lnTo>
                    <a:lnTo>
                      <a:pt x="68" y="7"/>
                    </a:lnTo>
                    <a:lnTo>
                      <a:pt x="64" y="11"/>
                    </a:lnTo>
                    <a:lnTo>
                      <a:pt x="58" y="13"/>
                    </a:lnTo>
                    <a:lnTo>
                      <a:pt x="58" y="17"/>
                    </a:lnTo>
                    <a:lnTo>
                      <a:pt x="58" y="17"/>
                    </a:lnTo>
                    <a:lnTo>
                      <a:pt x="58" y="17"/>
                    </a:lnTo>
                    <a:lnTo>
                      <a:pt x="56" y="17"/>
                    </a:lnTo>
                    <a:lnTo>
                      <a:pt x="56" y="19"/>
                    </a:lnTo>
                    <a:lnTo>
                      <a:pt x="54" y="21"/>
                    </a:lnTo>
                    <a:lnTo>
                      <a:pt x="54" y="23"/>
                    </a:lnTo>
                    <a:lnTo>
                      <a:pt x="54" y="23"/>
                    </a:lnTo>
                    <a:lnTo>
                      <a:pt x="54" y="23"/>
                    </a:lnTo>
                    <a:lnTo>
                      <a:pt x="56" y="25"/>
                    </a:lnTo>
                    <a:lnTo>
                      <a:pt x="56" y="25"/>
                    </a:lnTo>
                    <a:lnTo>
                      <a:pt x="56" y="25"/>
                    </a:lnTo>
                    <a:lnTo>
                      <a:pt x="60" y="23"/>
                    </a:lnTo>
                    <a:lnTo>
                      <a:pt x="64" y="21"/>
                    </a:lnTo>
                    <a:lnTo>
                      <a:pt x="72" y="15"/>
                    </a:lnTo>
                    <a:lnTo>
                      <a:pt x="77" y="13"/>
                    </a:lnTo>
                    <a:lnTo>
                      <a:pt x="81" y="11"/>
                    </a:lnTo>
                    <a:lnTo>
                      <a:pt x="85" y="9"/>
                    </a:lnTo>
                    <a:lnTo>
                      <a:pt x="91" y="9"/>
                    </a:lnTo>
                    <a:lnTo>
                      <a:pt x="91" y="9"/>
                    </a:lnTo>
                    <a:lnTo>
                      <a:pt x="95" y="13"/>
                    </a:lnTo>
                    <a:lnTo>
                      <a:pt x="95" y="13"/>
                    </a:lnTo>
                    <a:lnTo>
                      <a:pt x="95" y="15"/>
                    </a:lnTo>
                    <a:lnTo>
                      <a:pt x="95" y="17"/>
                    </a:lnTo>
                    <a:lnTo>
                      <a:pt x="93" y="23"/>
                    </a:lnTo>
                    <a:lnTo>
                      <a:pt x="93" y="27"/>
                    </a:lnTo>
                    <a:lnTo>
                      <a:pt x="91" y="34"/>
                    </a:lnTo>
                    <a:lnTo>
                      <a:pt x="87" y="38"/>
                    </a:lnTo>
                    <a:lnTo>
                      <a:pt x="85" y="42"/>
                    </a:lnTo>
                    <a:lnTo>
                      <a:pt x="81" y="46"/>
                    </a:lnTo>
                    <a:lnTo>
                      <a:pt x="79" y="48"/>
                    </a:lnTo>
                    <a:lnTo>
                      <a:pt x="79" y="48"/>
                    </a:lnTo>
                    <a:lnTo>
                      <a:pt x="77" y="46"/>
                    </a:lnTo>
                    <a:lnTo>
                      <a:pt x="77" y="46"/>
                    </a:lnTo>
                    <a:lnTo>
                      <a:pt x="77" y="42"/>
                    </a:lnTo>
                    <a:lnTo>
                      <a:pt x="81" y="40"/>
                    </a:lnTo>
                    <a:lnTo>
                      <a:pt x="81" y="38"/>
                    </a:lnTo>
                    <a:lnTo>
                      <a:pt x="83" y="36"/>
                    </a:lnTo>
                    <a:lnTo>
                      <a:pt x="83" y="36"/>
                    </a:lnTo>
                    <a:lnTo>
                      <a:pt x="85" y="34"/>
                    </a:lnTo>
                    <a:lnTo>
                      <a:pt x="85" y="34"/>
                    </a:lnTo>
                    <a:lnTo>
                      <a:pt x="85" y="30"/>
                    </a:lnTo>
                    <a:lnTo>
                      <a:pt x="85" y="27"/>
                    </a:lnTo>
                    <a:lnTo>
                      <a:pt x="85" y="27"/>
                    </a:lnTo>
                    <a:lnTo>
                      <a:pt x="83" y="25"/>
                    </a:lnTo>
                    <a:lnTo>
                      <a:pt x="83" y="25"/>
                    </a:lnTo>
                    <a:lnTo>
                      <a:pt x="81" y="23"/>
                    </a:lnTo>
                    <a:lnTo>
                      <a:pt x="79" y="23"/>
                    </a:lnTo>
                    <a:lnTo>
                      <a:pt x="79" y="21"/>
                    </a:lnTo>
                    <a:lnTo>
                      <a:pt x="79" y="21"/>
                    </a:lnTo>
                    <a:lnTo>
                      <a:pt x="72" y="19"/>
                    </a:lnTo>
                    <a:lnTo>
                      <a:pt x="72" y="19"/>
                    </a:lnTo>
                    <a:lnTo>
                      <a:pt x="72" y="19"/>
                    </a:lnTo>
                    <a:lnTo>
                      <a:pt x="72" y="21"/>
                    </a:lnTo>
                    <a:lnTo>
                      <a:pt x="70" y="23"/>
                    </a:lnTo>
                    <a:lnTo>
                      <a:pt x="70" y="25"/>
                    </a:lnTo>
                    <a:lnTo>
                      <a:pt x="68" y="30"/>
                    </a:lnTo>
                    <a:lnTo>
                      <a:pt x="66" y="30"/>
                    </a:lnTo>
                    <a:lnTo>
                      <a:pt x="64" y="34"/>
                    </a:lnTo>
                    <a:lnTo>
                      <a:pt x="62" y="36"/>
                    </a:lnTo>
                    <a:lnTo>
                      <a:pt x="62" y="38"/>
                    </a:lnTo>
                    <a:lnTo>
                      <a:pt x="62" y="38"/>
                    </a:lnTo>
                    <a:lnTo>
                      <a:pt x="62" y="40"/>
                    </a:lnTo>
                    <a:lnTo>
                      <a:pt x="62" y="40"/>
                    </a:lnTo>
                    <a:lnTo>
                      <a:pt x="62" y="42"/>
                    </a:lnTo>
                    <a:lnTo>
                      <a:pt x="64" y="42"/>
                    </a:lnTo>
                    <a:lnTo>
                      <a:pt x="66" y="44"/>
                    </a:lnTo>
                    <a:lnTo>
                      <a:pt x="68" y="46"/>
                    </a:lnTo>
                    <a:lnTo>
                      <a:pt x="68" y="46"/>
                    </a:lnTo>
                    <a:lnTo>
                      <a:pt x="68" y="48"/>
                    </a:lnTo>
                    <a:lnTo>
                      <a:pt x="68" y="50"/>
                    </a:lnTo>
                    <a:lnTo>
                      <a:pt x="68" y="50"/>
                    </a:lnTo>
                    <a:lnTo>
                      <a:pt x="68" y="50"/>
                    </a:lnTo>
                    <a:lnTo>
                      <a:pt x="66" y="52"/>
                    </a:lnTo>
                    <a:lnTo>
                      <a:pt x="66" y="55"/>
                    </a:lnTo>
                    <a:lnTo>
                      <a:pt x="66" y="55"/>
                    </a:lnTo>
                    <a:lnTo>
                      <a:pt x="64" y="55"/>
                    </a:lnTo>
                    <a:lnTo>
                      <a:pt x="64" y="55"/>
                    </a:lnTo>
                    <a:lnTo>
                      <a:pt x="62" y="55"/>
                    </a:lnTo>
                    <a:lnTo>
                      <a:pt x="60" y="55"/>
                    </a:lnTo>
                    <a:lnTo>
                      <a:pt x="60" y="55"/>
                    </a:lnTo>
                    <a:lnTo>
                      <a:pt x="58" y="57"/>
                    </a:lnTo>
                    <a:lnTo>
                      <a:pt x="58" y="57"/>
                    </a:lnTo>
                    <a:lnTo>
                      <a:pt x="58" y="57"/>
                    </a:lnTo>
                    <a:lnTo>
                      <a:pt x="56" y="36"/>
                    </a:lnTo>
                    <a:lnTo>
                      <a:pt x="56" y="36"/>
                    </a:lnTo>
                    <a:lnTo>
                      <a:pt x="52" y="36"/>
                    </a:lnTo>
                    <a:lnTo>
                      <a:pt x="50" y="36"/>
                    </a:lnTo>
                    <a:lnTo>
                      <a:pt x="50" y="36"/>
                    </a:lnTo>
                    <a:lnTo>
                      <a:pt x="47" y="36"/>
                    </a:lnTo>
                    <a:lnTo>
                      <a:pt x="45" y="40"/>
                    </a:lnTo>
                    <a:lnTo>
                      <a:pt x="45" y="42"/>
                    </a:lnTo>
                    <a:lnTo>
                      <a:pt x="43" y="46"/>
                    </a:lnTo>
                    <a:lnTo>
                      <a:pt x="41" y="50"/>
                    </a:lnTo>
                    <a:lnTo>
                      <a:pt x="41" y="55"/>
                    </a:lnTo>
                    <a:lnTo>
                      <a:pt x="41" y="59"/>
                    </a:lnTo>
                    <a:lnTo>
                      <a:pt x="41" y="61"/>
                    </a:lnTo>
                    <a:lnTo>
                      <a:pt x="43" y="61"/>
                    </a:lnTo>
                    <a:lnTo>
                      <a:pt x="43" y="61"/>
                    </a:lnTo>
                    <a:lnTo>
                      <a:pt x="43" y="63"/>
                    </a:lnTo>
                    <a:lnTo>
                      <a:pt x="45" y="63"/>
                    </a:lnTo>
                    <a:lnTo>
                      <a:pt x="45" y="65"/>
                    </a:lnTo>
                    <a:lnTo>
                      <a:pt x="45" y="65"/>
                    </a:lnTo>
                    <a:lnTo>
                      <a:pt x="50" y="67"/>
                    </a:lnTo>
                    <a:lnTo>
                      <a:pt x="50" y="67"/>
                    </a:lnTo>
                    <a:lnTo>
                      <a:pt x="52" y="67"/>
                    </a:lnTo>
                    <a:lnTo>
                      <a:pt x="54" y="65"/>
                    </a:lnTo>
                    <a:lnTo>
                      <a:pt x="54" y="65"/>
                    </a:lnTo>
                    <a:lnTo>
                      <a:pt x="56" y="63"/>
                    </a:lnTo>
                    <a:lnTo>
                      <a:pt x="56" y="63"/>
                    </a:lnTo>
                    <a:lnTo>
                      <a:pt x="60" y="65"/>
                    </a:lnTo>
                    <a:lnTo>
                      <a:pt x="62" y="65"/>
                    </a:lnTo>
                    <a:lnTo>
                      <a:pt x="66" y="65"/>
                    </a:lnTo>
                    <a:lnTo>
                      <a:pt x="66" y="65"/>
                    </a:lnTo>
                    <a:lnTo>
                      <a:pt x="66" y="69"/>
                    </a:lnTo>
                    <a:lnTo>
                      <a:pt x="66" y="73"/>
                    </a:lnTo>
                    <a:lnTo>
                      <a:pt x="64" y="75"/>
                    </a:lnTo>
                    <a:lnTo>
                      <a:pt x="64" y="80"/>
                    </a:lnTo>
                    <a:lnTo>
                      <a:pt x="62" y="82"/>
                    </a:lnTo>
                    <a:lnTo>
                      <a:pt x="60" y="84"/>
                    </a:lnTo>
                    <a:lnTo>
                      <a:pt x="56" y="86"/>
                    </a:lnTo>
                    <a:lnTo>
                      <a:pt x="54" y="86"/>
                    </a:lnTo>
                    <a:lnTo>
                      <a:pt x="54" y="86"/>
                    </a:lnTo>
                    <a:lnTo>
                      <a:pt x="54" y="88"/>
                    </a:lnTo>
                    <a:lnTo>
                      <a:pt x="54" y="90"/>
                    </a:lnTo>
                    <a:lnTo>
                      <a:pt x="56" y="92"/>
                    </a:lnTo>
                    <a:lnTo>
                      <a:pt x="56" y="92"/>
                    </a:lnTo>
                    <a:lnTo>
                      <a:pt x="58" y="94"/>
                    </a:lnTo>
                    <a:lnTo>
                      <a:pt x="60" y="96"/>
                    </a:lnTo>
                    <a:lnTo>
                      <a:pt x="60" y="96"/>
                    </a:lnTo>
                    <a:lnTo>
                      <a:pt x="58" y="105"/>
                    </a:lnTo>
                    <a:lnTo>
                      <a:pt x="58" y="105"/>
                    </a:lnTo>
                    <a:lnTo>
                      <a:pt x="56" y="105"/>
                    </a:lnTo>
                    <a:lnTo>
                      <a:pt x="54" y="107"/>
                    </a:lnTo>
                    <a:lnTo>
                      <a:pt x="50" y="107"/>
                    </a:lnTo>
                    <a:lnTo>
                      <a:pt x="45" y="109"/>
                    </a:lnTo>
                    <a:lnTo>
                      <a:pt x="43" y="109"/>
                    </a:lnTo>
                    <a:lnTo>
                      <a:pt x="41" y="111"/>
                    </a:lnTo>
                    <a:lnTo>
                      <a:pt x="41" y="111"/>
                    </a:lnTo>
                    <a:lnTo>
                      <a:pt x="41" y="111"/>
                    </a:lnTo>
                    <a:lnTo>
                      <a:pt x="41" y="113"/>
                    </a:lnTo>
                    <a:lnTo>
                      <a:pt x="43" y="115"/>
                    </a:lnTo>
                    <a:lnTo>
                      <a:pt x="43" y="117"/>
                    </a:lnTo>
                    <a:lnTo>
                      <a:pt x="45" y="119"/>
                    </a:lnTo>
                    <a:lnTo>
                      <a:pt x="45" y="119"/>
                    </a:lnTo>
                    <a:lnTo>
                      <a:pt x="60" y="115"/>
                    </a:lnTo>
                    <a:lnTo>
                      <a:pt x="68" y="115"/>
                    </a:lnTo>
                    <a:lnTo>
                      <a:pt x="72" y="115"/>
                    </a:lnTo>
                    <a:lnTo>
                      <a:pt x="77" y="115"/>
                    </a:lnTo>
                    <a:lnTo>
                      <a:pt x="77" y="115"/>
                    </a:lnTo>
                    <a:lnTo>
                      <a:pt x="81" y="115"/>
                    </a:lnTo>
                    <a:lnTo>
                      <a:pt x="85" y="117"/>
                    </a:lnTo>
                    <a:lnTo>
                      <a:pt x="89" y="117"/>
                    </a:lnTo>
                    <a:lnTo>
                      <a:pt x="91" y="117"/>
                    </a:lnTo>
                    <a:lnTo>
                      <a:pt x="91" y="117"/>
                    </a:lnTo>
                    <a:lnTo>
                      <a:pt x="91" y="117"/>
                    </a:lnTo>
                    <a:lnTo>
                      <a:pt x="93" y="117"/>
                    </a:lnTo>
                    <a:lnTo>
                      <a:pt x="95" y="115"/>
                    </a:lnTo>
                    <a:lnTo>
                      <a:pt x="97" y="113"/>
                    </a:lnTo>
                    <a:lnTo>
                      <a:pt x="99" y="111"/>
                    </a:lnTo>
                    <a:lnTo>
                      <a:pt x="99" y="111"/>
                    </a:lnTo>
                    <a:lnTo>
                      <a:pt x="102" y="111"/>
                    </a:lnTo>
                    <a:lnTo>
                      <a:pt x="102" y="111"/>
                    </a:lnTo>
                    <a:lnTo>
                      <a:pt x="102" y="107"/>
                    </a:lnTo>
                    <a:lnTo>
                      <a:pt x="99" y="107"/>
                    </a:lnTo>
                    <a:lnTo>
                      <a:pt x="99" y="105"/>
                    </a:lnTo>
                    <a:lnTo>
                      <a:pt x="97" y="103"/>
                    </a:lnTo>
                    <a:lnTo>
                      <a:pt x="95" y="103"/>
                    </a:lnTo>
                    <a:lnTo>
                      <a:pt x="93" y="103"/>
                    </a:lnTo>
                    <a:lnTo>
                      <a:pt x="89" y="100"/>
                    </a:lnTo>
                    <a:lnTo>
                      <a:pt x="85" y="100"/>
                    </a:lnTo>
                    <a:lnTo>
                      <a:pt x="79" y="100"/>
                    </a:lnTo>
                    <a:lnTo>
                      <a:pt x="75" y="100"/>
                    </a:lnTo>
                    <a:lnTo>
                      <a:pt x="70" y="100"/>
                    </a:lnTo>
                    <a:lnTo>
                      <a:pt x="70" y="100"/>
                    </a:lnTo>
                    <a:lnTo>
                      <a:pt x="70" y="100"/>
                    </a:lnTo>
                    <a:close/>
                    <a:moveTo>
                      <a:pt x="43" y="71"/>
                    </a:moveTo>
                    <a:lnTo>
                      <a:pt x="43" y="73"/>
                    </a:lnTo>
                    <a:lnTo>
                      <a:pt x="37" y="84"/>
                    </a:lnTo>
                    <a:lnTo>
                      <a:pt x="31" y="98"/>
                    </a:lnTo>
                    <a:lnTo>
                      <a:pt x="27" y="107"/>
                    </a:lnTo>
                    <a:lnTo>
                      <a:pt x="23" y="113"/>
                    </a:lnTo>
                    <a:lnTo>
                      <a:pt x="20" y="115"/>
                    </a:lnTo>
                    <a:lnTo>
                      <a:pt x="18" y="117"/>
                    </a:lnTo>
                    <a:lnTo>
                      <a:pt x="16" y="117"/>
                    </a:lnTo>
                    <a:lnTo>
                      <a:pt x="14" y="119"/>
                    </a:lnTo>
                    <a:lnTo>
                      <a:pt x="14" y="119"/>
                    </a:lnTo>
                    <a:lnTo>
                      <a:pt x="12" y="117"/>
                    </a:lnTo>
                    <a:lnTo>
                      <a:pt x="12" y="117"/>
                    </a:lnTo>
                    <a:lnTo>
                      <a:pt x="12" y="111"/>
                    </a:lnTo>
                    <a:lnTo>
                      <a:pt x="12" y="107"/>
                    </a:lnTo>
                    <a:lnTo>
                      <a:pt x="14" y="100"/>
                    </a:lnTo>
                    <a:lnTo>
                      <a:pt x="14" y="96"/>
                    </a:lnTo>
                    <a:lnTo>
                      <a:pt x="18" y="88"/>
                    </a:lnTo>
                    <a:lnTo>
                      <a:pt x="18" y="84"/>
                    </a:lnTo>
                    <a:lnTo>
                      <a:pt x="18" y="80"/>
                    </a:lnTo>
                    <a:lnTo>
                      <a:pt x="18" y="80"/>
                    </a:lnTo>
                    <a:lnTo>
                      <a:pt x="18" y="80"/>
                    </a:lnTo>
                    <a:lnTo>
                      <a:pt x="18" y="80"/>
                    </a:lnTo>
                    <a:lnTo>
                      <a:pt x="14" y="84"/>
                    </a:lnTo>
                    <a:lnTo>
                      <a:pt x="14" y="84"/>
                    </a:lnTo>
                    <a:lnTo>
                      <a:pt x="8" y="84"/>
                    </a:lnTo>
                    <a:lnTo>
                      <a:pt x="6" y="84"/>
                    </a:lnTo>
                    <a:lnTo>
                      <a:pt x="4" y="84"/>
                    </a:lnTo>
                    <a:lnTo>
                      <a:pt x="2" y="84"/>
                    </a:lnTo>
                    <a:lnTo>
                      <a:pt x="2" y="84"/>
                    </a:lnTo>
                    <a:lnTo>
                      <a:pt x="2" y="82"/>
                    </a:lnTo>
                    <a:lnTo>
                      <a:pt x="2" y="82"/>
                    </a:lnTo>
                    <a:lnTo>
                      <a:pt x="0" y="80"/>
                    </a:lnTo>
                    <a:lnTo>
                      <a:pt x="0" y="75"/>
                    </a:lnTo>
                    <a:lnTo>
                      <a:pt x="0" y="73"/>
                    </a:lnTo>
                    <a:lnTo>
                      <a:pt x="2" y="69"/>
                    </a:lnTo>
                    <a:lnTo>
                      <a:pt x="2" y="67"/>
                    </a:lnTo>
                    <a:lnTo>
                      <a:pt x="4" y="65"/>
                    </a:lnTo>
                    <a:lnTo>
                      <a:pt x="4" y="63"/>
                    </a:lnTo>
                    <a:lnTo>
                      <a:pt x="4" y="63"/>
                    </a:lnTo>
                    <a:lnTo>
                      <a:pt x="6" y="63"/>
                    </a:lnTo>
                    <a:lnTo>
                      <a:pt x="8" y="61"/>
                    </a:lnTo>
                    <a:lnTo>
                      <a:pt x="12" y="61"/>
                    </a:lnTo>
                    <a:lnTo>
                      <a:pt x="16" y="61"/>
                    </a:lnTo>
                    <a:lnTo>
                      <a:pt x="18" y="61"/>
                    </a:lnTo>
                    <a:lnTo>
                      <a:pt x="20" y="59"/>
                    </a:lnTo>
                    <a:lnTo>
                      <a:pt x="20" y="59"/>
                    </a:lnTo>
                    <a:lnTo>
                      <a:pt x="25" y="38"/>
                    </a:lnTo>
                    <a:lnTo>
                      <a:pt x="25" y="38"/>
                    </a:lnTo>
                    <a:lnTo>
                      <a:pt x="25" y="38"/>
                    </a:lnTo>
                    <a:lnTo>
                      <a:pt x="25" y="38"/>
                    </a:lnTo>
                    <a:lnTo>
                      <a:pt x="20" y="40"/>
                    </a:lnTo>
                    <a:lnTo>
                      <a:pt x="18" y="40"/>
                    </a:lnTo>
                    <a:lnTo>
                      <a:pt x="14" y="40"/>
                    </a:lnTo>
                    <a:lnTo>
                      <a:pt x="12" y="40"/>
                    </a:lnTo>
                    <a:lnTo>
                      <a:pt x="10" y="40"/>
                    </a:lnTo>
                    <a:lnTo>
                      <a:pt x="10" y="40"/>
                    </a:lnTo>
                    <a:lnTo>
                      <a:pt x="8" y="38"/>
                    </a:lnTo>
                    <a:lnTo>
                      <a:pt x="8" y="38"/>
                    </a:lnTo>
                    <a:lnTo>
                      <a:pt x="8" y="34"/>
                    </a:lnTo>
                    <a:lnTo>
                      <a:pt x="10" y="30"/>
                    </a:lnTo>
                    <a:lnTo>
                      <a:pt x="12" y="27"/>
                    </a:lnTo>
                    <a:lnTo>
                      <a:pt x="16" y="27"/>
                    </a:lnTo>
                    <a:lnTo>
                      <a:pt x="20" y="25"/>
                    </a:lnTo>
                    <a:lnTo>
                      <a:pt x="27" y="23"/>
                    </a:lnTo>
                    <a:lnTo>
                      <a:pt x="31" y="21"/>
                    </a:lnTo>
                    <a:lnTo>
                      <a:pt x="35" y="19"/>
                    </a:lnTo>
                    <a:lnTo>
                      <a:pt x="35" y="19"/>
                    </a:lnTo>
                    <a:lnTo>
                      <a:pt x="37" y="19"/>
                    </a:lnTo>
                    <a:lnTo>
                      <a:pt x="37" y="19"/>
                    </a:lnTo>
                    <a:lnTo>
                      <a:pt x="39" y="21"/>
                    </a:lnTo>
                    <a:lnTo>
                      <a:pt x="39" y="21"/>
                    </a:lnTo>
                    <a:lnTo>
                      <a:pt x="41" y="21"/>
                    </a:lnTo>
                    <a:lnTo>
                      <a:pt x="41" y="21"/>
                    </a:lnTo>
                    <a:lnTo>
                      <a:pt x="41" y="25"/>
                    </a:lnTo>
                    <a:lnTo>
                      <a:pt x="39" y="27"/>
                    </a:lnTo>
                    <a:lnTo>
                      <a:pt x="37" y="30"/>
                    </a:lnTo>
                    <a:lnTo>
                      <a:pt x="35" y="34"/>
                    </a:lnTo>
                    <a:lnTo>
                      <a:pt x="33" y="38"/>
                    </a:lnTo>
                    <a:lnTo>
                      <a:pt x="31" y="40"/>
                    </a:lnTo>
                    <a:lnTo>
                      <a:pt x="29" y="42"/>
                    </a:lnTo>
                    <a:lnTo>
                      <a:pt x="29" y="42"/>
                    </a:lnTo>
                    <a:lnTo>
                      <a:pt x="25" y="61"/>
                    </a:lnTo>
                    <a:lnTo>
                      <a:pt x="25" y="61"/>
                    </a:lnTo>
                    <a:lnTo>
                      <a:pt x="25" y="63"/>
                    </a:lnTo>
                    <a:lnTo>
                      <a:pt x="25" y="65"/>
                    </a:lnTo>
                    <a:lnTo>
                      <a:pt x="25" y="67"/>
                    </a:lnTo>
                    <a:lnTo>
                      <a:pt x="25" y="69"/>
                    </a:lnTo>
                    <a:lnTo>
                      <a:pt x="25" y="71"/>
                    </a:lnTo>
                    <a:lnTo>
                      <a:pt x="25" y="73"/>
                    </a:lnTo>
                    <a:lnTo>
                      <a:pt x="25" y="73"/>
                    </a:lnTo>
                    <a:lnTo>
                      <a:pt x="25" y="78"/>
                    </a:lnTo>
                    <a:lnTo>
                      <a:pt x="23" y="82"/>
                    </a:lnTo>
                    <a:lnTo>
                      <a:pt x="18" y="90"/>
                    </a:lnTo>
                    <a:lnTo>
                      <a:pt x="16" y="94"/>
                    </a:lnTo>
                    <a:lnTo>
                      <a:pt x="16" y="100"/>
                    </a:lnTo>
                    <a:lnTo>
                      <a:pt x="14" y="105"/>
                    </a:lnTo>
                    <a:lnTo>
                      <a:pt x="14" y="111"/>
                    </a:lnTo>
                    <a:lnTo>
                      <a:pt x="14" y="111"/>
                    </a:lnTo>
                    <a:lnTo>
                      <a:pt x="16" y="109"/>
                    </a:lnTo>
                    <a:lnTo>
                      <a:pt x="20" y="107"/>
                    </a:lnTo>
                    <a:lnTo>
                      <a:pt x="23" y="103"/>
                    </a:lnTo>
                    <a:lnTo>
                      <a:pt x="27" y="96"/>
                    </a:lnTo>
                    <a:lnTo>
                      <a:pt x="29" y="92"/>
                    </a:lnTo>
                    <a:lnTo>
                      <a:pt x="31" y="86"/>
                    </a:lnTo>
                    <a:lnTo>
                      <a:pt x="35" y="82"/>
                    </a:lnTo>
                    <a:lnTo>
                      <a:pt x="39" y="75"/>
                    </a:lnTo>
                    <a:lnTo>
                      <a:pt x="41" y="73"/>
                    </a:lnTo>
                    <a:lnTo>
                      <a:pt x="43" y="71"/>
                    </a:lnTo>
                    <a:lnTo>
                      <a:pt x="43" y="71"/>
                    </a:lnTo>
                    <a:lnTo>
                      <a:pt x="43" y="71"/>
                    </a:lnTo>
                    <a:lnTo>
                      <a:pt x="43" y="71"/>
                    </a:lnTo>
                    <a:close/>
                    <a:moveTo>
                      <a:pt x="10" y="78"/>
                    </a:moveTo>
                    <a:lnTo>
                      <a:pt x="10" y="78"/>
                    </a:lnTo>
                    <a:lnTo>
                      <a:pt x="12" y="75"/>
                    </a:lnTo>
                    <a:lnTo>
                      <a:pt x="14" y="73"/>
                    </a:lnTo>
                    <a:lnTo>
                      <a:pt x="16" y="71"/>
                    </a:lnTo>
                    <a:lnTo>
                      <a:pt x="18" y="67"/>
                    </a:lnTo>
                    <a:lnTo>
                      <a:pt x="18" y="67"/>
                    </a:lnTo>
                    <a:lnTo>
                      <a:pt x="16" y="67"/>
                    </a:lnTo>
                    <a:lnTo>
                      <a:pt x="14" y="65"/>
                    </a:lnTo>
                    <a:lnTo>
                      <a:pt x="14" y="65"/>
                    </a:lnTo>
                    <a:lnTo>
                      <a:pt x="12" y="69"/>
                    </a:lnTo>
                    <a:lnTo>
                      <a:pt x="8" y="71"/>
                    </a:lnTo>
                    <a:lnTo>
                      <a:pt x="8" y="71"/>
                    </a:lnTo>
                    <a:lnTo>
                      <a:pt x="6" y="73"/>
                    </a:lnTo>
                    <a:lnTo>
                      <a:pt x="6" y="75"/>
                    </a:lnTo>
                    <a:lnTo>
                      <a:pt x="8" y="78"/>
                    </a:lnTo>
                    <a:lnTo>
                      <a:pt x="8" y="78"/>
                    </a:lnTo>
                    <a:lnTo>
                      <a:pt x="10" y="78"/>
                    </a:lnTo>
                    <a:lnTo>
                      <a:pt x="10" y="7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6" name="íś1îḑè">
                <a:extLst>
                  <a:ext uri="{FF2B5EF4-FFF2-40B4-BE49-F238E27FC236}">
                    <a16:creationId xmlns:a16="http://schemas.microsoft.com/office/drawing/2014/main" id="{B1E7A79D-2624-3003-6B99-BB0D70AD610D}"/>
                  </a:ext>
                </a:extLst>
              </p:cNvPr>
              <p:cNvSpPr/>
              <p:nvPr/>
            </p:nvSpPr>
            <p:spPr bwMode="auto">
              <a:xfrm>
                <a:off x="2873376" y="4038601"/>
                <a:ext cx="128588" cy="115888"/>
              </a:xfrm>
              <a:custGeom>
                <a:avLst/>
                <a:gdLst>
                  <a:gd name="T0" fmla="*/ 31 w 81"/>
                  <a:gd name="T1" fmla="*/ 3 h 73"/>
                  <a:gd name="T2" fmla="*/ 39 w 81"/>
                  <a:gd name="T3" fmla="*/ 0 h 73"/>
                  <a:gd name="T4" fmla="*/ 45 w 81"/>
                  <a:gd name="T5" fmla="*/ 0 h 73"/>
                  <a:gd name="T6" fmla="*/ 49 w 81"/>
                  <a:gd name="T7" fmla="*/ 5 h 73"/>
                  <a:gd name="T8" fmla="*/ 54 w 81"/>
                  <a:gd name="T9" fmla="*/ 13 h 73"/>
                  <a:gd name="T10" fmla="*/ 51 w 81"/>
                  <a:gd name="T11" fmla="*/ 19 h 73"/>
                  <a:gd name="T12" fmla="*/ 47 w 81"/>
                  <a:gd name="T13" fmla="*/ 28 h 73"/>
                  <a:gd name="T14" fmla="*/ 43 w 81"/>
                  <a:gd name="T15" fmla="*/ 34 h 73"/>
                  <a:gd name="T16" fmla="*/ 41 w 81"/>
                  <a:gd name="T17" fmla="*/ 34 h 73"/>
                  <a:gd name="T18" fmla="*/ 41 w 81"/>
                  <a:gd name="T19" fmla="*/ 36 h 73"/>
                  <a:gd name="T20" fmla="*/ 45 w 81"/>
                  <a:gd name="T21" fmla="*/ 36 h 73"/>
                  <a:gd name="T22" fmla="*/ 54 w 81"/>
                  <a:gd name="T23" fmla="*/ 32 h 73"/>
                  <a:gd name="T24" fmla="*/ 62 w 81"/>
                  <a:gd name="T25" fmla="*/ 30 h 73"/>
                  <a:gd name="T26" fmla="*/ 74 w 81"/>
                  <a:gd name="T27" fmla="*/ 28 h 73"/>
                  <a:gd name="T28" fmla="*/ 81 w 81"/>
                  <a:gd name="T29" fmla="*/ 30 h 73"/>
                  <a:gd name="T30" fmla="*/ 81 w 81"/>
                  <a:gd name="T31" fmla="*/ 34 h 73"/>
                  <a:gd name="T32" fmla="*/ 81 w 81"/>
                  <a:gd name="T33" fmla="*/ 38 h 73"/>
                  <a:gd name="T34" fmla="*/ 76 w 81"/>
                  <a:gd name="T35" fmla="*/ 44 h 73"/>
                  <a:gd name="T36" fmla="*/ 72 w 81"/>
                  <a:gd name="T37" fmla="*/ 46 h 73"/>
                  <a:gd name="T38" fmla="*/ 60 w 81"/>
                  <a:gd name="T39" fmla="*/ 48 h 73"/>
                  <a:gd name="T40" fmla="*/ 43 w 81"/>
                  <a:gd name="T41" fmla="*/ 55 h 73"/>
                  <a:gd name="T42" fmla="*/ 35 w 81"/>
                  <a:gd name="T43" fmla="*/ 59 h 73"/>
                  <a:gd name="T44" fmla="*/ 29 w 81"/>
                  <a:gd name="T45" fmla="*/ 63 h 73"/>
                  <a:gd name="T46" fmla="*/ 27 w 81"/>
                  <a:gd name="T47" fmla="*/ 63 h 73"/>
                  <a:gd name="T48" fmla="*/ 16 w 81"/>
                  <a:gd name="T49" fmla="*/ 69 h 73"/>
                  <a:gd name="T50" fmla="*/ 10 w 81"/>
                  <a:gd name="T51" fmla="*/ 73 h 73"/>
                  <a:gd name="T52" fmla="*/ 4 w 81"/>
                  <a:gd name="T53" fmla="*/ 73 h 73"/>
                  <a:gd name="T54" fmla="*/ 2 w 81"/>
                  <a:gd name="T55" fmla="*/ 73 h 73"/>
                  <a:gd name="T56" fmla="*/ 0 w 81"/>
                  <a:gd name="T57" fmla="*/ 69 h 73"/>
                  <a:gd name="T58" fmla="*/ 0 w 81"/>
                  <a:gd name="T59" fmla="*/ 65 h 73"/>
                  <a:gd name="T60" fmla="*/ 8 w 81"/>
                  <a:gd name="T61" fmla="*/ 53 h 73"/>
                  <a:gd name="T62" fmla="*/ 12 w 81"/>
                  <a:gd name="T63" fmla="*/ 51 h 73"/>
                  <a:gd name="T64" fmla="*/ 18 w 81"/>
                  <a:gd name="T65" fmla="*/ 48 h 73"/>
                  <a:gd name="T66" fmla="*/ 20 w 81"/>
                  <a:gd name="T67" fmla="*/ 46 h 73"/>
                  <a:gd name="T68" fmla="*/ 27 w 81"/>
                  <a:gd name="T69" fmla="*/ 44 h 73"/>
                  <a:gd name="T70" fmla="*/ 31 w 81"/>
                  <a:gd name="T71" fmla="*/ 40 h 73"/>
                  <a:gd name="T72" fmla="*/ 35 w 81"/>
                  <a:gd name="T73" fmla="*/ 30 h 73"/>
                  <a:gd name="T74" fmla="*/ 37 w 81"/>
                  <a:gd name="T75" fmla="*/ 25 h 73"/>
                  <a:gd name="T76" fmla="*/ 39 w 81"/>
                  <a:gd name="T77" fmla="*/ 19 h 73"/>
                  <a:gd name="T78" fmla="*/ 37 w 81"/>
                  <a:gd name="T79" fmla="*/ 19 h 73"/>
                  <a:gd name="T80" fmla="*/ 35 w 81"/>
                  <a:gd name="T81" fmla="*/ 19 h 73"/>
                  <a:gd name="T82" fmla="*/ 29 w 81"/>
                  <a:gd name="T83" fmla="*/ 25 h 73"/>
                  <a:gd name="T84" fmla="*/ 24 w 81"/>
                  <a:gd name="T85" fmla="*/ 28 h 73"/>
                  <a:gd name="T86" fmla="*/ 18 w 81"/>
                  <a:gd name="T87" fmla="*/ 28 h 73"/>
                  <a:gd name="T88" fmla="*/ 16 w 81"/>
                  <a:gd name="T89" fmla="*/ 25 h 73"/>
                  <a:gd name="T90" fmla="*/ 14 w 81"/>
                  <a:gd name="T91" fmla="*/ 23 h 73"/>
                  <a:gd name="T92" fmla="*/ 16 w 81"/>
                  <a:gd name="T93" fmla="*/ 19 h 73"/>
                  <a:gd name="T94" fmla="*/ 18 w 81"/>
                  <a:gd name="T95" fmla="*/ 15 h 73"/>
                  <a:gd name="T96" fmla="*/ 27 w 81"/>
                  <a:gd name="T97" fmla="*/ 9 h 73"/>
                  <a:gd name="T98" fmla="*/ 31 w 81"/>
                  <a:gd name="T99" fmla="*/ 3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81" h="73">
                    <a:moveTo>
                      <a:pt x="31" y="3"/>
                    </a:moveTo>
                    <a:lnTo>
                      <a:pt x="31" y="3"/>
                    </a:lnTo>
                    <a:lnTo>
                      <a:pt x="35" y="3"/>
                    </a:lnTo>
                    <a:lnTo>
                      <a:pt x="39" y="0"/>
                    </a:lnTo>
                    <a:lnTo>
                      <a:pt x="41" y="0"/>
                    </a:lnTo>
                    <a:lnTo>
                      <a:pt x="45" y="0"/>
                    </a:lnTo>
                    <a:lnTo>
                      <a:pt x="47" y="3"/>
                    </a:lnTo>
                    <a:lnTo>
                      <a:pt x="49" y="5"/>
                    </a:lnTo>
                    <a:lnTo>
                      <a:pt x="51" y="9"/>
                    </a:lnTo>
                    <a:lnTo>
                      <a:pt x="54" y="13"/>
                    </a:lnTo>
                    <a:lnTo>
                      <a:pt x="54" y="13"/>
                    </a:lnTo>
                    <a:lnTo>
                      <a:pt x="51" y="19"/>
                    </a:lnTo>
                    <a:lnTo>
                      <a:pt x="47" y="25"/>
                    </a:lnTo>
                    <a:lnTo>
                      <a:pt x="47" y="28"/>
                    </a:lnTo>
                    <a:lnTo>
                      <a:pt x="45" y="30"/>
                    </a:lnTo>
                    <a:lnTo>
                      <a:pt x="43" y="34"/>
                    </a:lnTo>
                    <a:lnTo>
                      <a:pt x="41" y="34"/>
                    </a:lnTo>
                    <a:lnTo>
                      <a:pt x="41" y="34"/>
                    </a:lnTo>
                    <a:lnTo>
                      <a:pt x="41" y="36"/>
                    </a:lnTo>
                    <a:lnTo>
                      <a:pt x="41" y="36"/>
                    </a:lnTo>
                    <a:lnTo>
                      <a:pt x="41" y="36"/>
                    </a:lnTo>
                    <a:lnTo>
                      <a:pt x="45" y="36"/>
                    </a:lnTo>
                    <a:lnTo>
                      <a:pt x="47" y="34"/>
                    </a:lnTo>
                    <a:lnTo>
                      <a:pt x="54" y="32"/>
                    </a:lnTo>
                    <a:lnTo>
                      <a:pt x="54" y="32"/>
                    </a:lnTo>
                    <a:lnTo>
                      <a:pt x="62" y="30"/>
                    </a:lnTo>
                    <a:lnTo>
                      <a:pt x="68" y="28"/>
                    </a:lnTo>
                    <a:lnTo>
                      <a:pt x="74" y="28"/>
                    </a:lnTo>
                    <a:lnTo>
                      <a:pt x="81" y="30"/>
                    </a:lnTo>
                    <a:lnTo>
                      <a:pt x="81" y="30"/>
                    </a:lnTo>
                    <a:lnTo>
                      <a:pt x="81" y="32"/>
                    </a:lnTo>
                    <a:lnTo>
                      <a:pt x="81" y="34"/>
                    </a:lnTo>
                    <a:lnTo>
                      <a:pt x="81" y="36"/>
                    </a:lnTo>
                    <a:lnTo>
                      <a:pt x="81" y="38"/>
                    </a:lnTo>
                    <a:lnTo>
                      <a:pt x="78" y="42"/>
                    </a:lnTo>
                    <a:lnTo>
                      <a:pt x="76" y="44"/>
                    </a:lnTo>
                    <a:lnTo>
                      <a:pt x="76" y="44"/>
                    </a:lnTo>
                    <a:lnTo>
                      <a:pt x="72" y="46"/>
                    </a:lnTo>
                    <a:lnTo>
                      <a:pt x="66" y="46"/>
                    </a:lnTo>
                    <a:lnTo>
                      <a:pt x="60" y="48"/>
                    </a:lnTo>
                    <a:lnTo>
                      <a:pt x="56" y="51"/>
                    </a:lnTo>
                    <a:lnTo>
                      <a:pt x="43" y="55"/>
                    </a:lnTo>
                    <a:lnTo>
                      <a:pt x="35" y="59"/>
                    </a:lnTo>
                    <a:lnTo>
                      <a:pt x="35" y="59"/>
                    </a:lnTo>
                    <a:lnTo>
                      <a:pt x="31" y="61"/>
                    </a:lnTo>
                    <a:lnTo>
                      <a:pt x="29" y="63"/>
                    </a:lnTo>
                    <a:lnTo>
                      <a:pt x="27" y="63"/>
                    </a:lnTo>
                    <a:lnTo>
                      <a:pt x="27" y="63"/>
                    </a:lnTo>
                    <a:lnTo>
                      <a:pt x="20" y="67"/>
                    </a:lnTo>
                    <a:lnTo>
                      <a:pt x="16" y="69"/>
                    </a:lnTo>
                    <a:lnTo>
                      <a:pt x="12" y="71"/>
                    </a:lnTo>
                    <a:lnTo>
                      <a:pt x="10" y="73"/>
                    </a:lnTo>
                    <a:lnTo>
                      <a:pt x="8" y="73"/>
                    </a:lnTo>
                    <a:lnTo>
                      <a:pt x="4" y="73"/>
                    </a:lnTo>
                    <a:lnTo>
                      <a:pt x="4" y="73"/>
                    </a:lnTo>
                    <a:lnTo>
                      <a:pt x="2" y="73"/>
                    </a:lnTo>
                    <a:lnTo>
                      <a:pt x="2" y="71"/>
                    </a:lnTo>
                    <a:lnTo>
                      <a:pt x="0" y="69"/>
                    </a:lnTo>
                    <a:lnTo>
                      <a:pt x="0" y="65"/>
                    </a:lnTo>
                    <a:lnTo>
                      <a:pt x="0" y="65"/>
                    </a:lnTo>
                    <a:lnTo>
                      <a:pt x="4" y="59"/>
                    </a:lnTo>
                    <a:lnTo>
                      <a:pt x="8" y="53"/>
                    </a:lnTo>
                    <a:lnTo>
                      <a:pt x="8" y="53"/>
                    </a:lnTo>
                    <a:lnTo>
                      <a:pt x="12" y="51"/>
                    </a:lnTo>
                    <a:lnTo>
                      <a:pt x="14" y="48"/>
                    </a:lnTo>
                    <a:lnTo>
                      <a:pt x="18" y="48"/>
                    </a:lnTo>
                    <a:lnTo>
                      <a:pt x="20" y="46"/>
                    </a:lnTo>
                    <a:lnTo>
                      <a:pt x="20" y="46"/>
                    </a:lnTo>
                    <a:lnTo>
                      <a:pt x="24" y="44"/>
                    </a:lnTo>
                    <a:lnTo>
                      <a:pt x="27" y="44"/>
                    </a:lnTo>
                    <a:lnTo>
                      <a:pt x="29" y="42"/>
                    </a:lnTo>
                    <a:lnTo>
                      <a:pt x="31" y="40"/>
                    </a:lnTo>
                    <a:lnTo>
                      <a:pt x="33" y="34"/>
                    </a:lnTo>
                    <a:lnTo>
                      <a:pt x="35" y="30"/>
                    </a:lnTo>
                    <a:lnTo>
                      <a:pt x="35" y="30"/>
                    </a:lnTo>
                    <a:lnTo>
                      <a:pt x="37" y="25"/>
                    </a:lnTo>
                    <a:lnTo>
                      <a:pt x="39" y="21"/>
                    </a:lnTo>
                    <a:lnTo>
                      <a:pt x="39" y="19"/>
                    </a:lnTo>
                    <a:lnTo>
                      <a:pt x="39" y="19"/>
                    </a:lnTo>
                    <a:lnTo>
                      <a:pt x="37" y="19"/>
                    </a:lnTo>
                    <a:lnTo>
                      <a:pt x="37" y="19"/>
                    </a:lnTo>
                    <a:lnTo>
                      <a:pt x="35" y="19"/>
                    </a:lnTo>
                    <a:lnTo>
                      <a:pt x="33" y="21"/>
                    </a:lnTo>
                    <a:lnTo>
                      <a:pt x="29" y="25"/>
                    </a:lnTo>
                    <a:lnTo>
                      <a:pt x="27" y="28"/>
                    </a:lnTo>
                    <a:lnTo>
                      <a:pt x="24" y="28"/>
                    </a:lnTo>
                    <a:lnTo>
                      <a:pt x="22" y="28"/>
                    </a:lnTo>
                    <a:lnTo>
                      <a:pt x="18" y="28"/>
                    </a:lnTo>
                    <a:lnTo>
                      <a:pt x="18" y="28"/>
                    </a:lnTo>
                    <a:lnTo>
                      <a:pt x="16" y="25"/>
                    </a:lnTo>
                    <a:lnTo>
                      <a:pt x="16" y="25"/>
                    </a:lnTo>
                    <a:lnTo>
                      <a:pt x="14" y="23"/>
                    </a:lnTo>
                    <a:lnTo>
                      <a:pt x="14" y="23"/>
                    </a:lnTo>
                    <a:lnTo>
                      <a:pt x="16" y="19"/>
                    </a:lnTo>
                    <a:lnTo>
                      <a:pt x="16" y="17"/>
                    </a:lnTo>
                    <a:lnTo>
                      <a:pt x="18" y="15"/>
                    </a:lnTo>
                    <a:lnTo>
                      <a:pt x="20" y="13"/>
                    </a:lnTo>
                    <a:lnTo>
                      <a:pt x="27" y="9"/>
                    </a:lnTo>
                    <a:lnTo>
                      <a:pt x="29" y="5"/>
                    </a:lnTo>
                    <a:lnTo>
                      <a:pt x="31" y="3"/>
                    </a:lnTo>
                    <a:lnTo>
                      <a:pt x="31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7" name="išḻîdè">
                <a:extLst>
                  <a:ext uri="{FF2B5EF4-FFF2-40B4-BE49-F238E27FC236}">
                    <a16:creationId xmlns:a16="http://schemas.microsoft.com/office/drawing/2014/main" id="{AE06BA5C-DA30-1861-68BD-D358F33710D3}"/>
                  </a:ext>
                </a:extLst>
              </p:cNvPr>
              <p:cNvSpPr/>
              <p:nvPr/>
            </p:nvSpPr>
            <p:spPr bwMode="auto">
              <a:xfrm>
                <a:off x="3073401" y="3887788"/>
                <a:ext cx="177800" cy="201613"/>
              </a:xfrm>
              <a:custGeom>
                <a:avLst/>
                <a:gdLst>
                  <a:gd name="T0" fmla="*/ 48 w 112"/>
                  <a:gd name="T1" fmla="*/ 31 h 127"/>
                  <a:gd name="T2" fmla="*/ 48 w 112"/>
                  <a:gd name="T3" fmla="*/ 35 h 127"/>
                  <a:gd name="T4" fmla="*/ 46 w 112"/>
                  <a:gd name="T5" fmla="*/ 41 h 127"/>
                  <a:gd name="T6" fmla="*/ 38 w 112"/>
                  <a:gd name="T7" fmla="*/ 48 h 127"/>
                  <a:gd name="T8" fmla="*/ 33 w 112"/>
                  <a:gd name="T9" fmla="*/ 54 h 127"/>
                  <a:gd name="T10" fmla="*/ 33 w 112"/>
                  <a:gd name="T11" fmla="*/ 62 h 127"/>
                  <a:gd name="T12" fmla="*/ 33 w 112"/>
                  <a:gd name="T13" fmla="*/ 68 h 127"/>
                  <a:gd name="T14" fmla="*/ 36 w 112"/>
                  <a:gd name="T15" fmla="*/ 73 h 127"/>
                  <a:gd name="T16" fmla="*/ 46 w 112"/>
                  <a:gd name="T17" fmla="*/ 73 h 127"/>
                  <a:gd name="T18" fmla="*/ 58 w 112"/>
                  <a:gd name="T19" fmla="*/ 77 h 127"/>
                  <a:gd name="T20" fmla="*/ 69 w 112"/>
                  <a:gd name="T21" fmla="*/ 79 h 127"/>
                  <a:gd name="T22" fmla="*/ 98 w 112"/>
                  <a:gd name="T23" fmla="*/ 77 h 127"/>
                  <a:gd name="T24" fmla="*/ 112 w 112"/>
                  <a:gd name="T25" fmla="*/ 79 h 127"/>
                  <a:gd name="T26" fmla="*/ 108 w 112"/>
                  <a:gd name="T27" fmla="*/ 83 h 127"/>
                  <a:gd name="T28" fmla="*/ 104 w 112"/>
                  <a:gd name="T29" fmla="*/ 89 h 127"/>
                  <a:gd name="T30" fmla="*/ 102 w 112"/>
                  <a:gd name="T31" fmla="*/ 93 h 127"/>
                  <a:gd name="T32" fmla="*/ 87 w 112"/>
                  <a:gd name="T33" fmla="*/ 98 h 127"/>
                  <a:gd name="T34" fmla="*/ 75 w 112"/>
                  <a:gd name="T35" fmla="*/ 98 h 127"/>
                  <a:gd name="T36" fmla="*/ 58 w 112"/>
                  <a:gd name="T37" fmla="*/ 87 h 127"/>
                  <a:gd name="T38" fmla="*/ 40 w 112"/>
                  <a:gd name="T39" fmla="*/ 77 h 127"/>
                  <a:gd name="T40" fmla="*/ 33 w 112"/>
                  <a:gd name="T41" fmla="*/ 77 h 127"/>
                  <a:gd name="T42" fmla="*/ 38 w 112"/>
                  <a:gd name="T43" fmla="*/ 87 h 127"/>
                  <a:gd name="T44" fmla="*/ 33 w 112"/>
                  <a:gd name="T45" fmla="*/ 102 h 127"/>
                  <a:gd name="T46" fmla="*/ 29 w 112"/>
                  <a:gd name="T47" fmla="*/ 114 h 127"/>
                  <a:gd name="T48" fmla="*/ 27 w 112"/>
                  <a:gd name="T49" fmla="*/ 123 h 127"/>
                  <a:gd name="T50" fmla="*/ 21 w 112"/>
                  <a:gd name="T51" fmla="*/ 127 h 127"/>
                  <a:gd name="T52" fmla="*/ 17 w 112"/>
                  <a:gd name="T53" fmla="*/ 127 h 127"/>
                  <a:gd name="T54" fmla="*/ 15 w 112"/>
                  <a:gd name="T55" fmla="*/ 127 h 127"/>
                  <a:gd name="T56" fmla="*/ 23 w 112"/>
                  <a:gd name="T57" fmla="*/ 108 h 127"/>
                  <a:gd name="T58" fmla="*/ 25 w 112"/>
                  <a:gd name="T59" fmla="*/ 91 h 127"/>
                  <a:gd name="T60" fmla="*/ 25 w 112"/>
                  <a:gd name="T61" fmla="*/ 77 h 127"/>
                  <a:gd name="T62" fmla="*/ 21 w 112"/>
                  <a:gd name="T63" fmla="*/ 68 h 127"/>
                  <a:gd name="T64" fmla="*/ 21 w 112"/>
                  <a:gd name="T65" fmla="*/ 68 h 127"/>
                  <a:gd name="T66" fmla="*/ 11 w 112"/>
                  <a:gd name="T67" fmla="*/ 77 h 127"/>
                  <a:gd name="T68" fmla="*/ 4 w 112"/>
                  <a:gd name="T69" fmla="*/ 77 h 127"/>
                  <a:gd name="T70" fmla="*/ 2 w 112"/>
                  <a:gd name="T71" fmla="*/ 73 h 127"/>
                  <a:gd name="T72" fmla="*/ 19 w 112"/>
                  <a:gd name="T73" fmla="*/ 50 h 127"/>
                  <a:gd name="T74" fmla="*/ 17 w 112"/>
                  <a:gd name="T75" fmla="*/ 43 h 127"/>
                  <a:gd name="T76" fmla="*/ 11 w 112"/>
                  <a:gd name="T77" fmla="*/ 23 h 127"/>
                  <a:gd name="T78" fmla="*/ 9 w 112"/>
                  <a:gd name="T79" fmla="*/ 18 h 127"/>
                  <a:gd name="T80" fmla="*/ 2 w 112"/>
                  <a:gd name="T81" fmla="*/ 8 h 127"/>
                  <a:gd name="T82" fmla="*/ 0 w 112"/>
                  <a:gd name="T83" fmla="*/ 4 h 127"/>
                  <a:gd name="T84" fmla="*/ 6 w 112"/>
                  <a:gd name="T85" fmla="*/ 0 h 127"/>
                  <a:gd name="T86" fmla="*/ 13 w 112"/>
                  <a:gd name="T87" fmla="*/ 4 h 127"/>
                  <a:gd name="T88" fmla="*/ 17 w 112"/>
                  <a:gd name="T89" fmla="*/ 8 h 127"/>
                  <a:gd name="T90" fmla="*/ 23 w 112"/>
                  <a:gd name="T91" fmla="*/ 23 h 127"/>
                  <a:gd name="T92" fmla="*/ 25 w 112"/>
                  <a:gd name="T93" fmla="*/ 39 h 127"/>
                  <a:gd name="T94" fmla="*/ 27 w 112"/>
                  <a:gd name="T95" fmla="*/ 39 h 127"/>
                  <a:gd name="T96" fmla="*/ 36 w 112"/>
                  <a:gd name="T97" fmla="*/ 35 h 127"/>
                  <a:gd name="T98" fmla="*/ 46 w 112"/>
                  <a:gd name="T99" fmla="*/ 29 h 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12" h="127">
                    <a:moveTo>
                      <a:pt x="46" y="29"/>
                    </a:moveTo>
                    <a:lnTo>
                      <a:pt x="46" y="29"/>
                    </a:lnTo>
                    <a:lnTo>
                      <a:pt x="48" y="31"/>
                    </a:lnTo>
                    <a:lnTo>
                      <a:pt x="48" y="33"/>
                    </a:lnTo>
                    <a:lnTo>
                      <a:pt x="48" y="35"/>
                    </a:lnTo>
                    <a:lnTo>
                      <a:pt x="48" y="35"/>
                    </a:lnTo>
                    <a:lnTo>
                      <a:pt x="48" y="37"/>
                    </a:lnTo>
                    <a:lnTo>
                      <a:pt x="46" y="39"/>
                    </a:lnTo>
                    <a:lnTo>
                      <a:pt x="46" y="41"/>
                    </a:lnTo>
                    <a:lnTo>
                      <a:pt x="44" y="41"/>
                    </a:lnTo>
                    <a:lnTo>
                      <a:pt x="42" y="45"/>
                    </a:lnTo>
                    <a:lnTo>
                      <a:pt x="38" y="48"/>
                    </a:lnTo>
                    <a:lnTo>
                      <a:pt x="36" y="50"/>
                    </a:lnTo>
                    <a:lnTo>
                      <a:pt x="33" y="52"/>
                    </a:lnTo>
                    <a:lnTo>
                      <a:pt x="33" y="54"/>
                    </a:lnTo>
                    <a:lnTo>
                      <a:pt x="33" y="56"/>
                    </a:lnTo>
                    <a:lnTo>
                      <a:pt x="31" y="58"/>
                    </a:lnTo>
                    <a:lnTo>
                      <a:pt x="33" y="62"/>
                    </a:lnTo>
                    <a:lnTo>
                      <a:pt x="33" y="64"/>
                    </a:lnTo>
                    <a:lnTo>
                      <a:pt x="33" y="64"/>
                    </a:lnTo>
                    <a:lnTo>
                      <a:pt x="33" y="68"/>
                    </a:lnTo>
                    <a:lnTo>
                      <a:pt x="33" y="70"/>
                    </a:lnTo>
                    <a:lnTo>
                      <a:pt x="36" y="73"/>
                    </a:lnTo>
                    <a:lnTo>
                      <a:pt x="36" y="73"/>
                    </a:lnTo>
                    <a:lnTo>
                      <a:pt x="40" y="70"/>
                    </a:lnTo>
                    <a:lnTo>
                      <a:pt x="44" y="70"/>
                    </a:lnTo>
                    <a:lnTo>
                      <a:pt x="46" y="73"/>
                    </a:lnTo>
                    <a:lnTo>
                      <a:pt x="50" y="73"/>
                    </a:lnTo>
                    <a:lnTo>
                      <a:pt x="56" y="77"/>
                    </a:lnTo>
                    <a:lnTo>
                      <a:pt x="58" y="77"/>
                    </a:lnTo>
                    <a:lnTo>
                      <a:pt x="63" y="79"/>
                    </a:lnTo>
                    <a:lnTo>
                      <a:pt x="63" y="79"/>
                    </a:lnTo>
                    <a:lnTo>
                      <a:pt x="69" y="79"/>
                    </a:lnTo>
                    <a:lnTo>
                      <a:pt x="75" y="79"/>
                    </a:lnTo>
                    <a:lnTo>
                      <a:pt x="85" y="77"/>
                    </a:lnTo>
                    <a:lnTo>
                      <a:pt x="98" y="77"/>
                    </a:lnTo>
                    <a:lnTo>
                      <a:pt x="110" y="77"/>
                    </a:lnTo>
                    <a:lnTo>
                      <a:pt x="110" y="77"/>
                    </a:lnTo>
                    <a:lnTo>
                      <a:pt x="112" y="79"/>
                    </a:lnTo>
                    <a:lnTo>
                      <a:pt x="112" y="79"/>
                    </a:lnTo>
                    <a:lnTo>
                      <a:pt x="108" y="81"/>
                    </a:lnTo>
                    <a:lnTo>
                      <a:pt x="108" y="83"/>
                    </a:lnTo>
                    <a:lnTo>
                      <a:pt x="106" y="83"/>
                    </a:lnTo>
                    <a:lnTo>
                      <a:pt x="104" y="85"/>
                    </a:lnTo>
                    <a:lnTo>
                      <a:pt x="104" y="89"/>
                    </a:lnTo>
                    <a:lnTo>
                      <a:pt x="102" y="91"/>
                    </a:lnTo>
                    <a:lnTo>
                      <a:pt x="102" y="93"/>
                    </a:lnTo>
                    <a:lnTo>
                      <a:pt x="102" y="93"/>
                    </a:lnTo>
                    <a:lnTo>
                      <a:pt x="98" y="95"/>
                    </a:lnTo>
                    <a:lnTo>
                      <a:pt x="94" y="98"/>
                    </a:lnTo>
                    <a:lnTo>
                      <a:pt x="87" y="98"/>
                    </a:lnTo>
                    <a:lnTo>
                      <a:pt x="83" y="98"/>
                    </a:lnTo>
                    <a:lnTo>
                      <a:pt x="79" y="98"/>
                    </a:lnTo>
                    <a:lnTo>
                      <a:pt x="75" y="98"/>
                    </a:lnTo>
                    <a:lnTo>
                      <a:pt x="71" y="95"/>
                    </a:lnTo>
                    <a:lnTo>
                      <a:pt x="67" y="93"/>
                    </a:lnTo>
                    <a:lnTo>
                      <a:pt x="58" y="87"/>
                    </a:lnTo>
                    <a:lnTo>
                      <a:pt x="50" y="83"/>
                    </a:lnTo>
                    <a:lnTo>
                      <a:pt x="44" y="77"/>
                    </a:lnTo>
                    <a:lnTo>
                      <a:pt x="40" y="77"/>
                    </a:lnTo>
                    <a:lnTo>
                      <a:pt x="36" y="75"/>
                    </a:lnTo>
                    <a:lnTo>
                      <a:pt x="36" y="75"/>
                    </a:lnTo>
                    <a:lnTo>
                      <a:pt x="33" y="77"/>
                    </a:lnTo>
                    <a:lnTo>
                      <a:pt x="33" y="77"/>
                    </a:lnTo>
                    <a:lnTo>
                      <a:pt x="36" y="83"/>
                    </a:lnTo>
                    <a:lnTo>
                      <a:pt x="38" y="87"/>
                    </a:lnTo>
                    <a:lnTo>
                      <a:pt x="36" y="91"/>
                    </a:lnTo>
                    <a:lnTo>
                      <a:pt x="36" y="98"/>
                    </a:lnTo>
                    <a:lnTo>
                      <a:pt x="33" y="102"/>
                    </a:lnTo>
                    <a:lnTo>
                      <a:pt x="33" y="106"/>
                    </a:lnTo>
                    <a:lnTo>
                      <a:pt x="29" y="114"/>
                    </a:lnTo>
                    <a:lnTo>
                      <a:pt x="29" y="114"/>
                    </a:lnTo>
                    <a:lnTo>
                      <a:pt x="29" y="118"/>
                    </a:lnTo>
                    <a:lnTo>
                      <a:pt x="27" y="120"/>
                    </a:lnTo>
                    <a:lnTo>
                      <a:pt x="27" y="123"/>
                    </a:lnTo>
                    <a:lnTo>
                      <a:pt x="25" y="125"/>
                    </a:lnTo>
                    <a:lnTo>
                      <a:pt x="23" y="127"/>
                    </a:lnTo>
                    <a:lnTo>
                      <a:pt x="21" y="127"/>
                    </a:lnTo>
                    <a:lnTo>
                      <a:pt x="19" y="127"/>
                    </a:lnTo>
                    <a:lnTo>
                      <a:pt x="19" y="127"/>
                    </a:lnTo>
                    <a:lnTo>
                      <a:pt x="17" y="127"/>
                    </a:lnTo>
                    <a:lnTo>
                      <a:pt x="15" y="127"/>
                    </a:lnTo>
                    <a:lnTo>
                      <a:pt x="15" y="127"/>
                    </a:lnTo>
                    <a:lnTo>
                      <a:pt x="15" y="127"/>
                    </a:lnTo>
                    <a:lnTo>
                      <a:pt x="15" y="127"/>
                    </a:lnTo>
                    <a:lnTo>
                      <a:pt x="21" y="114"/>
                    </a:lnTo>
                    <a:lnTo>
                      <a:pt x="23" y="108"/>
                    </a:lnTo>
                    <a:lnTo>
                      <a:pt x="23" y="102"/>
                    </a:lnTo>
                    <a:lnTo>
                      <a:pt x="25" y="98"/>
                    </a:lnTo>
                    <a:lnTo>
                      <a:pt x="25" y="91"/>
                    </a:lnTo>
                    <a:lnTo>
                      <a:pt x="25" y="83"/>
                    </a:lnTo>
                    <a:lnTo>
                      <a:pt x="25" y="77"/>
                    </a:lnTo>
                    <a:lnTo>
                      <a:pt x="25" y="77"/>
                    </a:lnTo>
                    <a:lnTo>
                      <a:pt x="25" y="75"/>
                    </a:lnTo>
                    <a:lnTo>
                      <a:pt x="25" y="75"/>
                    </a:lnTo>
                    <a:lnTo>
                      <a:pt x="21" y="68"/>
                    </a:lnTo>
                    <a:lnTo>
                      <a:pt x="21" y="68"/>
                    </a:lnTo>
                    <a:lnTo>
                      <a:pt x="21" y="68"/>
                    </a:lnTo>
                    <a:lnTo>
                      <a:pt x="21" y="68"/>
                    </a:lnTo>
                    <a:lnTo>
                      <a:pt x="19" y="73"/>
                    </a:lnTo>
                    <a:lnTo>
                      <a:pt x="15" y="75"/>
                    </a:lnTo>
                    <a:lnTo>
                      <a:pt x="11" y="77"/>
                    </a:lnTo>
                    <a:lnTo>
                      <a:pt x="6" y="79"/>
                    </a:lnTo>
                    <a:lnTo>
                      <a:pt x="6" y="79"/>
                    </a:lnTo>
                    <a:lnTo>
                      <a:pt x="4" y="77"/>
                    </a:lnTo>
                    <a:lnTo>
                      <a:pt x="2" y="75"/>
                    </a:lnTo>
                    <a:lnTo>
                      <a:pt x="2" y="73"/>
                    </a:lnTo>
                    <a:lnTo>
                      <a:pt x="2" y="73"/>
                    </a:lnTo>
                    <a:lnTo>
                      <a:pt x="11" y="62"/>
                    </a:lnTo>
                    <a:lnTo>
                      <a:pt x="15" y="56"/>
                    </a:lnTo>
                    <a:lnTo>
                      <a:pt x="19" y="50"/>
                    </a:lnTo>
                    <a:lnTo>
                      <a:pt x="19" y="50"/>
                    </a:lnTo>
                    <a:lnTo>
                      <a:pt x="17" y="48"/>
                    </a:lnTo>
                    <a:lnTo>
                      <a:pt x="17" y="43"/>
                    </a:lnTo>
                    <a:lnTo>
                      <a:pt x="15" y="37"/>
                    </a:lnTo>
                    <a:lnTo>
                      <a:pt x="13" y="29"/>
                    </a:lnTo>
                    <a:lnTo>
                      <a:pt x="11" y="23"/>
                    </a:lnTo>
                    <a:lnTo>
                      <a:pt x="11" y="23"/>
                    </a:lnTo>
                    <a:lnTo>
                      <a:pt x="11" y="20"/>
                    </a:lnTo>
                    <a:lnTo>
                      <a:pt x="9" y="18"/>
                    </a:lnTo>
                    <a:lnTo>
                      <a:pt x="6" y="14"/>
                    </a:lnTo>
                    <a:lnTo>
                      <a:pt x="2" y="10"/>
                    </a:lnTo>
                    <a:lnTo>
                      <a:pt x="2" y="8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9" y="2"/>
                    </a:lnTo>
                    <a:lnTo>
                      <a:pt x="11" y="2"/>
                    </a:lnTo>
                    <a:lnTo>
                      <a:pt x="13" y="4"/>
                    </a:lnTo>
                    <a:lnTo>
                      <a:pt x="15" y="4"/>
                    </a:lnTo>
                    <a:lnTo>
                      <a:pt x="15" y="4"/>
                    </a:lnTo>
                    <a:lnTo>
                      <a:pt x="17" y="8"/>
                    </a:lnTo>
                    <a:lnTo>
                      <a:pt x="19" y="12"/>
                    </a:lnTo>
                    <a:lnTo>
                      <a:pt x="21" y="16"/>
                    </a:lnTo>
                    <a:lnTo>
                      <a:pt x="23" y="23"/>
                    </a:lnTo>
                    <a:lnTo>
                      <a:pt x="23" y="31"/>
                    </a:lnTo>
                    <a:lnTo>
                      <a:pt x="25" y="39"/>
                    </a:lnTo>
                    <a:lnTo>
                      <a:pt x="25" y="39"/>
                    </a:lnTo>
                    <a:lnTo>
                      <a:pt x="27" y="41"/>
                    </a:lnTo>
                    <a:lnTo>
                      <a:pt x="27" y="41"/>
                    </a:lnTo>
                    <a:lnTo>
                      <a:pt x="27" y="39"/>
                    </a:lnTo>
                    <a:lnTo>
                      <a:pt x="27" y="39"/>
                    </a:lnTo>
                    <a:lnTo>
                      <a:pt x="31" y="37"/>
                    </a:lnTo>
                    <a:lnTo>
                      <a:pt x="36" y="35"/>
                    </a:lnTo>
                    <a:lnTo>
                      <a:pt x="40" y="31"/>
                    </a:lnTo>
                    <a:lnTo>
                      <a:pt x="46" y="29"/>
                    </a:lnTo>
                    <a:lnTo>
                      <a:pt x="46" y="2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8" name="i$ḷiḋé">
                <a:extLst>
                  <a:ext uri="{FF2B5EF4-FFF2-40B4-BE49-F238E27FC236}">
                    <a16:creationId xmlns:a16="http://schemas.microsoft.com/office/drawing/2014/main" id="{019C0D60-E4C3-6527-DDD0-399AD95DA691}"/>
                  </a:ext>
                </a:extLst>
              </p:cNvPr>
              <p:cNvSpPr/>
              <p:nvPr/>
            </p:nvSpPr>
            <p:spPr bwMode="auto">
              <a:xfrm>
                <a:off x="1903413" y="2573338"/>
                <a:ext cx="1714500" cy="1720850"/>
              </a:xfrm>
              <a:custGeom>
                <a:avLst/>
                <a:gdLst>
                  <a:gd name="T0" fmla="*/ 444 w 1080"/>
                  <a:gd name="T1" fmla="*/ 9 h 1084"/>
                  <a:gd name="T2" fmla="*/ 330 w 1080"/>
                  <a:gd name="T3" fmla="*/ 44 h 1084"/>
                  <a:gd name="T4" fmla="*/ 228 w 1080"/>
                  <a:gd name="T5" fmla="*/ 100 h 1084"/>
                  <a:gd name="T6" fmla="*/ 141 w 1080"/>
                  <a:gd name="T7" fmla="*/ 178 h 1084"/>
                  <a:gd name="T8" fmla="*/ 73 w 1080"/>
                  <a:gd name="T9" fmla="*/ 273 h 1084"/>
                  <a:gd name="T10" fmla="*/ 25 w 1080"/>
                  <a:gd name="T11" fmla="*/ 382 h 1084"/>
                  <a:gd name="T12" fmla="*/ 2 w 1080"/>
                  <a:gd name="T13" fmla="*/ 500 h 1084"/>
                  <a:gd name="T14" fmla="*/ 6 w 1080"/>
                  <a:gd name="T15" fmla="*/ 611 h 1084"/>
                  <a:gd name="T16" fmla="*/ 33 w 1080"/>
                  <a:gd name="T17" fmla="*/ 728 h 1084"/>
                  <a:gd name="T18" fmla="*/ 85 w 1080"/>
                  <a:gd name="T19" fmla="*/ 834 h 1084"/>
                  <a:gd name="T20" fmla="*/ 160 w 1080"/>
                  <a:gd name="T21" fmla="*/ 926 h 1084"/>
                  <a:gd name="T22" fmla="*/ 249 w 1080"/>
                  <a:gd name="T23" fmla="*/ 999 h 1084"/>
                  <a:gd name="T24" fmla="*/ 355 w 1080"/>
                  <a:gd name="T25" fmla="*/ 1051 h 1084"/>
                  <a:gd name="T26" fmla="*/ 471 w 1080"/>
                  <a:gd name="T27" fmla="*/ 1080 h 1084"/>
                  <a:gd name="T28" fmla="*/ 581 w 1080"/>
                  <a:gd name="T29" fmla="*/ 1082 h 1084"/>
                  <a:gd name="T30" fmla="*/ 702 w 1080"/>
                  <a:gd name="T31" fmla="*/ 1059 h 1084"/>
                  <a:gd name="T32" fmla="*/ 810 w 1080"/>
                  <a:gd name="T33" fmla="*/ 1011 h 1084"/>
                  <a:gd name="T34" fmla="*/ 903 w 1080"/>
                  <a:gd name="T35" fmla="*/ 942 h 1084"/>
                  <a:gd name="T36" fmla="*/ 980 w 1080"/>
                  <a:gd name="T37" fmla="*/ 855 h 1084"/>
                  <a:gd name="T38" fmla="*/ 1038 w 1080"/>
                  <a:gd name="T39" fmla="*/ 753 h 1084"/>
                  <a:gd name="T40" fmla="*/ 1072 w 1080"/>
                  <a:gd name="T41" fmla="*/ 638 h 1084"/>
                  <a:gd name="T42" fmla="*/ 1080 w 1080"/>
                  <a:gd name="T43" fmla="*/ 528 h 1084"/>
                  <a:gd name="T44" fmla="*/ 1063 w 1080"/>
                  <a:gd name="T45" fmla="*/ 407 h 1084"/>
                  <a:gd name="T46" fmla="*/ 1022 w 1080"/>
                  <a:gd name="T47" fmla="*/ 296 h 1084"/>
                  <a:gd name="T48" fmla="*/ 957 w 1080"/>
                  <a:gd name="T49" fmla="*/ 198 h 1084"/>
                  <a:gd name="T50" fmla="*/ 874 w 1080"/>
                  <a:gd name="T51" fmla="*/ 117 h 1084"/>
                  <a:gd name="T52" fmla="*/ 775 w 1080"/>
                  <a:gd name="T53" fmla="*/ 55 h 1084"/>
                  <a:gd name="T54" fmla="*/ 662 w 1080"/>
                  <a:gd name="T55" fmla="*/ 15 h 1084"/>
                  <a:gd name="T56" fmla="*/ 540 w 1080"/>
                  <a:gd name="T57" fmla="*/ 0 h 1084"/>
                  <a:gd name="T58" fmla="*/ 475 w 1080"/>
                  <a:gd name="T59" fmla="*/ 1051 h 1084"/>
                  <a:gd name="T60" fmla="*/ 365 w 1080"/>
                  <a:gd name="T61" fmla="*/ 1024 h 1084"/>
                  <a:gd name="T62" fmla="*/ 266 w 1080"/>
                  <a:gd name="T63" fmla="*/ 974 h 1084"/>
                  <a:gd name="T64" fmla="*/ 178 w 1080"/>
                  <a:gd name="T65" fmla="*/ 905 h 1084"/>
                  <a:gd name="T66" fmla="*/ 110 w 1080"/>
                  <a:gd name="T67" fmla="*/ 819 h 1084"/>
                  <a:gd name="T68" fmla="*/ 60 w 1080"/>
                  <a:gd name="T69" fmla="*/ 719 h 1084"/>
                  <a:gd name="T70" fmla="*/ 33 w 1080"/>
                  <a:gd name="T71" fmla="*/ 607 h 1084"/>
                  <a:gd name="T72" fmla="*/ 31 w 1080"/>
                  <a:gd name="T73" fmla="*/ 503 h 1084"/>
                  <a:gd name="T74" fmla="*/ 52 w 1080"/>
                  <a:gd name="T75" fmla="*/ 390 h 1084"/>
                  <a:gd name="T76" fmla="*/ 97 w 1080"/>
                  <a:gd name="T77" fmla="*/ 286 h 1084"/>
                  <a:gd name="T78" fmla="*/ 162 w 1080"/>
                  <a:gd name="T79" fmla="*/ 196 h 1084"/>
                  <a:gd name="T80" fmla="*/ 245 w 1080"/>
                  <a:gd name="T81" fmla="*/ 123 h 1084"/>
                  <a:gd name="T82" fmla="*/ 343 w 1080"/>
                  <a:gd name="T83" fmla="*/ 69 h 1084"/>
                  <a:gd name="T84" fmla="*/ 451 w 1080"/>
                  <a:gd name="T85" fmla="*/ 38 h 1084"/>
                  <a:gd name="T86" fmla="*/ 554 w 1080"/>
                  <a:gd name="T87" fmla="*/ 30 h 1084"/>
                  <a:gd name="T88" fmla="*/ 669 w 1080"/>
                  <a:gd name="T89" fmla="*/ 46 h 1084"/>
                  <a:gd name="T90" fmla="*/ 773 w 1080"/>
                  <a:gd name="T91" fmla="*/ 86 h 1084"/>
                  <a:gd name="T92" fmla="*/ 866 w 1080"/>
                  <a:gd name="T93" fmla="*/ 146 h 1084"/>
                  <a:gd name="T94" fmla="*/ 943 w 1080"/>
                  <a:gd name="T95" fmla="*/ 225 h 1084"/>
                  <a:gd name="T96" fmla="*/ 1001 w 1080"/>
                  <a:gd name="T97" fmla="*/ 319 h 1084"/>
                  <a:gd name="T98" fmla="*/ 1038 w 1080"/>
                  <a:gd name="T99" fmla="*/ 425 h 1084"/>
                  <a:gd name="T100" fmla="*/ 1053 w 1080"/>
                  <a:gd name="T101" fmla="*/ 542 h 1084"/>
                  <a:gd name="T102" fmla="*/ 1043 w 1080"/>
                  <a:gd name="T103" fmla="*/ 646 h 1084"/>
                  <a:gd name="T104" fmla="*/ 1007 w 1080"/>
                  <a:gd name="T105" fmla="*/ 753 h 1084"/>
                  <a:gd name="T106" fmla="*/ 951 w 1080"/>
                  <a:gd name="T107" fmla="*/ 848 h 1084"/>
                  <a:gd name="T108" fmla="*/ 876 w 1080"/>
                  <a:gd name="T109" fmla="*/ 930 h 1084"/>
                  <a:gd name="T110" fmla="*/ 785 w 1080"/>
                  <a:gd name="T111" fmla="*/ 992 h 1084"/>
                  <a:gd name="T112" fmla="*/ 681 w 1080"/>
                  <a:gd name="T113" fmla="*/ 1036 h 1084"/>
                  <a:gd name="T114" fmla="*/ 567 w 1080"/>
                  <a:gd name="T115" fmla="*/ 1055 h 10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080" h="1084">
                    <a:moveTo>
                      <a:pt x="540" y="0"/>
                    </a:moveTo>
                    <a:lnTo>
                      <a:pt x="540" y="0"/>
                    </a:lnTo>
                    <a:lnTo>
                      <a:pt x="527" y="0"/>
                    </a:lnTo>
                    <a:lnTo>
                      <a:pt x="513" y="0"/>
                    </a:lnTo>
                    <a:lnTo>
                      <a:pt x="498" y="2"/>
                    </a:lnTo>
                    <a:lnTo>
                      <a:pt x="486" y="2"/>
                    </a:lnTo>
                    <a:lnTo>
                      <a:pt x="471" y="5"/>
                    </a:lnTo>
                    <a:lnTo>
                      <a:pt x="459" y="7"/>
                    </a:lnTo>
                    <a:lnTo>
                      <a:pt x="444" y="9"/>
                    </a:lnTo>
                    <a:lnTo>
                      <a:pt x="432" y="11"/>
                    </a:lnTo>
                    <a:lnTo>
                      <a:pt x="419" y="15"/>
                    </a:lnTo>
                    <a:lnTo>
                      <a:pt x="405" y="17"/>
                    </a:lnTo>
                    <a:lnTo>
                      <a:pt x="392" y="21"/>
                    </a:lnTo>
                    <a:lnTo>
                      <a:pt x="380" y="25"/>
                    </a:lnTo>
                    <a:lnTo>
                      <a:pt x="367" y="30"/>
                    </a:lnTo>
                    <a:lnTo>
                      <a:pt x="355" y="34"/>
                    </a:lnTo>
                    <a:lnTo>
                      <a:pt x="343" y="38"/>
                    </a:lnTo>
                    <a:lnTo>
                      <a:pt x="330" y="44"/>
                    </a:lnTo>
                    <a:lnTo>
                      <a:pt x="318" y="48"/>
                    </a:lnTo>
                    <a:lnTo>
                      <a:pt x="307" y="55"/>
                    </a:lnTo>
                    <a:lnTo>
                      <a:pt x="295" y="61"/>
                    </a:lnTo>
                    <a:lnTo>
                      <a:pt x="282" y="67"/>
                    </a:lnTo>
                    <a:lnTo>
                      <a:pt x="272" y="71"/>
                    </a:lnTo>
                    <a:lnTo>
                      <a:pt x="262" y="80"/>
                    </a:lnTo>
                    <a:lnTo>
                      <a:pt x="249" y="86"/>
                    </a:lnTo>
                    <a:lnTo>
                      <a:pt x="239" y="92"/>
                    </a:lnTo>
                    <a:lnTo>
                      <a:pt x="228" y="100"/>
                    </a:lnTo>
                    <a:lnTo>
                      <a:pt x="218" y="109"/>
                    </a:lnTo>
                    <a:lnTo>
                      <a:pt x="208" y="117"/>
                    </a:lnTo>
                    <a:lnTo>
                      <a:pt x="197" y="123"/>
                    </a:lnTo>
                    <a:lnTo>
                      <a:pt x="187" y="132"/>
                    </a:lnTo>
                    <a:lnTo>
                      <a:pt x="178" y="142"/>
                    </a:lnTo>
                    <a:lnTo>
                      <a:pt x="168" y="150"/>
                    </a:lnTo>
                    <a:lnTo>
                      <a:pt x="160" y="159"/>
                    </a:lnTo>
                    <a:lnTo>
                      <a:pt x="149" y="169"/>
                    </a:lnTo>
                    <a:lnTo>
                      <a:pt x="141" y="178"/>
                    </a:lnTo>
                    <a:lnTo>
                      <a:pt x="133" y="188"/>
                    </a:lnTo>
                    <a:lnTo>
                      <a:pt x="124" y="198"/>
                    </a:lnTo>
                    <a:lnTo>
                      <a:pt x="116" y="209"/>
                    </a:lnTo>
                    <a:lnTo>
                      <a:pt x="108" y="219"/>
                    </a:lnTo>
                    <a:lnTo>
                      <a:pt x="100" y="230"/>
                    </a:lnTo>
                    <a:lnTo>
                      <a:pt x="93" y="240"/>
                    </a:lnTo>
                    <a:lnTo>
                      <a:pt x="85" y="250"/>
                    </a:lnTo>
                    <a:lnTo>
                      <a:pt x="79" y="261"/>
                    </a:lnTo>
                    <a:lnTo>
                      <a:pt x="73" y="273"/>
                    </a:lnTo>
                    <a:lnTo>
                      <a:pt x="66" y="284"/>
                    </a:lnTo>
                    <a:lnTo>
                      <a:pt x="60" y="296"/>
                    </a:lnTo>
                    <a:lnTo>
                      <a:pt x="54" y="307"/>
                    </a:lnTo>
                    <a:lnTo>
                      <a:pt x="50" y="319"/>
                    </a:lnTo>
                    <a:lnTo>
                      <a:pt x="43" y="332"/>
                    </a:lnTo>
                    <a:lnTo>
                      <a:pt x="39" y="344"/>
                    </a:lnTo>
                    <a:lnTo>
                      <a:pt x="33" y="357"/>
                    </a:lnTo>
                    <a:lnTo>
                      <a:pt x="29" y="369"/>
                    </a:lnTo>
                    <a:lnTo>
                      <a:pt x="25" y="382"/>
                    </a:lnTo>
                    <a:lnTo>
                      <a:pt x="21" y="394"/>
                    </a:lnTo>
                    <a:lnTo>
                      <a:pt x="19" y="407"/>
                    </a:lnTo>
                    <a:lnTo>
                      <a:pt x="14" y="419"/>
                    </a:lnTo>
                    <a:lnTo>
                      <a:pt x="12" y="432"/>
                    </a:lnTo>
                    <a:lnTo>
                      <a:pt x="8" y="446"/>
                    </a:lnTo>
                    <a:lnTo>
                      <a:pt x="8" y="459"/>
                    </a:lnTo>
                    <a:lnTo>
                      <a:pt x="6" y="473"/>
                    </a:lnTo>
                    <a:lnTo>
                      <a:pt x="4" y="486"/>
                    </a:lnTo>
                    <a:lnTo>
                      <a:pt x="2" y="500"/>
                    </a:lnTo>
                    <a:lnTo>
                      <a:pt x="2" y="513"/>
                    </a:lnTo>
                    <a:lnTo>
                      <a:pt x="2" y="528"/>
                    </a:lnTo>
                    <a:lnTo>
                      <a:pt x="0" y="542"/>
                    </a:lnTo>
                    <a:lnTo>
                      <a:pt x="0" y="542"/>
                    </a:lnTo>
                    <a:lnTo>
                      <a:pt x="2" y="557"/>
                    </a:lnTo>
                    <a:lnTo>
                      <a:pt x="2" y="569"/>
                    </a:lnTo>
                    <a:lnTo>
                      <a:pt x="2" y="584"/>
                    </a:lnTo>
                    <a:lnTo>
                      <a:pt x="4" y="596"/>
                    </a:lnTo>
                    <a:lnTo>
                      <a:pt x="6" y="611"/>
                    </a:lnTo>
                    <a:lnTo>
                      <a:pt x="8" y="626"/>
                    </a:lnTo>
                    <a:lnTo>
                      <a:pt x="8" y="638"/>
                    </a:lnTo>
                    <a:lnTo>
                      <a:pt x="12" y="651"/>
                    </a:lnTo>
                    <a:lnTo>
                      <a:pt x="14" y="665"/>
                    </a:lnTo>
                    <a:lnTo>
                      <a:pt x="19" y="678"/>
                    </a:lnTo>
                    <a:lnTo>
                      <a:pt x="21" y="690"/>
                    </a:lnTo>
                    <a:lnTo>
                      <a:pt x="25" y="703"/>
                    </a:lnTo>
                    <a:lnTo>
                      <a:pt x="29" y="715"/>
                    </a:lnTo>
                    <a:lnTo>
                      <a:pt x="33" y="728"/>
                    </a:lnTo>
                    <a:lnTo>
                      <a:pt x="39" y="740"/>
                    </a:lnTo>
                    <a:lnTo>
                      <a:pt x="43" y="753"/>
                    </a:lnTo>
                    <a:lnTo>
                      <a:pt x="50" y="765"/>
                    </a:lnTo>
                    <a:lnTo>
                      <a:pt x="54" y="778"/>
                    </a:lnTo>
                    <a:lnTo>
                      <a:pt x="60" y="788"/>
                    </a:lnTo>
                    <a:lnTo>
                      <a:pt x="66" y="801"/>
                    </a:lnTo>
                    <a:lnTo>
                      <a:pt x="73" y="811"/>
                    </a:lnTo>
                    <a:lnTo>
                      <a:pt x="79" y="823"/>
                    </a:lnTo>
                    <a:lnTo>
                      <a:pt x="85" y="834"/>
                    </a:lnTo>
                    <a:lnTo>
                      <a:pt x="93" y="844"/>
                    </a:lnTo>
                    <a:lnTo>
                      <a:pt x="100" y="855"/>
                    </a:lnTo>
                    <a:lnTo>
                      <a:pt x="108" y="865"/>
                    </a:lnTo>
                    <a:lnTo>
                      <a:pt x="116" y="876"/>
                    </a:lnTo>
                    <a:lnTo>
                      <a:pt x="124" y="886"/>
                    </a:lnTo>
                    <a:lnTo>
                      <a:pt x="133" y="896"/>
                    </a:lnTo>
                    <a:lnTo>
                      <a:pt x="141" y="907"/>
                    </a:lnTo>
                    <a:lnTo>
                      <a:pt x="149" y="915"/>
                    </a:lnTo>
                    <a:lnTo>
                      <a:pt x="160" y="926"/>
                    </a:lnTo>
                    <a:lnTo>
                      <a:pt x="168" y="934"/>
                    </a:lnTo>
                    <a:lnTo>
                      <a:pt x="178" y="942"/>
                    </a:lnTo>
                    <a:lnTo>
                      <a:pt x="187" y="951"/>
                    </a:lnTo>
                    <a:lnTo>
                      <a:pt x="197" y="959"/>
                    </a:lnTo>
                    <a:lnTo>
                      <a:pt x="208" y="967"/>
                    </a:lnTo>
                    <a:lnTo>
                      <a:pt x="218" y="976"/>
                    </a:lnTo>
                    <a:lnTo>
                      <a:pt x="228" y="984"/>
                    </a:lnTo>
                    <a:lnTo>
                      <a:pt x="239" y="990"/>
                    </a:lnTo>
                    <a:lnTo>
                      <a:pt x="249" y="999"/>
                    </a:lnTo>
                    <a:lnTo>
                      <a:pt x="262" y="1005"/>
                    </a:lnTo>
                    <a:lnTo>
                      <a:pt x="272" y="1011"/>
                    </a:lnTo>
                    <a:lnTo>
                      <a:pt x="282" y="1017"/>
                    </a:lnTo>
                    <a:lnTo>
                      <a:pt x="295" y="1024"/>
                    </a:lnTo>
                    <a:lnTo>
                      <a:pt x="307" y="1030"/>
                    </a:lnTo>
                    <a:lnTo>
                      <a:pt x="318" y="1036"/>
                    </a:lnTo>
                    <a:lnTo>
                      <a:pt x="330" y="1040"/>
                    </a:lnTo>
                    <a:lnTo>
                      <a:pt x="343" y="1046"/>
                    </a:lnTo>
                    <a:lnTo>
                      <a:pt x="355" y="1051"/>
                    </a:lnTo>
                    <a:lnTo>
                      <a:pt x="367" y="1055"/>
                    </a:lnTo>
                    <a:lnTo>
                      <a:pt x="380" y="1059"/>
                    </a:lnTo>
                    <a:lnTo>
                      <a:pt x="392" y="1063"/>
                    </a:lnTo>
                    <a:lnTo>
                      <a:pt x="405" y="1067"/>
                    </a:lnTo>
                    <a:lnTo>
                      <a:pt x="419" y="1069"/>
                    </a:lnTo>
                    <a:lnTo>
                      <a:pt x="432" y="1074"/>
                    </a:lnTo>
                    <a:lnTo>
                      <a:pt x="444" y="1076"/>
                    </a:lnTo>
                    <a:lnTo>
                      <a:pt x="459" y="1078"/>
                    </a:lnTo>
                    <a:lnTo>
                      <a:pt x="471" y="1080"/>
                    </a:lnTo>
                    <a:lnTo>
                      <a:pt x="486" y="1080"/>
                    </a:lnTo>
                    <a:lnTo>
                      <a:pt x="498" y="1082"/>
                    </a:lnTo>
                    <a:lnTo>
                      <a:pt x="513" y="1084"/>
                    </a:lnTo>
                    <a:lnTo>
                      <a:pt x="527" y="1084"/>
                    </a:lnTo>
                    <a:lnTo>
                      <a:pt x="540" y="1084"/>
                    </a:lnTo>
                    <a:lnTo>
                      <a:pt x="540" y="1084"/>
                    </a:lnTo>
                    <a:lnTo>
                      <a:pt x="554" y="1084"/>
                    </a:lnTo>
                    <a:lnTo>
                      <a:pt x="569" y="1084"/>
                    </a:lnTo>
                    <a:lnTo>
                      <a:pt x="581" y="1082"/>
                    </a:lnTo>
                    <a:lnTo>
                      <a:pt x="596" y="1080"/>
                    </a:lnTo>
                    <a:lnTo>
                      <a:pt x="608" y="1080"/>
                    </a:lnTo>
                    <a:lnTo>
                      <a:pt x="623" y="1078"/>
                    </a:lnTo>
                    <a:lnTo>
                      <a:pt x="635" y="1076"/>
                    </a:lnTo>
                    <a:lnTo>
                      <a:pt x="650" y="1074"/>
                    </a:lnTo>
                    <a:lnTo>
                      <a:pt x="662" y="1069"/>
                    </a:lnTo>
                    <a:lnTo>
                      <a:pt x="675" y="1067"/>
                    </a:lnTo>
                    <a:lnTo>
                      <a:pt x="687" y="1063"/>
                    </a:lnTo>
                    <a:lnTo>
                      <a:pt x="702" y="1059"/>
                    </a:lnTo>
                    <a:lnTo>
                      <a:pt x="714" y="1055"/>
                    </a:lnTo>
                    <a:lnTo>
                      <a:pt x="727" y="1051"/>
                    </a:lnTo>
                    <a:lnTo>
                      <a:pt x="739" y="1046"/>
                    </a:lnTo>
                    <a:lnTo>
                      <a:pt x="750" y="1040"/>
                    </a:lnTo>
                    <a:lnTo>
                      <a:pt x="762" y="1036"/>
                    </a:lnTo>
                    <a:lnTo>
                      <a:pt x="775" y="1030"/>
                    </a:lnTo>
                    <a:lnTo>
                      <a:pt x="787" y="1024"/>
                    </a:lnTo>
                    <a:lnTo>
                      <a:pt x="797" y="1017"/>
                    </a:lnTo>
                    <a:lnTo>
                      <a:pt x="810" y="1011"/>
                    </a:lnTo>
                    <a:lnTo>
                      <a:pt x="820" y="1005"/>
                    </a:lnTo>
                    <a:lnTo>
                      <a:pt x="831" y="999"/>
                    </a:lnTo>
                    <a:lnTo>
                      <a:pt x="843" y="990"/>
                    </a:lnTo>
                    <a:lnTo>
                      <a:pt x="854" y="984"/>
                    </a:lnTo>
                    <a:lnTo>
                      <a:pt x="864" y="976"/>
                    </a:lnTo>
                    <a:lnTo>
                      <a:pt x="874" y="967"/>
                    </a:lnTo>
                    <a:lnTo>
                      <a:pt x="885" y="959"/>
                    </a:lnTo>
                    <a:lnTo>
                      <a:pt x="893" y="951"/>
                    </a:lnTo>
                    <a:lnTo>
                      <a:pt x="903" y="942"/>
                    </a:lnTo>
                    <a:lnTo>
                      <a:pt x="914" y="934"/>
                    </a:lnTo>
                    <a:lnTo>
                      <a:pt x="922" y="926"/>
                    </a:lnTo>
                    <a:lnTo>
                      <a:pt x="932" y="915"/>
                    </a:lnTo>
                    <a:lnTo>
                      <a:pt x="941" y="907"/>
                    </a:lnTo>
                    <a:lnTo>
                      <a:pt x="949" y="896"/>
                    </a:lnTo>
                    <a:lnTo>
                      <a:pt x="957" y="886"/>
                    </a:lnTo>
                    <a:lnTo>
                      <a:pt x="966" y="876"/>
                    </a:lnTo>
                    <a:lnTo>
                      <a:pt x="972" y="865"/>
                    </a:lnTo>
                    <a:lnTo>
                      <a:pt x="980" y="855"/>
                    </a:lnTo>
                    <a:lnTo>
                      <a:pt x="989" y="844"/>
                    </a:lnTo>
                    <a:lnTo>
                      <a:pt x="995" y="834"/>
                    </a:lnTo>
                    <a:lnTo>
                      <a:pt x="1003" y="823"/>
                    </a:lnTo>
                    <a:lnTo>
                      <a:pt x="1009" y="811"/>
                    </a:lnTo>
                    <a:lnTo>
                      <a:pt x="1016" y="801"/>
                    </a:lnTo>
                    <a:lnTo>
                      <a:pt x="1022" y="788"/>
                    </a:lnTo>
                    <a:lnTo>
                      <a:pt x="1028" y="778"/>
                    </a:lnTo>
                    <a:lnTo>
                      <a:pt x="1032" y="765"/>
                    </a:lnTo>
                    <a:lnTo>
                      <a:pt x="1038" y="753"/>
                    </a:lnTo>
                    <a:lnTo>
                      <a:pt x="1043" y="740"/>
                    </a:lnTo>
                    <a:lnTo>
                      <a:pt x="1047" y="728"/>
                    </a:lnTo>
                    <a:lnTo>
                      <a:pt x="1053" y="715"/>
                    </a:lnTo>
                    <a:lnTo>
                      <a:pt x="1057" y="703"/>
                    </a:lnTo>
                    <a:lnTo>
                      <a:pt x="1059" y="690"/>
                    </a:lnTo>
                    <a:lnTo>
                      <a:pt x="1063" y="678"/>
                    </a:lnTo>
                    <a:lnTo>
                      <a:pt x="1067" y="665"/>
                    </a:lnTo>
                    <a:lnTo>
                      <a:pt x="1070" y="651"/>
                    </a:lnTo>
                    <a:lnTo>
                      <a:pt x="1072" y="638"/>
                    </a:lnTo>
                    <a:lnTo>
                      <a:pt x="1074" y="626"/>
                    </a:lnTo>
                    <a:lnTo>
                      <a:pt x="1076" y="611"/>
                    </a:lnTo>
                    <a:lnTo>
                      <a:pt x="1078" y="596"/>
                    </a:lnTo>
                    <a:lnTo>
                      <a:pt x="1080" y="584"/>
                    </a:lnTo>
                    <a:lnTo>
                      <a:pt x="1080" y="569"/>
                    </a:lnTo>
                    <a:lnTo>
                      <a:pt x="1080" y="557"/>
                    </a:lnTo>
                    <a:lnTo>
                      <a:pt x="1080" y="542"/>
                    </a:lnTo>
                    <a:lnTo>
                      <a:pt x="1080" y="542"/>
                    </a:lnTo>
                    <a:lnTo>
                      <a:pt x="1080" y="528"/>
                    </a:lnTo>
                    <a:lnTo>
                      <a:pt x="1080" y="513"/>
                    </a:lnTo>
                    <a:lnTo>
                      <a:pt x="1080" y="500"/>
                    </a:lnTo>
                    <a:lnTo>
                      <a:pt x="1078" y="486"/>
                    </a:lnTo>
                    <a:lnTo>
                      <a:pt x="1076" y="473"/>
                    </a:lnTo>
                    <a:lnTo>
                      <a:pt x="1074" y="459"/>
                    </a:lnTo>
                    <a:lnTo>
                      <a:pt x="1072" y="446"/>
                    </a:lnTo>
                    <a:lnTo>
                      <a:pt x="1070" y="432"/>
                    </a:lnTo>
                    <a:lnTo>
                      <a:pt x="1067" y="419"/>
                    </a:lnTo>
                    <a:lnTo>
                      <a:pt x="1063" y="407"/>
                    </a:lnTo>
                    <a:lnTo>
                      <a:pt x="1059" y="394"/>
                    </a:lnTo>
                    <a:lnTo>
                      <a:pt x="1057" y="382"/>
                    </a:lnTo>
                    <a:lnTo>
                      <a:pt x="1053" y="369"/>
                    </a:lnTo>
                    <a:lnTo>
                      <a:pt x="1047" y="357"/>
                    </a:lnTo>
                    <a:lnTo>
                      <a:pt x="1043" y="344"/>
                    </a:lnTo>
                    <a:lnTo>
                      <a:pt x="1038" y="332"/>
                    </a:lnTo>
                    <a:lnTo>
                      <a:pt x="1032" y="319"/>
                    </a:lnTo>
                    <a:lnTo>
                      <a:pt x="1028" y="307"/>
                    </a:lnTo>
                    <a:lnTo>
                      <a:pt x="1022" y="296"/>
                    </a:lnTo>
                    <a:lnTo>
                      <a:pt x="1016" y="284"/>
                    </a:lnTo>
                    <a:lnTo>
                      <a:pt x="1009" y="273"/>
                    </a:lnTo>
                    <a:lnTo>
                      <a:pt x="1003" y="261"/>
                    </a:lnTo>
                    <a:lnTo>
                      <a:pt x="995" y="250"/>
                    </a:lnTo>
                    <a:lnTo>
                      <a:pt x="989" y="240"/>
                    </a:lnTo>
                    <a:lnTo>
                      <a:pt x="980" y="230"/>
                    </a:lnTo>
                    <a:lnTo>
                      <a:pt x="972" y="219"/>
                    </a:lnTo>
                    <a:lnTo>
                      <a:pt x="966" y="209"/>
                    </a:lnTo>
                    <a:lnTo>
                      <a:pt x="957" y="198"/>
                    </a:lnTo>
                    <a:lnTo>
                      <a:pt x="949" y="188"/>
                    </a:lnTo>
                    <a:lnTo>
                      <a:pt x="941" y="178"/>
                    </a:lnTo>
                    <a:lnTo>
                      <a:pt x="932" y="169"/>
                    </a:lnTo>
                    <a:lnTo>
                      <a:pt x="922" y="159"/>
                    </a:lnTo>
                    <a:lnTo>
                      <a:pt x="914" y="150"/>
                    </a:lnTo>
                    <a:lnTo>
                      <a:pt x="903" y="142"/>
                    </a:lnTo>
                    <a:lnTo>
                      <a:pt x="893" y="132"/>
                    </a:lnTo>
                    <a:lnTo>
                      <a:pt x="885" y="123"/>
                    </a:lnTo>
                    <a:lnTo>
                      <a:pt x="874" y="117"/>
                    </a:lnTo>
                    <a:lnTo>
                      <a:pt x="864" y="109"/>
                    </a:lnTo>
                    <a:lnTo>
                      <a:pt x="854" y="100"/>
                    </a:lnTo>
                    <a:lnTo>
                      <a:pt x="843" y="92"/>
                    </a:lnTo>
                    <a:lnTo>
                      <a:pt x="831" y="86"/>
                    </a:lnTo>
                    <a:lnTo>
                      <a:pt x="820" y="80"/>
                    </a:lnTo>
                    <a:lnTo>
                      <a:pt x="810" y="71"/>
                    </a:lnTo>
                    <a:lnTo>
                      <a:pt x="797" y="67"/>
                    </a:lnTo>
                    <a:lnTo>
                      <a:pt x="787" y="61"/>
                    </a:lnTo>
                    <a:lnTo>
                      <a:pt x="775" y="55"/>
                    </a:lnTo>
                    <a:lnTo>
                      <a:pt x="762" y="48"/>
                    </a:lnTo>
                    <a:lnTo>
                      <a:pt x="750" y="44"/>
                    </a:lnTo>
                    <a:lnTo>
                      <a:pt x="739" y="38"/>
                    </a:lnTo>
                    <a:lnTo>
                      <a:pt x="727" y="34"/>
                    </a:lnTo>
                    <a:lnTo>
                      <a:pt x="714" y="30"/>
                    </a:lnTo>
                    <a:lnTo>
                      <a:pt x="702" y="25"/>
                    </a:lnTo>
                    <a:lnTo>
                      <a:pt x="687" y="21"/>
                    </a:lnTo>
                    <a:lnTo>
                      <a:pt x="675" y="17"/>
                    </a:lnTo>
                    <a:lnTo>
                      <a:pt x="662" y="15"/>
                    </a:lnTo>
                    <a:lnTo>
                      <a:pt x="650" y="11"/>
                    </a:lnTo>
                    <a:lnTo>
                      <a:pt x="635" y="9"/>
                    </a:lnTo>
                    <a:lnTo>
                      <a:pt x="623" y="7"/>
                    </a:lnTo>
                    <a:lnTo>
                      <a:pt x="608" y="5"/>
                    </a:lnTo>
                    <a:lnTo>
                      <a:pt x="596" y="2"/>
                    </a:lnTo>
                    <a:lnTo>
                      <a:pt x="581" y="2"/>
                    </a:lnTo>
                    <a:lnTo>
                      <a:pt x="569" y="0"/>
                    </a:lnTo>
                    <a:lnTo>
                      <a:pt x="554" y="0"/>
                    </a:lnTo>
                    <a:lnTo>
                      <a:pt x="540" y="0"/>
                    </a:lnTo>
                    <a:lnTo>
                      <a:pt x="540" y="0"/>
                    </a:lnTo>
                    <a:lnTo>
                      <a:pt x="540" y="0"/>
                    </a:lnTo>
                    <a:close/>
                    <a:moveTo>
                      <a:pt x="540" y="1055"/>
                    </a:moveTo>
                    <a:lnTo>
                      <a:pt x="540" y="1055"/>
                    </a:lnTo>
                    <a:lnTo>
                      <a:pt x="527" y="1055"/>
                    </a:lnTo>
                    <a:lnTo>
                      <a:pt x="515" y="1055"/>
                    </a:lnTo>
                    <a:lnTo>
                      <a:pt x="500" y="1053"/>
                    </a:lnTo>
                    <a:lnTo>
                      <a:pt x="488" y="1053"/>
                    </a:lnTo>
                    <a:lnTo>
                      <a:pt x="475" y="1051"/>
                    </a:lnTo>
                    <a:lnTo>
                      <a:pt x="463" y="1049"/>
                    </a:lnTo>
                    <a:lnTo>
                      <a:pt x="451" y="1046"/>
                    </a:lnTo>
                    <a:lnTo>
                      <a:pt x="438" y="1044"/>
                    </a:lnTo>
                    <a:lnTo>
                      <a:pt x="426" y="1042"/>
                    </a:lnTo>
                    <a:lnTo>
                      <a:pt x="413" y="1038"/>
                    </a:lnTo>
                    <a:lnTo>
                      <a:pt x="401" y="1036"/>
                    </a:lnTo>
                    <a:lnTo>
                      <a:pt x="388" y="1032"/>
                    </a:lnTo>
                    <a:lnTo>
                      <a:pt x="376" y="1028"/>
                    </a:lnTo>
                    <a:lnTo>
                      <a:pt x="365" y="1024"/>
                    </a:lnTo>
                    <a:lnTo>
                      <a:pt x="353" y="1019"/>
                    </a:lnTo>
                    <a:lnTo>
                      <a:pt x="343" y="1015"/>
                    </a:lnTo>
                    <a:lnTo>
                      <a:pt x="330" y="1009"/>
                    </a:lnTo>
                    <a:lnTo>
                      <a:pt x="318" y="1005"/>
                    </a:lnTo>
                    <a:lnTo>
                      <a:pt x="307" y="999"/>
                    </a:lnTo>
                    <a:lnTo>
                      <a:pt x="297" y="992"/>
                    </a:lnTo>
                    <a:lnTo>
                      <a:pt x="286" y="988"/>
                    </a:lnTo>
                    <a:lnTo>
                      <a:pt x="276" y="982"/>
                    </a:lnTo>
                    <a:lnTo>
                      <a:pt x="266" y="974"/>
                    </a:lnTo>
                    <a:lnTo>
                      <a:pt x="255" y="967"/>
                    </a:lnTo>
                    <a:lnTo>
                      <a:pt x="245" y="961"/>
                    </a:lnTo>
                    <a:lnTo>
                      <a:pt x="235" y="953"/>
                    </a:lnTo>
                    <a:lnTo>
                      <a:pt x="224" y="946"/>
                    </a:lnTo>
                    <a:lnTo>
                      <a:pt x="216" y="938"/>
                    </a:lnTo>
                    <a:lnTo>
                      <a:pt x="205" y="930"/>
                    </a:lnTo>
                    <a:lnTo>
                      <a:pt x="197" y="921"/>
                    </a:lnTo>
                    <a:lnTo>
                      <a:pt x="187" y="913"/>
                    </a:lnTo>
                    <a:lnTo>
                      <a:pt x="178" y="905"/>
                    </a:lnTo>
                    <a:lnTo>
                      <a:pt x="170" y="896"/>
                    </a:lnTo>
                    <a:lnTo>
                      <a:pt x="162" y="886"/>
                    </a:lnTo>
                    <a:lnTo>
                      <a:pt x="154" y="878"/>
                    </a:lnTo>
                    <a:lnTo>
                      <a:pt x="145" y="869"/>
                    </a:lnTo>
                    <a:lnTo>
                      <a:pt x="139" y="859"/>
                    </a:lnTo>
                    <a:lnTo>
                      <a:pt x="131" y="848"/>
                    </a:lnTo>
                    <a:lnTo>
                      <a:pt x="124" y="840"/>
                    </a:lnTo>
                    <a:lnTo>
                      <a:pt x="116" y="830"/>
                    </a:lnTo>
                    <a:lnTo>
                      <a:pt x="110" y="819"/>
                    </a:lnTo>
                    <a:lnTo>
                      <a:pt x="104" y="809"/>
                    </a:lnTo>
                    <a:lnTo>
                      <a:pt x="97" y="798"/>
                    </a:lnTo>
                    <a:lnTo>
                      <a:pt x="91" y="786"/>
                    </a:lnTo>
                    <a:lnTo>
                      <a:pt x="85" y="776"/>
                    </a:lnTo>
                    <a:lnTo>
                      <a:pt x="79" y="765"/>
                    </a:lnTo>
                    <a:lnTo>
                      <a:pt x="75" y="753"/>
                    </a:lnTo>
                    <a:lnTo>
                      <a:pt x="70" y="742"/>
                    </a:lnTo>
                    <a:lnTo>
                      <a:pt x="64" y="730"/>
                    </a:lnTo>
                    <a:lnTo>
                      <a:pt x="60" y="719"/>
                    </a:lnTo>
                    <a:lnTo>
                      <a:pt x="56" y="707"/>
                    </a:lnTo>
                    <a:lnTo>
                      <a:pt x="52" y="694"/>
                    </a:lnTo>
                    <a:lnTo>
                      <a:pt x="50" y="682"/>
                    </a:lnTo>
                    <a:lnTo>
                      <a:pt x="46" y="671"/>
                    </a:lnTo>
                    <a:lnTo>
                      <a:pt x="41" y="659"/>
                    </a:lnTo>
                    <a:lnTo>
                      <a:pt x="39" y="646"/>
                    </a:lnTo>
                    <a:lnTo>
                      <a:pt x="37" y="634"/>
                    </a:lnTo>
                    <a:lnTo>
                      <a:pt x="35" y="621"/>
                    </a:lnTo>
                    <a:lnTo>
                      <a:pt x="33" y="607"/>
                    </a:lnTo>
                    <a:lnTo>
                      <a:pt x="31" y="594"/>
                    </a:lnTo>
                    <a:lnTo>
                      <a:pt x="31" y="582"/>
                    </a:lnTo>
                    <a:lnTo>
                      <a:pt x="29" y="569"/>
                    </a:lnTo>
                    <a:lnTo>
                      <a:pt x="29" y="555"/>
                    </a:lnTo>
                    <a:lnTo>
                      <a:pt x="29" y="542"/>
                    </a:lnTo>
                    <a:lnTo>
                      <a:pt x="29" y="542"/>
                    </a:lnTo>
                    <a:lnTo>
                      <a:pt x="29" y="530"/>
                    </a:lnTo>
                    <a:lnTo>
                      <a:pt x="29" y="515"/>
                    </a:lnTo>
                    <a:lnTo>
                      <a:pt x="31" y="503"/>
                    </a:lnTo>
                    <a:lnTo>
                      <a:pt x="31" y="490"/>
                    </a:lnTo>
                    <a:lnTo>
                      <a:pt x="33" y="478"/>
                    </a:lnTo>
                    <a:lnTo>
                      <a:pt x="35" y="463"/>
                    </a:lnTo>
                    <a:lnTo>
                      <a:pt x="37" y="450"/>
                    </a:lnTo>
                    <a:lnTo>
                      <a:pt x="39" y="438"/>
                    </a:lnTo>
                    <a:lnTo>
                      <a:pt x="41" y="425"/>
                    </a:lnTo>
                    <a:lnTo>
                      <a:pt x="46" y="413"/>
                    </a:lnTo>
                    <a:lnTo>
                      <a:pt x="50" y="403"/>
                    </a:lnTo>
                    <a:lnTo>
                      <a:pt x="52" y="390"/>
                    </a:lnTo>
                    <a:lnTo>
                      <a:pt x="56" y="378"/>
                    </a:lnTo>
                    <a:lnTo>
                      <a:pt x="60" y="365"/>
                    </a:lnTo>
                    <a:lnTo>
                      <a:pt x="64" y="355"/>
                    </a:lnTo>
                    <a:lnTo>
                      <a:pt x="70" y="342"/>
                    </a:lnTo>
                    <a:lnTo>
                      <a:pt x="75" y="332"/>
                    </a:lnTo>
                    <a:lnTo>
                      <a:pt x="79" y="319"/>
                    </a:lnTo>
                    <a:lnTo>
                      <a:pt x="85" y="309"/>
                    </a:lnTo>
                    <a:lnTo>
                      <a:pt x="91" y="298"/>
                    </a:lnTo>
                    <a:lnTo>
                      <a:pt x="97" y="286"/>
                    </a:lnTo>
                    <a:lnTo>
                      <a:pt x="104" y="275"/>
                    </a:lnTo>
                    <a:lnTo>
                      <a:pt x="110" y="265"/>
                    </a:lnTo>
                    <a:lnTo>
                      <a:pt x="116" y="255"/>
                    </a:lnTo>
                    <a:lnTo>
                      <a:pt x="124" y="244"/>
                    </a:lnTo>
                    <a:lnTo>
                      <a:pt x="131" y="236"/>
                    </a:lnTo>
                    <a:lnTo>
                      <a:pt x="139" y="225"/>
                    </a:lnTo>
                    <a:lnTo>
                      <a:pt x="145" y="215"/>
                    </a:lnTo>
                    <a:lnTo>
                      <a:pt x="154" y="207"/>
                    </a:lnTo>
                    <a:lnTo>
                      <a:pt x="162" y="196"/>
                    </a:lnTo>
                    <a:lnTo>
                      <a:pt x="170" y="188"/>
                    </a:lnTo>
                    <a:lnTo>
                      <a:pt x="178" y="180"/>
                    </a:lnTo>
                    <a:lnTo>
                      <a:pt x="187" y="171"/>
                    </a:lnTo>
                    <a:lnTo>
                      <a:pt x="197" y="163"/>
                    </a:lnTo>
                    <a:lnTo>
                      <a:pt x="205" y="155"/>
                    </a:lnTo>
                    <a:lnTo>
                      <a:pt x="216" y="146"/>
                    </a:lnTo>
                    <a:lnTo>
                      <a:pt x="224" y="138"/>
                    </a:lnTo>
                    <a:lnTo>
                      <a:pt x="235" y="132"/>
                    </a:lnTo>
                    <a:lnTo>
                      <a:pt x="245" y="123"/>
                    </a:lnTo>
                    <a:lnTo>
                      <a:pt x="255" y="117"/>
                    </a:lnTo>
                    <a:lnTo>
                      <a:pt x="266" y="111"/>
                    </a:lnTo>
                    <a:lnTo>
                      <a:pt x="276" y="103"/>
                    </a:lnTo>
                    <a:lnTo>
                      <a:pt x="286" y="96"/>
                    </a:lnTo>
                    <a:lnTo>
                      <a:pt x="297" y="92"/>
                    </a:lnTo>
                    <a:lnTo>
                      <a:pt x="307" y="86"/>
                    </a:lnTo>
                    <a:lnTo>
                      <a:pt x="318" y="80"/>
                    </a:lnTo>
                    <a:lnTo>
                      <a:pt x="330" y="73"/>
                    </a:lnTo>
                    <a:lnTo>
                      <a:pt x="343" y="69"/>
                    </a:lnTo>
                    <a:lnTo>
                      <a:pt x="353" y="65"/>
                    </a:lnTo>
                    <a:lnTo>
                      <a:pt x="365" y="61"/>
                    </a:lnTo>
                    <a:lnTo>
                      <a:pt x="376" y="57"/>
                    </a:lnTo>
                    <a:lnTo>
                      <a:pt x="388" y="52"/>
                    </a:lnTo>
                    <a:lnTo>
                      <a:pt x="401" y="48"/>
                    </a:lnTo>
                    <a:lnTo>
                      <a:pt x="413" y="46"/>
                    </a:lnTo>
                    <a:lnTo>
                      <a:pt x="426" y="42"/>
                    </a:lnTo>
                    <a:lnTo>
                      <a:pt x="438" y="40"/>
                    </a:lnTo>
                    <a:lnTo>
                      <a:pt x="451" y="38"/>
                    </a:lnTo>
                    <a:lnTo>
                      <a:pt x="463" y="36"/>
                    </a:lnTo>
                    <a:lnTo>
                      <a:pt x="475" y="34"/>
                    </a:lnTo>
                    <a:lnTo>
                      <a:pt x="488" y="32"/>
                    </a:lnTo>
                    <a:lnTo>
                      <a:pt x="500" y="30"/>
                    </a:lnTo>
                    <a:lnTo>
                      <a:pt x="515" y="30"/>
                    </a:lnTo>
                    <a:lnTo>
                      <a:pt x="527" y="30"/>
                    </a:lnTo>
                    <a:lnTo>
                      <a:pt x="540" y="30"/>
                    </a:lnTo>
                    <a:lnTo>
                      <a:pt x="540" y="30"/>
                    </a:lnTo>
                    <a:lnTo>
                      <a:pt x="554" y="30"/>
                    </a:lnTo>
                    <a:lnTo>
                      <a:pt x="567" y="30"/>
                    </a:lnTo>
                    <a:lnTo>
                      <a:pt x="579" y="30"/>
                    </a:lnTo>
                    <a:lnTo>
                      <a:pt x="592" y="32"/>
                    </a:lnTo>
                    <a:lnTo>
                      <a:pt x="606" y="34"/>
                    </a:lnTo>
                    <a:lnTo>
                      <a:pt x="619" y="36"/>
                    </a:lnTo>
                    <a:lnTo>
                      <a:pt x="631" y="38"/>
                    </a:lnTo>
                    <a:lnTo>
                      <a:pt x="644" y="40"/>
                    </a:lnTo>
                    <a:lnTo>
                      <a:pt x="656" y="42"/>
                    </a:lnTo>
                    <a:lnTo>
                      <a:pt x="669" y="46"/>
                    </a:lnTo>
                    <a:lnTo>
                      <a:pt x="681" y="48"/>
                    </a:lnTo>
                    <a:lnTo>
                      <a:pt x="694" y="52"/>
                    </a:lnTo>
                    <a:lnTo>
                      <a:pt x="704" y="57"/>
                    </a:lnTo>
                    <a:lnTo>
                      <a:pt x="716" y="61"/>
                    </a:lnTo>
                    <a:lnTo>
                      <a:pt x="729" y="65"/>
                    </a:lnTo>
                    <a:lnTo>
                      <a:pt x="739" y="69"/>
                    </a:lnTo>
                    <a:lnTo>
                      <a:pt x="752" y="73"/>
                    </a:lnTo>
                    <a:lnTo>
                      <a:pt x="762" y="80"/>
                    </a:lnTo>
                    <a:lnTo>
                      <a:pt x="773" y="86"/>
                    </a:lnTo>
                    <a:lnTo>
                      <a:pt x="785" y="92"/>
                    </a:lnTo>
                    <a:lnTo>
                      <a:pt x="795" y="96"/>
                    </a:lnTo>
                    <a:lnTo>
                      <a:pt x="806" y="103"/>
                    </a:lnTo>
                    <a:lnTo>
                      <a:pt x="816" y="111"/>
                    </a:lnTo>
                    <a:lnTo>
                      <a:pt x="827" y="117"/>
                    </a:lnTo>
                    <a:lnTo>
                      <a:pt x="837" y="123"/>
                    </a:lnTo>
                    <a:lnTo>
                      <a:pt x="847" y="132"/>
                    </a:lnTo>
                    <a:lnTo>
                      <a:pt x="856" y="138"/>
                    </a:lnTo>
                    <a:lnTo>
                      <a:pt x="866" y="146"/>
                    </a:lnTo>
                    <a:lnTo>
                      <a:pt x="876" y="155"/>
                    </a:lnTo>
                    <a:lnTo>
                      <a:pt x="885" y="163"/>
                    </a:lnTo>
                    <a:lnTo>
                      <a:pt x="893" y="171"/>
                    </a:lnTo>
                    <a:lnTo>
                      <a:pt x="901" y="180"/>
                    </a:lnTo>
                    <a:lnTo>
                      <a:pt x="912" y="188"/>
                    </a:lnTo>
                    <a:lnTo>
                      <a:pt x="920" y="196"/>
                    </a:lnTo>
                    <a:lnTo>
                      <a:pt x="926" y="207"/>
                    </a:lnTo>
                    <a:lnTo>
                      <a:pt x="935" y="215"/>
                    </a:lnTo>
                    <a:lnTo>
                      <a:pt x="943" y="225"/>
                    </a:lnTo>
                    <a:lnTo>
                      <a:pt x="951" y="236"/>
                    </a:lnTo>
                    <a:lnTo>
                      <a:pt x="957" y="244"/>
                    </a:lnTo>
                    <a:lnTo>
                      <a:pt x="966" y="255"/>
                    </a:lnTo>
                    <a:lnTo>
                      <a:pt x="972" y="265"/>
                    </a:lnTo>
                    <a:lnTo>
                      <a:pt x="978" y="275"/>
                    </a:lnTo>
                    <a:lnTo>
                      <a:pt x="984" y="286"/>
                    </a:lnTo>
                    <a:lnTo>
                      <a:pt x="991" y="298"/>
                    </a:lnTo>
                    <a:lnTo>
                      <a:pt x="997" y="309"/>
                    </a:lnTo>
                    <a:lnTo>
                      <a:pt x="1001" y="319"/>
                    </a:lnTo>
                    <a:lnTo>
                      <a:pt x="1007" y="332"/>
                    </a:lnTo>
                    <a:lnTo>
                      <a:pt x="1011" y="342"/>
                    </a:lnTo>
                    <a:lnTo>
                      <a:pt x="1018" y="355"/>
                    </a:lnTo>
                    <a:lnTo>
                      <a:pt x="1022" y="365"/>
                    </a:lnTo>
                    <a:lnTo>
                      <a:pt x="1026" y="378"/>
                    </a:lnTo>
                    <a:lnTo>
                      <a:pt x="1028" y="390"/>
                    </a:lnTo>
                    <a:lnTo>
                      <a:pt x="1032" y="403"/>
                    </a:lnTo>
                    <a:lnTo>
                      <a:pt x="1036" y="413"/>
                    </a:lnTo>
                    <a:lnTo>
                      <a:pt x="1038" y="425"/>
                    </a:lnTo>
                    <a:lnTo>
                      <a:pt x="1043" y="438"/>
                    </a:lnTo>
                    <a:lnTo>
                      <a:pt x="1045" y="450"/>
                    </a:lnTo>
                    <a:lnTo>
                      <a:pt x="1047" y="463"/>
                    </a:lnTo>
                    <a:lnTo>
                      <a:pt x="1049" y="478"/>
                    </a:lnTo>
                    <a:lnTo>
                      <a:pt x="1049" y="490"/>
                    </a:lnTo>
                    <a:lnTo>
                      <a:pt x="1051" y="503"/>
                    </a:lnTo>
                    <a:lnTo>
                      <a:pt x="1051" y="515"/>
                    </a:lnTo>
                    <a:lnTo>
                      <a:pt x="1053" y="530"/>
                    </a:lnTo>
                    <a:lnTo>
                      <a:pt x="1053" y="542"/>
                    </a:lnTo>
                    <a:lnTo>
                      <a:pt x="1053" y="542"/>
                    </a:lnTo>
                    <a:lnTo>
                      <a:pt x="1053" y="555"/>
                    </a:lnTo>
                    <a:lnTo>
                      <a:pt x="1051" y="569"/>
                    </a:lnTo>
                    <a:lnTo>
                      <a:pt x="1051" y="582"/>
                    </a:lnTo>
                    <a:lnTo>
                      <a:pt x="1049" y="594"/>
                    </a:lnTo>
                    <a:lnTo>
                      <a:pt x="1049" y="607"/>
                    </a:lnTo>
                    <a:lnTo>
                      <a:pt x="1047" y="621"/>
                    </a:lnTo>
                    <a:lnTo>
                      <a:pt x="1045" y="634"/>
                    </a:lnTo>
                    <a:lnTo>
                      <a:pt x="1043" y="646"/>
                    </a:lnTo>
                    <a:lnTo>
                      <a:pt x="1038" y="659"/>
                    </a:lnTo>
                    <a:lnTo>
                      <a:pt x="1036" y="671"/>
                    </a:lnTo>
                    <a:lnTo>
                      <a:pt x="1032" y="682"/>
                    </a:lnTo>
                    <a:lnTo>
                      <a:pt x="1028" y="694"/>
                    </a:lnTo>
                    <a:lnTo>
                      <a:pt x="1026" y="707"/>
                    </a:lnTo>
                    <a:lnTo>
                      <a:pt x="1022" y="719"/>
                    </a:lnTo>
                    <a:lnTo>
                      <a:pt x="1018" y="730"/>
                    </a:lnTo>
                    <a:lnTo>
                      <a:pt x="1011" y="742"/>
                    </a:lnTo>
                    <a:lnTo>
                      <a:pt x="1007" y="753"/>
                    </a:lnTo>
                    <a:lnTo>
                      <a:pt x="1001" y="765"/>
                    </a:lnTo>
                    <a:lnTo>
                      <a:pt x="997" y="776"/>
                    </a:lnTo>
                    <a:lnTo>
                      <a:pt x="991" y="786"/>
                    </a:lnTo>
                    <a:lnTo>
                      <a:pt x="984" y="798"/>
                    </a:lnTo>
                    <a:lnTo>
                      <a:pt x="978" y="809"/>
                    </a:lnTo>
                    <a:lnTo>
                      <a:pt x="972" y="819"/>
                    </a:lnTo>
                    <a:lnTo>
                      <a:pt x="966" y="830"/>
                    </a:lnTo>
                    <a:lnTo>
                      <a:pt x="957" y="840"/>
                    </a:lnTo>
                    <a:lnTo>
                      <a:pt x="951" y="848"/>
                    </a:lnTo>
                    <a:lnTo>
                      <a:pt x="943" y="859"/>
                    </a:lnTo>
                    <a:lnTo>
                      <a:pt x="935" y="869"/>
                    </a:lnTo>
                    <a:lnTo>
                      <a:pt x="926" y="878"/>
                    </a:lnTo>
                    <a:lnTo>
                      <a:pt x="920" y="886"/>
                    </a:lnTo>
                    <a:lnTo>
                      <a:pt x="912" y="896"/>
                    </a:lnTo>
                    <a:lnTo>
                      <a:pt x="901" y="905"/>
                    </a:lnTo>
                    <a:lnTo>
                      <a:pt x="893" y="913"/>
                    </a:lnTo>
                    <a:lnTo>
                      <a:pt x="885" y="921"/>
                    </a:lnTo>
                    <a:lnTo>
                      <a:pt x="876" y="930"/>
                    </a:lnTo>
                    <a:lnTo>
                      <a:pt x="866" y="938"/>
                    </a:lnTo>
                    <a:lnTo>
                      <a:pt x="856" y="946"/>
                    </a:lnTo>
                    <a:lnTo>
                      <a:pt x="847" y="953"/>
                    </a:lnTo>
                    <a:lnTo>
                      <a:pt x="837" y="961"/>
                    </a:lnTo>
                    <a:lnTo>
                      <a:pt x="827" y="967"/>
                    </a:lnTo>
                    <a:lnTo>
                      <a:pt x="816" y="974"/>
                    </a:lnTo>
                    <a:lnTo>
                      <a:pt x="806" y="982"/>
                    </a:lnTo>
                    <a:lnTo>
                      <a:pt x="795" y="988"/>
                    </a:lnTo>
                    <a:lnTo>
                      <a:pt x="785" y="992"/>
                    </a:lnTo>
                    <a:lnTo>
                      <a:pt x="773" y="999"/>
                    </a:lnTo>
                    <a:lnTo>
                      <a:pt x="762" y="1005"/>
                    </a:lnTo>
                    <a:lnTo>
                      <a:pt x="752" y="1009"/>
                    </a:lnTo>
                    <a:lnTo>
                      <a:pt x="739" y="1015"/>
                    </a:lnTo>
                    <a:lnTo>
                      <a:pt x="729" y="1019"/>
                    </a:lnTo>
                    <a:lnTo>
                      <a:pt x="716" y="1024"/>
                    </a:lnTo>
                    <a:lnTo>
                      <a:pt x="704" y="1028"/>
                    </a:lnTo>
                    <a:lnTo>
                      <a:pt x="694" y="1032"/>
                    </a:lnTo>
                    <a:lnTo>
                      <a:pt x="681" y="1036"/>
                    </a:lnTo>
                    <a:lnTo>
                      <a:pt x="669" y="1038"/>
                    </a:lnTo>
                    <a:lnTo>
                      <a:pt x="656" y="1042"/>
                    </a:lnTo>
                    <a:lnTo>
                      <a:pt x="644" y="1044"/>
                    </a:lnTo>
                    <a:lnTo>
                      <a:pt x="631" y="1046"/>
                    </a:lnTo>
                    <a:lnTo>
                      <a:pt x="619" y="1049"/>
                    </a:lnTo>
                    <a:lnTo>
                      <a:pt x="606" y="1051"/>
                    </a:lnTo>
                    <a:lnTo>
                      <a:pt x="592" y="1053"/>
                    </a:lnTo>
                    <a:lnTo>
                      <a:pt x="579" y="1053"/>
                    </a:lnTo>
                    <a:lnTo>
                      <a:pt x="567" y="1055"/>
                    </a:lnTo>
                    <a:lnTo>
                      <a:pt x="554" y="1055"/>
                    </a:lnTo>
                    <a:lnTo>
                      <a:pt x="540" y="1055"/>
                    </a:lnTo>
                    <a:lnTo>
                      <a:pt x="540" y="105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9" name="iş1íḋé">
                <a:extLst>
                  <a:ext uri="{FF2B5EF4-FFF2-40B4-BE49-F238E27FC236}">
                    <a16:creationId xmlns:a16="http://schemas.microsoft.com/office/drawing/2014/main" id="{994479FC-B4B0-0136-D145-A69F3CBB661E}"/>
                  </a:ext>
                </a:extLst>
              </p:cNvPr>
              <p:cNvSpPr/>
              <p:nvPr/>
            </p:nvSpPr>
            <p:spPr bwMode="auto">
              <a:xfrm>
                <a:off x="2246313" y="2890838"/>
                <a:ext cx="1028700" cy="520700"/>
              </a:xfrm>
              <a:custGeom>
                <a:avLst/>
                <a:gdLst>
                  <a:gd name="T0" fmla="*/ 646 w 648"/>
                  <a:gd name="T1" fmla="*/ 296 h 328"/>
                  <a:gd name="T2" fmla="*/ 629 w 648"/>
                  <a:gd name="T3" fmla="*/ 228 h 328"/>
                  <a:gd name="T4" fmla="*/ 596 w 648"/>
                  <a:gd name="T5" fmla="*/ 163 h 328"/>
                  <a:gd name="T6" fmla="*/ 550 w 648"/>
                  <a:gd name="T7" fmla="*/ 109 h 328"/>
                  <a:gd name="T8" fmla="*/ 496 w 648"/>
                  <a:gd name="T9" fmla="*/ 65 h 328"/>
                  <a:gd name="T10" fmla="*/ 432 w 648"/>
                  <a:gd name="T11" fmla="*/ 34 h 328"/>
                  <a:gd name="T12" fmla="*/ 361 w 648"/>
                  <a:gd name="T13" fmla="*/ 19 h 328"/>
                  <a:gd name="T14" fmla="*/ 349 w 648"/>
                  <a:gd name="T15" fmla="*/ 3 h 328"/>
                  <a:gd name="T16" fmla="*/ 316 w 648"/>
                  <a:gd name="T17" fmla="*/ 0 h 328"/>
                  <a:gd name="T18" fmla="*/ 289 w 648"/>
                  <a:gd name="T19" fmla="*/ 5 h 328"/>
                  <a:gd name="T20" fmla="*/ 245 w 648"/>
                  <a:gd name="T21" fmla="*/ 25 h 328"/>
                  <a:gd name="T22" fmla="*/ 178 w 648"/>
                  <a:gd name="T23" fmla="*/ 50 h 328"/>
                  <a:gd name="T24" fmla="*/ 118 w 648"/>
                  <a:gd name="T25" fmla="*/ 90 h 328"/>
                  <a:gd name="T26" fmla="*/ 70 w 648"/>
                  <a:gd name="T27" fmla="*/ 140 h 328"/>
                  <a:gd name="T28" fmla="*/ 33 w 648"/>
                  <a:gd name="T29" fmla="*/ 200 h 328"/>
                  <a:gd name="T30" fmla="*/ 8 w 648"/>
                  <a:gd name="T31" fmla="*/ 267 h 328"/>
                  <a:gd name="T32" fmla="*/ 66 w 648"/>
                  <a:gd name="T33" fmla="*/ 328 h 328"/>
                  <a:gd name="T34" fmla="*/ 73 w 648"/>
                  <a:gd name="T35" fmla="*/ 282 h 328"/>
                  <a:gd name="T36" fmla="*/ 91 w 648"/>
                  <a:gd name="T37" fmla="*/ 230 h 328"/>
                  <a:gd name="T38" fmla="*/ 120 w 648"/>
                  <a:gd name="T39" fmla="*/ 182 h 328"/>
                  <a:gd name="T40" fmla="*/ 158 w 648"/>
                  <a:gd name="T41" fmla="*/ 142 h 328"/>
                  <a:gd name="T42" fmla="*/ 203 w 648"/>
                  <a:gd name="T43" fmla="*/ 113 h 328"/>
                  <a:gd name="T44" fmla="*/ 255 w 648"/>
                  <a:gd name="T45" fmla="*/ 92 h 328"/>
                  <a:gd name="T46" fmla="*/ 289 w 648"/>
                  <a:gd name="T47" fmla="*/ 111 h 328"/>
                  <a:gd name="T48" fmla="*/ 282 w 648"/>
                  <a:gd name="T49" fmla="*/ 121 h 328"/>
                  <a:gd name="T50" fmla="*/ 270 w 648"/>
                  <a:gd name="T51" fmla="*/ 130 h 328"/>
                  <a:gd name="T52" fmla="*/ 230 w 648"/>
                  <a:gd name="T53" fmla="*/ 144 h 328"/>
                  <a:gd name="T54" fmla="*/ 193 w 648"/>
                  <a:gd name="T55" fmla="*/ 167 h 328"/>
                  <a:gd name="T56" fmla="*/ 162 w 648"/>
                  <a:gd name="T57" fmla="*/ 194 h 328"/>
                  <a:gd name="T58" fmla="*/ 137 w 648"/>
                  <a:gd name="T59" fmla="*/ 228 h 328"/>
                  <a:gd name="T60" fmla="*/ 118 w 648"/>
                  <a:gd name="T61" fmla="*/ 267 h 328"/>
                  <a:gd name="T62" fmla="*/ 108 w 648"/>
                  <a:gd name="T63" fmla="*/ 309 h 328"/>
                  <a:gd name="T64" fmla="*/ 166 w 648"/>
                  <a:gd name="T65" fmla="*/ 319 h 328"/>
                  <a:gd name="T66" fmla="*/ 176 w 648"/>
                  <a:gd name="T67" fmla="*/ 284 h 328"/>
                  <a:gd name="T68" fmla="*/ 193 w 648"/>
                  <a:gd name="T69" fmla="*/ 250 h 328"/>
                  <a:gd name="T70" fmla="*/ 216 w 648"/>
                  <a:gd name="T71" fmla="*/ 223 h 328"/>
                  <a:gd name="T72" fmla="*/ 245 w 648"/>
                  <a:gd name="T73" fmla="*/ 203 h 328"/>
                  <a:gd name="T74" fmla="*/ 280 w 648"/>
                  <a:gd name="T75" fmla="*/ 188 h 328"/>
                  <a:gd name="T76" fmla="*/ 318 w 648"/>
                  <a:gd name="T77" fmla="*/ 182 h 328"/>
                  <a:gd name="T78" fmla="*/ 347 w 648"/>
                  <a:gd name="T79" fmla="*/ 182 h 328"/>
                  <a:gd name="T80" fmla="*/ 384 w 648"/>
                  <a:gd name="T81" fmla="*/ 192 h 328"/>
                  <a:gd name="T82" fmla="*/ 415 w 648"/>
                  <a:gd name="T83" fmla="*/ 209 h 328"/>
                  <a:gd name="T84" fmla="*/ 442 w 648"/>
                  <a:gd name="T85" fmla="*/ 234 h 328"/>
                  <a:gd name="T86" fmla="*/ 465 w 648"/>
                  <a:gd name="T87" fmla="*/ 263 h 328"/>
                  <a:gd name="T88" fmla="*/ 478 w 648"/>
                  <a:gd name="T89" fmla="*/ 296 h 328"/>
                  <a:gd name="T90" fmla="*/ 544 w 648"/>
                  <a:gd name="T91" fmla="*/ 328 h 328"/>
                  <a:gd name="T92" fmla="*/ 538 w 648"/>
                  <a:gd name="T93" fmla="*/ 292 h 328"/>
                  <a:gd name="T94" fmla="*/ 523 w 648"/>
                  <a:gd name="T95" fmla="*/ 250 h 328"/>
                  <a:gd name="T96" fmla="*/ 503 w 648"/>
                  <a:gd name="T97" fmla="*/ 215 h 328"/>
                  <a:gd name="T98" fmla="*/ 476 w 648"/>
                  <a:gd name="T99" fmla="*/ 184 h 328"/>
                  <a:gd name="T100" fmla="*/ 442 w 648"/>
                  <a:gd name="T101" fmla="*/ 157 h 328"/>
                  <a:gd name="T102" fmla="*/ 405 w 648"/>
                  <a:gd name="T103" fmla="*/ 138 h 328"/>
                  <a:gd name="T104" fmla="*/ 378 w 648"/>
                  <a:gd name="T105" fmla="*/ 130 h 328"/>
                  <a:gd name="T106" fmla="*/ 363 w 648"/>
                  <a:gd name="T107" fmla="*/ 117 h 328"/>
                  <a:gd name="T108" fmla="*/ 361 w 648"/>
                  <a:gd name="T109" fmla="*/ 86 h 328"/>
                  <a:gd name="T110" fmla="*/ 405 w 648"/>
                  <a:gd name="T111" fmla="*/ 94 h 328"/>
                  <a:gd name="T112" fmla="*/ 455 w 648"/>
                  <a:gd name="T113" fmla="*/ 117 h 328"/>
                  <a:gd name="T114" fmla="*/ 498 w 648"/>
                  <a:gd name="T115" fmla="*/ 150 h 328"/>
                  <a:gd name="T116" fmla="*/ 534 w 648"/>
                  <a:gd name="T117" fmla="*/ 192 h 328"/>
                  <a:gd name="T118" fmla="*/ 563 w 648"/>
                  <a:gd name="T119" fmla="*/ 238 h 328"/>
                  <a:gd name="T120" fmla="*/ 579 w 648"/>
                  <a:gd name="T121" fmla="*/ 292 h 3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648" h="328">
                    <a:moveTo>
                      <a:pt x="584" y="328"/>
                    </a:moveTo>
                    <a:lnTo>
                      <a:pt x="648" y="328"/>
                    </a:lnTo>
                    <a:lnTo>
                      <a:pt x="648" y="328"/>
                    </a:lnTo>
                    <a:lnTo>
                      <a:pt x="648" y="311"/>
                    </a:lnTo>
                    <a:lnTo>
                      <a:pt x="646" y="296"/>
                    </a:lnTo>
                    <a:lnTo>
                      <a:pt x="644" y="282"/>
                    </a:lnTo>
                    <a:lnTo>
                      <a:pt x="640" y="267"/>
                    </a:lnTo>
                    <a:lnTo>
                      <a:pt x="638" y="255"/>
                    </a:lnTo>
                    <a:lnTo>
                      <a:pt x="633" y="240"/>
                    </a:lnTo>
                    <a:lnTo>
                      <a:pt x="629" y="228"/>
                    </a:lnTo>
                    <a:lnTo>
                      <a:pt x="623" y="213"/>
                    </a:lnTo>
                    <a:lnTo>
                      <a:pt x="617" y="200"/>
                    </a:lnTo>
                    <a:lnTo>
                      <a:pt x="611" y="188"/>
                    </a:lnTo>
                    <a:lnTo>
                      <a:pt x="604" y="175"/>
                    </a:lnTo>
                    <a:lnTo>
                      <a:pt x="596" y="163"/>
                    </a:lnTo>
                    <a:lnTo>
                      <a:pt x="588" y="150"/>
                    </a:lnTo>
                    <a:lnTo>
                      <a:pt x="579" y="140"/>
                    </a:lnTo>
                    <a:lnTo>
                      <a:pt x="571" y="130"/>
                    </a:lnTo>
                    <a:lnTo>
                      <a:pt x="561" y="119"/>
                    </a:lnTo>
                    <a:lnTo>
                      <a:pt x="550" y="109"/>
                    </a:lnTo>
                    <a:lnTo>
                      <a:pt x="540" y="98"/>
                    </a:lnTo>
                    <a:lnTo>
                      <a:pt x="530" y="90"/>
                    </a:lnTo>
                    <a:lnTo>
                      <a:pt x="519" y="82"/>
                    </a:lnTo>
                    <a:lnTo>
                      <a:pt x="507" y="73"/>
                    </a:lnTo>
                    <a:lnTo>
                      <a:pt x="496" y="65"/>
                    </a:lnTo>
                    <a:lnTo>
                      <a:pt x="484" y="59"/>
                    </a:lnTo>
                    <a:lnTo>
                      <a:pt x="471" y="50"/>
                    </a:lnTo>
                    <a:lnTo>
                      <a:pt x="457" y="44"/>
                    </a:lnTo>
                    <a:lnTo>
                      <a:pt x="444" y="40"/>
                    </a:lnTo>
                    <a:lnTo>
                      <a:pt x="432" y="34"/>
                    </a:lnTo>
                    <a:lnTo>
                      <a:pt x="417" y="30"/>
                    </a:lnTo>
                    <a:lnTo>
                      <a:pt x="403" y="25"/>
                    </a:lnTo>
                    <a:lnTo>
                      <a:pt x="390" y="23"/>
                    </a:lnTo>
                    <a:lnTo>
                      <a:pt x="376" y="21"/>
                    </a:lnTo>
                    <a:lnTo>
                      <a:pt x="361" y="19"/>
                    </a:lnTo>
                    <a:lnTo>
                      <a:pt x="361" y="5"/>
                    </a:lnTo>
                    <a:lnTo>
                      <a:pt x="361" y="5"/>
                    </a:lnTo>
                    <a:lnTo>
                      <a:pt x="359" y="5"/>
                    </a:lnTo>
                    <a:lnTo>
                      <a:pt x="353" y="3"/>
                    </a:lnTo>
                    <a:lnTo>
                      <a:pt x="349" y="3"/>
                    </a:lnTo>
                    <a:lnTo>
                      <a:pt x="343" y="0"/>
                    </a:lnTo>
                    <a:lnTo>
                      <a:pt x="334" y="0"/>
                    </a:lnTo>
                    <a:lnTo>
                      <a:pt x="326" y="0"/>
                    </a:lnTo>
                    <a:lnTo>
                      <a:pt x="326" y="0"/>
                    </a:lnTo>
                    <a:lnTo>
                      <a:pt x="316" y="0"/>
                    </a:lnTo>
                    <a:lnTo>
                      <a:pt x="307" y="0"/>
                    </a:lnTo>
                    <a:lnTo>
                      <a:pt x="299" y="3"/>
                    </a:lnTo>
                    <a:lnTo>
                      <a:pt x="295" y="3"/>
                    </a:lnTo>
                    <a:lnTo>
                      <a:pt x="291" y="3"/>
                    </a:lnTo>
                    <a:lnTo>
                      <a:pt x="289" y="5"/>
                    </a:lnTo>
                    <a:lnTo>
                      <a:pt x="289" y="19"/>
                    </a:lnTo>
                    <a:lnTo>
                      <a:pt x="289" y="19"/>
                    </a:lnTo>
                    <a:lnTo>
                      <a:pt x="274" y="21"/>
                    </a:lnTo>
                    <a:lnTo>
                      <a:pt x="259" y="23"/>
                    </a:lnTo>
                    <a:lnTo>
                      <a:pt x="245" y="25"/>
                    </a:lnTo>
                    <a:lnTo>
                      <a:pt x="230" y="30"/>
                    </a:lnTo>
                    <a:lnTo>
                      <a:pt x="218" y="34"/>
                    </a:lnTo>
                    <a:lnTo>
                      <a:pt x="203" y="40"/>
                    </a:lnTo>
                    <a:lnTo>
                      <a:pt x="191" y="44"/>
                    </a:lnTo>
                    <a:lnTo>
                      <a:pt x="178" y="50"/>
                    </a:lnTo>
                    <a:lnTo>
                      <a:pt x="166" y="59"/>
                    </a:lnTo>
                    <a:lnTo>
                      <a:pt x="154" y="65"/>
                    </a:lnTo>
                    <a:lnTo>
                      <a:pt x="141" y="73"/>
                    </a:lnTo>
                    <a:lnTo>
                      <a:pt x="131" y="82"/>
                    </a:lnTo>
                    <a:lnTo>
                      <a:pt x="118" y="90"/>
                    </a:lnTo>
                    <a:lnTo>
                      <a:pt x="108" y="98"/>
                    </a:lnTo>
                    <a:lnTo>
                      <a:pt x="97" y="109"/>
                    </a:lnTo>
                    <a:lnTo>
                      <a:pt x="89" y="119"/>
                    </a:lnTo>
                    <a:lnTo>
                      <a:pt x="79" y="130"/>
                    </a:lnTo>
                    <a:lnTo>
                      <a:pt x="70" y="140"/>
                    </a:lnTo>
                    <a:lnTo>
                      <a:pt x="62" y="150"/>
                    </a:lnTo>
                    <a:lnTo>
                      <a:pt x="54" y="163"/>
                    </a:lnTo>
                    <a:lnTo>
                      <a:pt x="46" y="175"/>
                    </a:lnTo>
                    <a:lnTo>
                      <a:pt x="39" y="188"/>
                    </a:lnTo>
                    <a:lnTo>
                      <a:pt x="33" y="200"/>
                    </a:lnTo>
                    <a:lnTo>
                      <a:pt x="27" y="213"/>
                    </a:lnTo>
                    <a:lnTo>
                      <a:pt x="21" y="228"/>
                    </a:lnTo>
                    <a:lnTo>
                      <a:pt x="16" y="240"/>
                    </a:lnTo>
                    <a:lnTo>
                      <a:pt x="12" y="255"/>
                    </a:lnTo>
                    <a:lnTo>
                      <a:pt x="8" y="267"/>
                    </a:lnTo>
                    <a:lnTo>
                      <a:pt x="6" y="282"/>
                    </a:lnTo>
                    <a:lnTo>
                      <a:pt x="4" y="296"/>
                    </a:lnTo>
                    <a:lnTo>
                      <a:pt x="2" y="311"/>
                    </a:lnTo>
                    <a:lnTo>
                      <a:pt x="0" y="328"/>
                    </a:lnTo>
                    <a:lnTo>
                      <a:pt x="66" y="328"/>
                    </a:lnTo>
                    <a:lnTo>
                      <a:pt x="66" y="328"/>
                    </a:lnTo>
                    <a:lnTo>
                      <a:pt x="66" y="315"/>
                    </a:lnTo>
                    <a:lnTo>
                      <a:pt x="68" y="305"/>
                    </a:lnTo>
                    <a:lnTo>
                      <a:pt x="70" y="292"/>
                    </a:lnTo>
                    <a:lnTo>
                      <a:pt x="73" y="282"/>
                    </a:lnTo>
                    <a:lnTo>
                      <a:pt x="77" y="271"/>
                    </a:lnTo>
                    <a:lnTo>
                      <a:pt x="79" y="259"/>
                    </a:lnTo>
                    <a:lnTo>
                      <a:pt x="83" y="248"/>
                    </a:lnTo>
                    <a:lnTo>
                      <a:pt x="87" y="238"/>
                    </a:lnTo>
                    <a:lnTo>
                      <a:pt x="91" y="230"/>
                    </a:lnTo>
                    <a:lnTo>
                      <a:pt x="97" y="219"/>
                    </a:lnTo>
                    <a:lnTo>
                      <a:pt x="102" y="209"/>
                    </a:lnTo>
                    <a:lnTo>
                      <a:pt x="108" y="200"/>
                    </a:lnTo>
                    <a:lnTo>
                      <a:pt x="114" y="192"/>
                    </a:lnTo>
                    <a:lnTo>
                      <a:pt x="120" y="182"/>
                    </a:lnTo>
                    <a:lnTo>
                      <a:pt x="127" y="173"/>
                    </a:lnTo>
                    <a:lnTo>
                      <a:pt x="135" y="165"/>
                    </a:lnTo>
                    <a:lnTo>
                      <a:pt x="143" y="159"/>
                    </a:lnTo>
                    <a:lnTo>
                      <a:pt x="151" y="150"/>
                    </a:lnTo>
                    <a:lnTo>
                      <a:pt x="158" y="142"/>
                    </a:lnTo>
                    <a:lnTo>
                      <a:pt x="168" y="136"/>
                    </a:lnTo>
                    <a:lnTo>
                      <a:pt x="176" y="130"/>
                    </a:lnTo>
                    <a:lnTo>
                      <a:pt x="185" y="123"/>
                    </a:lnTo>
                    <a:lnTo>
                      <a:pt x="195" y="117"/>
                    </a:lnTo>
                    <a:lnTo>
                      <a:pt x="203" y="113"/>
                    </a:lnTo>
                    <a:lnTo>
                      <a:pt x="214" y="107"/>
                    </a:lnTo>
                    <a:lnTo>
                      <a:pt x="224" y="103"/>
                    </a:lnTo>
                    <a:lnTo>
                      <a:pt x="235" y="98"/>
                    </a:lnTo>
                    <a:lnTo>
                      <a:pt x="245" y="94"/>
                    </a:lnTo>
                    <a:lnTo>
                      <a:pt x="255" y="92"/>
                    </a:lnTo>
                    <a:lnTo>
                      <a:pt x="266" y="90"/>
                    </a:lnTo>
                    <a:lnTo>
                      <a:pt x="278" y="88"/>
                    </a:lnTo>
                    <a:lnTo>
                      <a:pt x="289" y="86"/>
                    </a:lnTo>
                    <a:lnTo>
                      <a:pt x="289" y="86"/>
                    </a:lnTo>
                    <a:lnTo>
                      <a:pt x="289" y="111"/>
                    </a:lnTo>
                    <a:lnTo>
                      <a:pt x="289" y="111"/>
                    </a:lnTo>
                    <a:lnTo>
                      <a:pt x="289" y="113"/>
                    </a:lnTo>
                    <a:lnTo>
                      <a:pt x="286" y="115"/>
                    </a:lnTo>
                    <a:lnTo>
                      <a:pt x="284" y="119"/>
                    </a:lnTo>
                    <a:lnTo>
                      <a:pt x="282" y="121"/>
                    </a:lnTo>
                    <a:lnTo>
                      <a:pt x="278" y="125"/>
                    </a:lnTo>
                    <a:lnTo>
                      <a:pt x="276" y="128"/>
                    </a:lnTo>
                    <a:lnTo>
                      <a:pt x="272" y="128"/>
                    </a:lnTo>
                    <a:lnTo>
                      <a:pt x="270" y="130"/>
                    </a:lnTo>
                    <a:lnTo>
                      <a:pt x="270" y="130"/>
                    </a:lnTo>
                    <a:lnTo>
                      <a:pt x="262" y="132"/>
                    </a:lnTo>
                    <a:lnTo>
                      <a:pt x="253" y="134"/>
                    </a:lnTo>
                    <a:lnTo>
                      <a:pt x="245" y="138"/>
                    </a:lnTo>
                    <a:lnTo>
                      <a:pt x="239" y="140"/>
                    </a:lnTo>
                    <a:lnTo>
                      <a:pt x="230" y="144"/>
                    </a:lnTo>
                    <a:lnTo>
                      <a:pt x="222" y="148"/>
                    </a:lnTo>
                    <a:lnTo>
                      <a:pt x="214" y="153"/>
                    </a:lnTo>
                    <a:lnTo>
                      <a:pt x="208" y="157"/>
                    </a:lnTo>
                    <a:lnTo>
                      <a:pt x="201" y="161"/>
                    </a:lnTo>
                    <a:lnTo>
                      <a:pt x="193" y="167"/>
                    </a:lnTo>
                    <a:lnTo>
                      <a:pt x="187" y="171"/>
                    </a:lnTo>
                    <a:lnTo>
                      <a:pt x="181" y="175"/>
                    </a:lnTo>
                    <a:lnTo>
                      <a:pt x="174" y="182"/>
                    </a:lnTo>
                    <a:lnTo>
                      <a:pt x="168" y="188"/>
                    </a:lnTo>
                    <a:lnTo>
                      <a:pt x="162" y="194"/>
                    </a:lnTo>
                    <a:lnTo>
                      <a:pt x="158" y="200"/>
                    </a:lnTo>
                    <a:lnTo>
                      <a:pt x="151" y="207"/>
                    </a:lnTo>
                    <a:lnTo>
                      <a:pt x="147" y="215"/>
                    </a:lnTo>
                    <a:lnTo>
                      <a:pt x="141" y="221"/>
                    </a:lnTo>
                    <a:lnTo>
                      <a:pt x="137" y="228"/>
                    </a:lnTo>
                    <a:lnTo>
                      <a:pt x="133" y="236"/>
                    </a:lnTo>
                    <a:lnTo>
                      <a:pt x="129" y="242"/>
                    </a:lnTo>
                    <a:lnTo>
                      <a:pt x="124" y="250"/>
                    </a:lnTo>
                    <a:lnTo>
                      <a:pt x="122" y="259"/>
                    </a:lnTo>
                    <a:lnTo>
                      <a:pt x="118" y="267"/>
                    </a:lnTo>
                    <a:lnTo>
                      <a:pt x="116" y="275"/>
                    </a:lnTo>
                    <a:lnTo>
                      <a:pt x="114" y="284"/>
                    </a:lnTo>
                    <a:lnTo>
                      <a:pt x="112" y="292"/>
                    </a:lnTo>
                    <a:lnTo>
                      <a:pt x="110" y="300"/>
                    </a:lnTo>
                    <a:lnTo>
                      <a:pt x="108" y="309"/>
                    </a:lnTo>
                    <a:lnTo>
                      <a:pt x="108" y="317"/>
                    </a:lnTo>
                    <a:lnTo>
                      <a:pt x="106" y="328"/>
                    </a:lnTo>
                    <a:lnTo>
                      <a:pt x="164" y="328"/>
                    </a:lnTo>
                    <a:lnTo>
                      <a:pt x="164" y="328"/>
                    </a:lnTo>
                    <a:lnTo>
                      <a:pt x="166" y="319"/>
                    </a:lnTo>
                    <a:lnTo>
                      <a:pt x="168" y="311"/>
                    </a:lnTo>
                    <a:lnTo>
                      <a:pt x="168" y="305"/>
                    </a:lnTo>
                    <a:lnTo>
                      <a:pt x="170" y="296"/>
                    </a:lnTo>
                    <a:lnTo>
                      <a:pt x="172" y="290"/>
                    </a:lnTo>
                    <a:lnTo>
                      <a:pt x="176" y="284"/>
                    </a:lnTo>
                    <a:lnTo>
                      <a:pt x="178" y="275"/>
                    </a:lnTo>
                    <a:lnTo>
                      <a:pt x="181" y="269"/>
                    </a:lnTo>
                    <a:lnTo>
                      <a:pt x="185" y="263"/>
                    </a:lnTo>
                    <a:lnTo>
                      <a:pt x="189" y="257"/>
                    </a:lnTo>
                    <a:lnTo>
                      <a:pt x="193" y="250"/>
                    </a:lnTo>
                    <a:lnTo>
                      <a:pt x="197" y="244"/>
                    </a:lnTo>
                    <a:lnTo>
                      <a:pt x="201" y="238"/>
                    </a:lnTo>
                    <a:lnTo>
                      <a:pt x="205" y="234"/>
                    </a:lnTo>
                    <a:lnTo>
                      <a:pt x="212" y="228"/>
                    </a:lnTo>
                    <a:lnTo>
                      <a:pt x="216" y="223"/>
                    </a:lnTo>
                    <a:lnTo>
                      <a:pt x="222" y="219"/>
                    </a:lnTo>
                    <a:lnTo>
                      <a:pt x="228" y="213"/>
                    </a:lnTo>
                    <a:lnTo>
                      <a:pt x="235" y="209"/>
                    </a:lnTo>
                    <a:lnTo>
                      <a:pt x="239" y="207"/>
                    </a:lnTo>
                    <a:lnTo>
                      <a:pt x="245" y="203"/>
                    </a:lnTo>
                    <a:lnTo>
                      <a:pt x="251" y="198"/>
                    </a:lnTo>
                    <a:lnTo>
                      <a:pt x="259" y="196"/>
                    </a:lnTo>
                    <a:lnTo>
                      <a:pt x="266" y="192"/>
                    </a:lnTo>
                    <a:lnTo>
                      <a:pt x="272" y="190"/>
                    </a:lnTo>
                    <a:lnTo>
                      <a:pt x="280" y="188"/>
                    </a:lnTo>
                    <a:lnTo>
                      <a:pt x="286" y="186"/>
                    </a:lnTo>
                    <a:lnTo>
                      <a:pt x="295" y="184"/>
                    </a:lnTo>
                    <a:lnTo>
                      <a:pt x="301" y="182"/>
                    </a:lnTo>
                    <a:lnTo>
                      <a:pt x="309" y="182"/>
                    </a:lnTo>
                    <a:lnTo>
                      <a:pt x="318" y="182"/>
                    </a:lnTo>
                    <a:lnTo>
                      <a:pt x="324" y="182"/>
                    </a:lnTo>
                    <a:lnTo>
                      <a:pt x="324" y="182"/>
                    </a:lnTo>
                    <a:lnTo>
                      <a:pt x="332" y="182"/>
                    </a:lnTo>
                    <a:lnTo>
                      <a:pt x="341" y="182"/>
                    </a:lnTo>
                    <a:lnTo>
                      <a:pt x="347" y="182"/>
                    </a:lnTo>
                    <a:lnTo>
                      <a:pt x="355" y="184"/>
                    </a:lnTo>
                    <a:lnTo>
                      <a:pt x="363" y="186"/>
                    </a:lnTo>
                    <a:lnTo>
                      <a:pt x="370" y="188"/>
                    </a:lnTo>
                    <a:lnTo>
                      <a:pt x="376" y="190"/>
                    </a:lnTo>
                    <a:lnTo>
                      <a:pt x="384" y="192"/>
                    </a:lnTo>
                    <a:lnTo>
                      <a:pt x="390" y="196"/>
                    </a:lnTo>
                    <a:lnTo>
                      <a:pt x="397" y="198"/>
                    </a:lnTo>
                    <a:lnTo>
                      <a:pt x="403" y="203"/>
                    </a:lnTo>
                    <a:lnTo>
                      <a:pt x="409" y="207"/>
                    </a:lnTo>
                    <a:lnTo>
                      <a:pt x="415" y="209"/>
                    </a:lnTo>
                    <a:lnTo>
                      <a:pt x="422" y="213"/>
                    </a:lnTo>
                    <a:lnTo>
                      <a:pt x="428" y="219"/>
                    </a:lnTo>
                    <a:lnTo>
                      <a:pt x="432" y="223"/>
                    </a:lnTo>
                    <a:lnTo>
                      <a:pt x="438" y="228"/>
                    </a:lnTo>
                    <a:lnTo>
                      <a:pt x="442" y="234"/>
                    </a:lnTo>
                    <a:lnTo>
                      <a:pt x="449" y="238"/>
                    </a:lnTo>
                    <a:lnTo>
                      <a:pt x="453" y="244"/>
                    </a:lnTo>
                    <a:lnTo>
                      <a:pt x="457" y="250"/>
                    </a:lnTo>
                    <a:lnTo>
                      <a:pt x="461" y="257"/>
                    </a:lnTo>
                    <a:lnTo>
                      <a:pt x="465" y="263"/>
                    </a:lnTo>
                    <a:lnTo>
                      <a:pt x="467" y="269"/>
                    </a:lnTo>
                    <a:lnTo>
                      <a:pt x="471" y="275"/>
                    </a:lnTo>
                    <a:lnTo>
                      <a:pt x="473" y="284"/>
                    </a:lnTo>
                    <a:lnTo>
                      <a:pt x="476" y="290"/>
                    </a:lnTo>
                    <a:lnTo>
                      <a:pt x="478" y="296"/>
                    </a:lnTo>
                    <a:lnTo>
                      <a:pt x="480" y="305"/>
                    </a:lnTo>
                    <a:lnTo>
                      <a:pt x="482" y="311"/>
                    </a:lnTo>
                    <a:lnTo>
                      <a:pt x="484" y="319"/>
                    </a:lnTo>
                    <a:lnTo>
                      <a:pt x="484" y="328"/>
                    </a:lnTo>
                    <a:lnTo>
                      <a:pt x="544" y="328"/>
                    </a:lnTo>
                    <a:lnTo>
                      <a:pt x="544" y="328"/>
                    </a:lnTo>
                    <a:lnTo>
                      <a:pt x="542" y="317"/>
                    </a:lnTo>
                    <a:lnTo>
                      <a:pt x="542" y="309"/>
                    </a:lnTo>
                    <a:lnTo>
                      <a:pt x="540" y="300"/>
                    </a:lnTo>
                    <a:lnTo>
                      <a:pt x="538" y="292"/>
                    </a:lnTo>
                    <a:lnTo>
                      <a:pt x="536" y="284"/>
                    </a:lnTo>
                    <a:lnTo>
                      <a:pt x="534" y="275"/>
                    </a:lnTo>
                    <a:lnTo>
                      <a:pt x="530" y="267"/>
                    </a:lnTo>
                    <a:lnTo>
                      <a:pt x="527" y="259"/>
                    </a:lnTo>
                    <a:lnTo>
                      <a:pt x="523" y="250"/>
                    </a:lnTo>
                    <a:lnTo>
                      <a:pt x="521" y="244"/>
                    </a:lnTo>
                    <a:lnTo>
                      <a:pt x="517" y="236"/>
                    </a:lnTo>
                    <a:lnTo>
                      <a:pt x="513" y="230"/>
                    </a:lnTo>
                    <a:lnTo>
                      <a:pt x="509" y="221"/>
                    </a:lnTo>
                    <a:lnTo>
                      <a:pt x="503" y="215"/>
                    </a:lnTo>
                    <a:lnTo>
                      <a:pt x="498" y="209"/>
                    </a:lnTo>
                    <a:lnTo>
                      <a:pt x="492" y="203"/>
                    </a:lnTo>
                    <a:lnTo>
                      <a:pt x="488" y="196"/>
                    </a:lnTo>
                    <a:lnTo>
                      <a:pt x="482" y="190"/>
                    </a:lnTo>
                    <a:lnTo>
                      <a:pt x="476" y="184"/>
                    </a:lnTo>
                    <a:lnTo>
                      <a:pt x="469" y="178"/>
                    </a:lnTo>
                    <a:lnTo>
                      <a:pt x="463" y="171"/>
                    </a:lnTo>
                    <a:lnTo>
                      <a:pt x="457" y="167"/>
                    </a:lnTo>
                    <a:lnTo>
                      <a:pt x="451" y="161"/>
                    </a:lnTo>
                    <a:lnTo>
                      <a:pt x="442" y="157"/>
                    </a:lnTo>
                    <a:lnTo>
                      <a:pt x="436" y="153"/>
                    </a:lnTo>
                    <a:lnTo>
                      <a:pt x="428" y="148"/>
                    </a:lnTo>
                    <a:lnTo>
                      <a:pt x="422" y="144"/>
                    </a:lnTo>
                    <a:lnTo>
                      <a:pt x="413" y="142"/>
                    </a:lnTo>
                    <a:lnTo>
                      <a:pt x="405" y="138"/>
                    </a:lnTo>
                    <a:lnTo>
                      <a:pt x="397" y="136"/>
                    </a:lnTo>
                    <a:lnTo>
                      <a:pt x="388" y="132"/>
                    </a:lnTo>
                    <a:lnTo>
                      <a:pt x="382" y="130"/>
                    </a:lnTo>
                    <a:lnTo>
                      <a:pt x="382" y="130"/>
                    </a:lnTo>
                    <a:lnTo>
                      <a:pt x="378" y="130"/>
                    </a:lnTo>
                    <a:lnTo>
                      <a:pt x="376" y="128"/>
                    </a:lnTo>
                    <a:lnTo>
                      <a:pt x="372" y="125"/>
                    </a:lnTo>
                    <a:lnTo>
                      <a:pt x="368" y="123"/>
                    </a:lnTo>
                    <a:lnTo>
                      <a:pt x="365" y="121"/>
                    </a:lnTo>
                    <a:lnTo>
                      <a:pt x="363" y="117"/>
                    </a:lnTo>
                    <a:lnTo>
                      <a:pt x="361" y="113"/>
                    </a:lnTo>
                    <a:lnTo>
                      <a:pt x="361" y="111"/>
                    </a:lnTo>
                    <a:lnTo>
                      <a:pt x="361" y="109"/>
                    </a:lnTo>
                    <a:lnTo>
                      <a:pt x="361" y="109"/>
                    </a:lnTo>
                    <a:lnTo>
                      <a:pt x="361" y="86"/>
                    </a:lnTo>
                    <a:lnTo>
                      <a:pt x="361" y="86"/>
                    </a:lnTo>
                    <a:lnTo>
                      <a:pt x="372" y="88"/>
                    </a:lnTo>
                    <a:lnTo>
                      <a:pt x="382" y="90"/>
                    </a:lnTo>
                    <a:lnTo>
                      <a:pt x="395" y="92"/>
                    </a:lnTo>
                    <a:lnTo>
                      <a:pt x="405" y="94"/>
                    </a:lnTo>
                    <a:lnTo>
                      <a:pt x="415" y="98"/>
                    </a:lnTo>
                    <a:lnTo>
                      <a:pt x="426" y="103"/>
                    </a:lnTo>
                    <a:lnTo>
                      <a:pt x="436" y="107"/>
                    </a:lnTo>
                    <a:lnTo>
                      <a:pt x="444" y="113"/>
                    </a:lnTo>
                    <a:lnTo>
                      <a:pt x="455" y="117"/>
                    </a:lnTo>
                    <a:lnTo>
                      <a:pt x="463" y="123"/>
                    </a:lnTo>
                    <a:lnTo>
                      <a:pt x="473" y="130"/>
                    </a:lnTo>
                    <a:lnTo>
                      <a:pt x="482" y="136"/>
                    </a:lnTo>
                    <a:lnTo>
                      <a:pt x="490" y="142"/>
                    </a:lnTo>
                    <a:lnTo>
                      <a:pt x="498" y="150"/>
                    </a:lnTo>
                    <a:lnTo>
                      <a:pt x="507" y="157"/>
                    </a:lnTo>
                    <a:lnTo>
                      <a:pt x="513" y="165"/>
                    </a:lnTo>
                    <a:lnTo>
                      <a:pt x="521" y="173"/>
                    </a:lnTo>
                    <a:lnTo>
                      <a:pt x="527" y="182"/>
                    </a:lnTo>
                    <a:lnTo>
                      <a:pt x="534" y="192"/>
                    </a:lnTo>
                    <a:lnTo>
                      <a:pt x="542" y="200"/>
                    </a:lnTo>
                    <a:lnTo>
                      <a:pt x="546" y="209"/>
                    </a:lnTo>
                    <a:lnTo>
                      <a:pt x="552" y="219"/>
                    </a:lnTo>
                    <a:lnTo>
                      <a:pt x="557" y="230"/>
                    </a:lnTo>
                    <a:lnTo>
                      <a:pt x="563" y="238"/>
                    </a:lnTo>
                    <a:lnTo>
                      <a:pt x="567" y="248"/>
                    </a:lnTo>
                    <a:lnTo>
                      <a:pt x="569" y="259"/>
                    </a:lnTo>
                    <a:lnTo>
                      <a:pt x="573" y="271"/>
                    </a:lnTo>
                    <a:lnTo>
                      <a:pt x="575" y="282"/>
                    </a:lnTo>
                    <a:lnTo>
                      <a:pt x="579" y="292"/>
                    </a:lnTo>
                    <a:lnTo>
                      <a:pt x="579" y="305"/>
                    </a:lnTo>
                    <a:lnTo>
                      <a:pt x="581" y="315"/>
                    </a:lnTo>
                    <a:lnTo>
                      <a:pt x="584" y="328"/>
                    </a:lnTo>
                    <a:lnTo>
                      <a:pt x="584" y="32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0" name="ïṡlîḓé">
                <a:extLst>
                  <a:ext uri="{FF2B5EF4-FFF2-40B4-BE49-F238E27FC236}">
                    <a16:creationId xmlns:a16="http://schemas.microsoft.com/office/drawing/2014/main" id="{B5DC82B1-03EA-03B2-93B8-EA258B55A3E5}"/>
                  </a:ext>
                </a:extLst>
              </p:cNvPr>
              <p:cNvSpPr/>
              <p:nvPr/>
            </p:nvSpPr>
            <p:spPr bwMode="auto">
              <a:xfrm>
                <a:off x="2268538" y="3586163"/>
                <a:ext cx="985838" cy="363538"/>
              </a:xfrm>
              <a:custGeom>
                <a:avLst/>
                <a:gdLst>
                  <a:gd name="T0" fmla="*/ 549 w 621"/>
                  <a:gd name="T1" fmla="*/ 6 h 229"/>
                  <a:gd name="T2" fmla="*/ 536 w 621"/>
                  <a:gd name="T3" fmla="*/ 29 h 229"/>
                  <a:gd name="T4" fmla="*/ 507 w 621"/>
                  <a:gd name="T5" fmla="*/ 73 h 229"/>
                  <a:gd name="T6" fmla="*/ 472 w 621"/>
                  <a:gd name="T7" fmla="*/ 106 h 229"/>
                  <a:gd name="T8" fmla="*/ 428 w 621"/>
                  <a:gd name="T9" fmla="*/ 135 h 229"/>
                  <a:gd name="T10" fmla="*/ 405 w 621"/>
                  <a:gd name="T11" fmla="*/ 146 h 229"/>
                  <a:gd name="T12" fmla="*/ 381 w 621"/>
                  <a:gd name="T13" fmla="*/ 154 h 229"/>
                  <a:gd name="T14" fmla="*/ 356 w 621"/>
                  <a:gd name="T15" fmla="*/ 160 h 229"/>
                  <a:gd name="T16" fmla="*/ 347 w 621"/>
                  <a:gd name="T17" fmla="*/ 121 h 229"/>
                  <a:gd name="T18" fmla="*/ 385 w 621"/>
                  <a:gd name="T19" fmla="*/ 110 h 229"/>
                  <a:gd name="T20" fmla="*/ 420 w 621"/>
                  <a:gd name="T21" fmla="*/ 94 h 229"/>
                  <a:gd name="T22" fmla="*/ 453 w 621"/>
                  <a:gd name="T23" fmla="*/ 71 h 229"/>
                  <a:gd name="T24" fmla="*/ 480 w 621"/>
                  <a:gd name="T25" fmla="*/ 44 h 229"/>
                  <a:gd name="T26" fmla="*/ 501 w 621"/>
                  <a:gd name="T27" fmla="*/ 10 h 229"/>
                  <a:gd name="T28" fmla="*/ 441 w 621"/>
                  <a:gd name="T29" fmla="*/ 0 h 229"/>
                  <a:gd name="T30" fmla="*/ 422 w 621"/>
                  <a:gd name="T31" fmla="*/ 21 h 229"/>
                  <a:gd name="T32" fmla="*/ 399 w 621"/>
                  <a:gd name="T33" fmla="*/ 38 h 229"/>
                  <a:gd name="T34" fmla="*/ 376 w 621"/>
                  <a:gd name="T35" fmla="*/ 50 h 229"/>
                  <a:gd name="T36" fmla="*/ 349 w 621"/>
                  <a:gd name="T37" fmla="*/ 60 h 229"/>
                  <a:gd name="T38" fmla="*/ 320 w 621"/>
                  <a:gd name="T39" fmla="*/ 65 h 229"/>
                  <a:gd name="T40" fmla="*/ 302 w 621"/>
                  <a:gd name="T41" fmla="*/ 65 h 229"/>
                  <a:gd name="T42" fmla="*/ 272 w 621"/>
                  <a:gd name="T43" fmla="*/ 60 h 229"/>
                  <a:gd name="T44" fmla="*/ 245 w 621"/>
                  <a:gd name="T45" fmla="*/ 50 h 229"/>
                  <a:gd name="T46" fmla="*/ 221 w 621"/>
                  <a:gd name="T47" fmla="*/ 38 h 229"/>
                  <a:gd name="T48" fmla="*/ 200 w 621"/>
                  <a:gd name="T49" fmla="*/ 21 h 229"/>
                  <a:gd name="T50" fmla="*/ 181 w 621"/>
                  <a:gd name="T51" fmla="*/ 0 h 229"/>
                  <a:gd name="T52" fmla="*/ 119 w 621"/>
                  <a:gd name="T53" fmla="*/ 10 h 229"/>
                  <a:gd name="T54" fmla="*/ 142 w 621"/>
                  <a:gd name="T55" fmla="*/ 44 h 229"/>
                  <a:gd name="T56" fmla="*/ 169 w 621"/>
                  <a:gd name="T57" fmla="*/ 71 h 229"/>
                  <a:gd name="T58" fmla="*/ 200 w 621"/>
                  <a:gd name="T59" fmla="*/ 94 h 229"/>
                  <a:gd name="T60" fmla="*/ 235 w 621"/>
                  <a:gd name="T61" fmla="*/ 110 h 229"/>
                  <a:gd name="T62" fmla="*/ 275 w 621"/>
                  <a:gd name="T63" fmla="*/ 121 h 229"/>
                  <a:gd name="T64" fmla="*/ 266 w 621"/>
                  <a:gd name="T65" fmla="*/ 160 h 229"/>
                  <a:gd name="T66" fmla="*/ 239 w 621"/>
                  <a:gd name="T67" fmla="*/ 154 h 229"/>
                  <a:gd name="T68" fmla="*/ 216 w 621"/>
                  <a:gd name="T69" fmla="*/ 146 h 229"/>
                  <a:gd name="T70" fmla="*/ 191 w 621"/>
                  <a:gd name="T71" fmla="*/ 135 h 229"/>
                  <a:gd name="T72" fmla="*/ 150 w 621"/>
                  <a:gd name="T73" fmla="*/ 106 h 229"/>
                  <a:gd name="T74" fmla="*/ 113 w 621"/>
                  <a:gd name="T75" fmla="*/ 71 h 229"/>
                  <a:gd name="T76" fmla="*/ 86 w 621"/>
                  <a:gd name="T77" fmla="*/ 29 h 229"/>
                  <a:gd name="T78" fmla="*/ 71 w 621"/>
                  <a:gd name="T79" fmla="*/ 0 h 229"/>
                  <a:gd name="T80" fmla="*/ 5 w 621"/>
                  <a:gd name="T81" fmla="*/ 13 h 229"/>
                  <a:gd name="T82" fmla="*/ 19 w 621"/>
                  <a:gd name="T83" fmla="*/ 48 h 229"/>
                  <a:gd name="T84" fmla="*/ 38 w 621"/>
                  <a:gd name="T85" fmla="*/ 81 h 229"/>
                  <a:gd name="T86" fmla="*/ 61 w 621"/>
                  <a:gd name="T87" fmla="*/ 113 h 229"/>
                  <a:gd name="T88" fmla="*/ 88 w 621"/>
                  <a:gd name="T89" fmla="*/ 140 h 229"/>
                  <a:gd name="T90" fmla="*/ 117 w 621"/>
                  <a:gd name="T91" fmla="*/ 165 h 229"/>
                  <a:gd name="T92" fmla="*/ 148 w 621"/>
                  <a:gd name="T93" fmla="*/ 185 h 229"/>
                  <a:gd name="T94" fmla="*/ 181 w 621"/>
                  <a:gd name="T95" fmla="*/ 202 h 229"/>
                  <a:gd name="T96" fmla="*/ 218 w 621"/>
                  <a:gd name="T97" fmla="*/ 217 h 229"/>
                  <a:gd name="T98" fmla="*/ 256 w 621"/>
                  <a:gd name="T99" fmla="*/ 225 h 229"/>
                  <a:gd name="T100" fmla="*/ 297 w 621"/>
                  <a:gd name="T101" fmla="*/ 229 h 229"/>
                  <a:gd name="T102" fmla="*/ 324 w 621"/>
                  <a:gd name="T103" fmla="*/ 229 h 229"/>
                  <a:gd name="T104" fmla="*/ 364 w 621"/>
                  <a:gd name="T105" fmla="*/ 225 h 229"/>
                  <a:gd name="T106" fmla="*/ 403 w 621"/>
                  <a:gd name="T107" fmla="*/ 217 h 229"/>
                  <a:gd name="T108" fmla="*/ 439 w 621"/>
                  <a:gd name="T109" fmla="*/ 202 h 229"/>
                  <a:gd name="T110" fmla="*/ 474 w 621"/>
                  <a:gd name="T111" fmla="*/ 185 h 229"/>
                  <a:gd name="T112" fmla="*/ 505 w 621"/>
                  <a:gd name="T113" fmla="*/ 165 h 229"/>
                  <a:gd name="T114" fmla="*/ 534 w 621"/>
                  <a:gd name="T115" fmla="*/ 140 h 229"/>
                  <a:gd name="T116" fmla="*/ 561 w 621"/>
                  <a:gd name="T117" fmla="*/ 113 h 229"/>
                  <a:gd name="T118" fmla="*/ 584 w 621"/>
                  <a:gd name="T119" fmla="*/ 81 h 229"/>
                  <a:gd name="T120" fmla="*/ 603 w 621"/>
                  <a:gd name="T121" fmla="*/ 48 h 229"/>
                  <a:gd name="T122" fmla="*/ 617 w 621"/>
                  <a:gd name="T123" fmla="*/ 13 h 2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621" h="229">
                    <a:moveTo>
                      <a:pt x="551" y="0"/>
                    </a:moveTo>
                    <a:lnTo>
                      <a:pt x="551" y="0"/>
                    </a:lnTo>
                    <a:lnTo>
                      <a:pt x="549" y="6"/>
                    </a:lnTo>
                    <a:lnTo>
                      <a:pt x="545" y="15"/>
                    </a:lnTo>
                    <a:lnTo>
                      <a:pt x="540" y="23"/>
                    </a:lnTo>
                    <a:lnTo>
                      <a:pt x="536" y="29"/>
                    </a:lnTo>
                    <a:lnTo>
                      <a:pt x="528" y="44"/>
                    </a:lnTo>
                    <a:lnTo>
                      <a:pt x="518" y="58"/>
                    </a:lnTo>
                    <a:lnTo>
                      <a:pt x="507" y="73"/>
                    </a:lnTo>
                    <a:lnTo>
                      <a:pt x="497" y="85"/>
                    </a:lnTo>
                    <a:lnTo>
                      <a:pt x="484" y="96"/>
                    </a:lnTo>
                    <a:lnTo>
                      <a:pt x="472" y="106"/>
                    </a:lnTo>
                    <a:lnTo>
                      <a:pt x="457" y="117"/>
                    </a:lnTo>
                    <a:lnTo>
                      <a:pt x="443" y="127"/>
                    </a:lnTo>
                    <a:lnTo>
                      <a:pt x="428" y="135"/>
                    </a:lnTo>
                    <a:lnTo>
                      <a:pt x="420" y="140"/>
                    </a:lnTo>
                    <a:lnTo>
                      <a:pt x="414" y="142"/>
                    </a:lnTo>
                    <a:lnTo>
                      <a:pt x="405" y="146"/>
                    </a:lnTo>
                    <a:lnTo>
                      <a:pt x="397" y="148"/>
                    </a:lnTo>
                    <a:lnTo>
                      <a:pt x="389" y="150"/>
                    </a:lnTo>
                    <a:lnTo>
                      <a:pt x="381" y="154"/>
                    </a:lnTo>
                    <a:lnTo>
                      <a:pt x="372" y="156"/>
                    </a:lnTo>
                    <a:lnTo>
                      <a:pt x="364" y="158"/>
                    </a:lnTo>
                    <a:lnTo>
                      <a:pt x="356" y="160"/>
                    </a:lnTo>
                    <a:lnTo>
                      <a:pt x="347" y="160"/>
                    </a:lnTo>
                    <a:lnTo>
                      <a:pt x="347" y="121"/>
                    </a:lnTo>
                    <a:lnTo>
                      <a:pt x="347" y="121"/>
                    </a:lnTo>
                    <a:lnTo>
                      <a:pt x="360" y="119"/>
                    </a:lnTo>
                    <a:lnTo>
                      <a:pt x="372" y="115"/>
                    </a:lnTo>
                    <a:lnTo>
                      <a:pt x="385" y="110"/>
                    </a:lnTo>
                    <a:lnTo>
                      <a:pt x="397" y="106"/>
                    </a:lnTo>
                    <a:lnTo>
                      <a:pt x="410" y="100"/>
                    </a:lnTo>
                    <a:lnTo>
                      <a:pt x="420" y="94"/>
                    </a:lnTo>
                    <a:lnTo>
                      <a:pt x="432" y="88"/>
                    </a:lnTo>
                    <a:lnTo>
                      <a:pt x="443" y="79"/>
                    </a:lnTo>
                    <a:lnTo>
                      <a:pt x="453" y="71"/>
                    </a:lnTo>
                    <a:lnTo>
                      <a:pt x="462" y="63"/>
                    </a:lnTo>
                    <a:lnTo>
                      <a:pt x="472" y="54"/>
                    </a:lnTo>
                    <a:lnTo>
                      <a:pt x="480" y="44"/>
                    </a:lnTo>
                    <a:lnTo>
                      <a:pt x="489" y="33"/>
                    </a:lnTo>
                    <a:lnTo>
                      <a:pt x="495" y="23"/>
                    </a:lnTo>
                    <a:lnTo>
                      <a:pt x="501" y="10"/>
                    </a:lnTo>
                    <a:lnTo>
                      <a:pt x="507" y="0"/>
                    </a:lnTo>
                    <a:lnTo>
                      <a:pt x="441" y="0"/>
                    </a:lnTo>
                    <a:lnTo>
                      <a:pt x="441" y="0"/>
                    </a:lnTo>
                    <a:lnTo>
                      <a:pt x="435" y="6"/>
                    </a:lnTo>
                    <a:lnTo>
                      <a:pt x="428" y="13"/>
                    </a:lnTo>
                    <a:lnTo>
                      <a:pt x="422" y="21"/>
                    </a:lnTo>
                    <a:lnTo>
                      <a:pt x="414" y="27"/>
                    </a:lnTo>
                    <a:lnTo>
                      <a:pt x="408" y="31"/>
                    </a:lnTo>
                    <a:lnTo>
                      <a:pt x="399" y="38"/>
                    </a:lnTo>
                    <a:lnTo>
                      <a:pt x="393" y="42"/>
                    </a:lnTo>
                    <a:lnTo>
                      <a:pt x="385" y="48"/>
                    </a:lnTo>
                    <a:lnTo>
                      <a:pt x="376" y="50"/>
                    </a:lnTo>
                    <a:lnTo>
                      <a:pt x="368" y="54"/>
                    </a:lnTo>
                    <a:lnTo>
                      <a:pt x="358" y="58"/>
                    </a:lnTo>
                    <a:lnTo>
                      <a:pt x="349" y="60"/>
                    </a:lnTo>
                    <a:lnTo>
                      <a:pt x="339" y="63"/>
                    </a:lnTo>
                    <a:lnTo>
                      <a:pt x="331" y="65"/>
                    </a:lnTo>
                    <a:lnTo>
                      <a:pt x="320" y="65"/>
                    </a:lnTo>
                    <a:lnTo>
                      <a:pt x="310" y="65"/>
                    </a:lnTo>
                    <a:lnTo>
                      <a:pt x="310" y="65"/>
                    </a:lnTo>
                    <a:lnTo>
                      <a:pt x="302" y="65"/>
                    </a:lnTo>
                    <a:lnTo>
                      <a:pt x="291" y="65"/>
                    </a:lnTo>
                    <a:lnTo>
                      <a:pt x="281" y="63"/>
                    </a:lnTo>
                    <a:lnTo>
                      <a:pt x="272" y="60"/>
                    </a:lnTo>
                    <a:lnTo>
                      <a:pt x="262" y="58"/>
                    </a:lnTo>
                    <a:lnTo>
                      <a:pt x="254" y="54"/>
                    </a:lnTo>
                    <a:lnTo>
                      <a:pt x="245" y="50"/>
                    </a:lnTo>
                    <a:lnTo>
                      <a:pt x="237" y="48"/>
                    </a:lnTo>
                    <a:lnTo>
                      <a:pt x="229" y="42"/>
                    </a:lnTo>
                    <a:lnTo>
                      <a:pt x="221" y="38"/>
                    </a:lnTo>
                    <a:lnTo>
                      <a:pt x="214" y="31"/>
                    </a:lnTo>
                    <a:lnTo>
                      <a:pt x="206" y="27"/>
                    </a:lnTo>
                    <a:lnTo>
                      <a:pt x="200" y="21"/>
                    </a:lnTo>
                    <a:lnTo>
                      <a:pt x="194" y="13"/>
                    </a:lnTo>
                    <a:lnTo>
                      <a:pt x="187" y="6"/>
                    </a:lnTo>
                    <a:lnTo>
                      <a:pt x="181" y="0"/>
                    </a:lnTo>
                    <a:lnTo>
                      <a:pt x="113" y="0"/>
                    </a:lnTo>
                    <a:lnTo>
                      <a:pt x="113" y="0"/>
                    </a:lnTo>
                    <a:lnTo>
                      <a:pt x="119" y="10"/>
                    </a:lnTo>
                    <a:lnTo>
                      <a:pt x="125" y="23"/>
                    </a:lnTo>
                    <a:lnTo>
                      <a:pt x="133" y="33"/>
                    </a:lnTo>
                    <a:lnTo>
                      <a:pt x="142" y="44"/>
                    </a:lnTo>
                    <a:lnTo>
                      <a:pt x="150" y="52"/>
                    </a:lnTo>
                    <a:lnTo>
                      <a:pt x="158" y="63"/>
                    </a:lnTo>
                    <a:lnTo>
                      <a:pt x="169" y="71"/>
                    </a:lnTo>
                    <a:lnTo>
                      <a:pt x="179" y="79"/>
                    </a:lnTo>
                    <a:lnTo>
                      <a:pt x="189" y="88"/>
                    </a:lnTo>
                    <a:lnTo>
                      <a:pt x="200" y="94"/>
                    </a:lnTo>
                    <a:lnTo>
                      <a:pt x="212" y="100"/>
                    </a:lnTo>
                    <a:lnTo>
                      <a:pt x="223" y="106"/>
                    </a:lnTo>
                    <a:lnTo>
                      <a:pt x="235" y="110"/>
                    </a:lnTo>
                    <a:lnTo>
                      <a:pt x="248" y="115"/>
                    </a:lnTo>
                    <a:lnTo>
                      <a:pt x="262" y="119"/>
                    </a:lnTo>
                    <a:lnTo>
                      <a:pt x="275" y="121"/>
                    </a:lnTo>
                    <a:lnTo>
                      <a:pt x="275" y="160"/>
                    </a:lnTo>
                    <a:lnTo>
                      <a:pt x="275" y="160"/>
                    </a:lnTo>
                    <a:lnTo>
                      <a:pt x="266" y="160"/>
                    </a:lnTo>
                    <a:lnTo>
                      <a:pt x="258" y="158"/>
                    </a:lnTo>
                    <a:lnTo>
                      <a:pt x="250" y="156"/>
                    </a:lnTo>
                    <a:lnTo>
                      <a:pt x="239" y="154"/>
                    </a:lnTo>
                    <a:lnTo>
                      <a:pt x="231" y="150"/>
                    </a:lnTo>
                    <a:lnTo>
                      <a:pt x="225" y="148"/>
                    </a:lnTo>
                    <a:lnTo>
                      <a:pt x="216" y="146"/>
                    </a:lnTo>
                    <a:lnTo>
                      <a:pt x="208" y="142"/>
                    </a:lnTo>
                    <a:lnTo>
                      <a:pt x="200" y="138"/>
                    </a:lnTo>
                    <a:lnTo>
                      <a:pt x="191" y="135"/>
                    </a:lnTo>
                    <a:lnTo>
                      <a:pt x="177" y="127"/>
                    </a:lnTo>
                    <a:lnTo>
                      <a:pt x="164" y="117"/>
                    </a:lnTo>
                    <a:lnTo>
                      <a:pt x="150" y="106"/>
                    </a:lnTo>
                    <a:lnTo>
                      <a:pt x="137" y="96"/>
                    </a:lnTo>
                    <a:lnTo>
                      <a:pt x="125" y="85"/>
                    </a:lnTo>
                    <a:lnTo>
                      <a:pt x="113" y="71"/>
                    </a:lnTo>
                    <a:lnTo>
                      <a:pt x="104" y="58"/>
                    </a:lnTo>
                    <a:lnTo>
                      <a:pt x="94" y="44"/>
                    </a:lnTo>
                    <a:lnTo>
                      <a:pt x="86" y="29"/>
                    </a:lnTo>
                    <a:lnTo>
                      <a:pt x="77" y="15"/>
                    </a:lnTo>
                    <a:lnTo>
                      <a:pt x="73" y="6"/>
                    </a:lnTo>
                    <a:lnTo>
                      <a:pt x="71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5" y="13"/>
                    </a:lnTo>
                    <a:lnTo>
                      <a:pt x="9" y="23"/>
                    </a:lnTo>
                    <a:lnTo>
                      <a:pt x="13" y="35"/>
                    </a:lnTo>
                    <a:lnTo>
                      <a:pt x="19" y="48"/>
                    </a:lnTo>
                    <a:lnTo>
                      <a:pt x="25" y="58"/>
                    </a:lnTo>
                    <a:lnTo>
                      <a:pt x="32" y="69"/>
                    </a:lnTo>
                    <a:lnTo>
                      <a:pt x="38" y="81"/>
                    </a:lnTo>
                    <a:lnTo>
                      <a:pt x="46" y="92"/>
                    </a:lnTo>
                    <a:lnTo>
                      <a:pt x="52" y="102"/>
                    </a:lnTo>
                    <a:lnTo>
                      <a:pt x="61" y="113"/>
                    </a:lnTo>
                    <a:lnTo>
                      <a:pt x="69" y="121"/>
                    </a:lnTo>
                    <a:lnTo>
                      <a:pt x="77" y="131"/>
                    </a:lnTo>
                    <a:lnTo>
                      <a:pt x="88" y="140"/>
                    </a:lnTo>
                    <a:lnTo>
                      <a:pt x="96" y="148"/>
                    </a:lnTo>
                    <a:lnTo>
                      <a:pt x="106" y="156"/>
                    </a:lnTo>
                    <a:lnTo>
                      <a:pt x="117" y="165"/>
                    </a:lnTo>
                    <a:lnTo>
                      <a:pt x="127" y="171"/>
                    </a:lnTo>
                    <a:lnTo>
                      <a:pt x="137" y="179"/>
                    </a:lnTo>
                    <a:lnTo>
                      <a:pt x="148" y="185"/>
                    </a:lnTo>
                    <a:lnTo>
                      <a:pt x="158" y="192"/>
                    </a:lnTo>
                    <a:lnTo>
                      <a:pt x="171" y="198"/>
                    </a:lnTo>
                    <a:lnTo>
                      <a:pt x="181" y="202"/>
                    </a:lnTo>
                    <a:lnTo>
                      <a:pt x="194" y="208"/>
                    </a:lnTo>
                    <a:lnTo>
                      <a:pt x="206" y="213"/>
                    </a:lnTo>
                    <a:lnTo>
                      <a:pt x="218" y="217"/>
                    </a:lnTo>
                    <a:lnTo>
                      <a:pt x="231" y="221"/>
                    </a:lnTo>
                    <a:lnTo>
                      <a:pt x="243" y="223"/>
                    </a:lnTo>
                    <a:lnTo>
                      <a:pt x="256" y="225"/>
                    </a:lnTo>
                    <a:lnTo>
                      <a:pt x="270" y="227"/>
                    </a:lnTo>
                    <a:lnTo>
                      <a:pt x="283" y="229"/>
                    </a:lnTo>
                    <a:lnTo>
                      <a:pt x="297" y="229"/>
                    </a:lnTo>
                    <a:lnTo>
                      <a:pt x="310" y="229"/>
                    </a:lnTo>
                    <a:lnTo>
                      <a:pt x="310" y="229"/>
                    </a:lnTo>
                    <a:lnTo>
                      <a:pt x="324" y="229"/>
                    </a:lnTo>
                    <a:lnTo>
                      <a:pt x="337" y="229"/>
                    </a:lnTo>
                    <a:lnTo>
                      <a:pt x="351" y="227"/>
                    </a:lnTo>
                    <a:lnTo>
                      <a:pt x="364" y="225"/>
                    </a:lnTo>
                    <a:lnTo>
                      <a:pt x="376" y="223"/>
                    </a:lnTo>
                    <a:lnTo>
                      <a:pt x="391" y="221"/>
                    </a:lnTo>
                    <a:lnTo>
                      <a:pt x="403" y="217"/>
                    </a:lnTo>
                    <a:lnTo>
                      <a:pt x="416" y="213"/>
                    </a:lnTo>
                    <a:lnTo>
                      <a:pt x="428" y="208"/>
                    </a:lnTo>
                    <a:lnTo>
                      <a:pt x="439" y="202"/>
                    </a:lnTo>
                    <a:lnTo>
                      <a:pt x="451" y="198"/>
                    </a:lnTo>
                    <a:lnTo>
                      <a:pt x="462" y="192"/>
                    </a:lnTo>
                    <a:lnTo>
                      <a:pt x="474" y="185"/>
                    </a:lnTo>
                    <a:lnTo>
                      <a:pt x="484" y="179"/>
                    </a:lnTo>
                    <a:lnTo>
                      <a:pt x="495" y="171"/>
                    </a:lnTo>
                    <a:lnTo>
                      <a:pt x="505" y="165"/>
                    </a:lnTo>
                    <a:lnTo>
                      <a:pt x="516" y="156"/>
                    </a:lnTo>
                    <a:lnTo>
                      <a:pt x="526" y="148"/>
                    </a:lnTo>
                    <a:lnTo>
                      <a:pt x="534" y="140"/>
                    </a:lnTo>
                    <a:lnTo>
                      <a:pt x="545" y="131"/>
                    </a:lnTo>
                    <a:lnTo>
                      <a:pt x="553" y="121"/>
                    </a:lnTo>
                    <a:lnTo>
                      <a:pt x="561" y="113"/>
                    </a:lnTo>
                    <a:lnTo>
                      <a:pt x="567" y="102"/>
                    </a:lnTo>
                    <a:lnTo>
                      <a:pt x="576" y="92"/>
                    </a:lnTo>
                    <a:lnTo>
                      <a:pt x="584" y="81"/>
                    </a:lnTo>
                    <a:lnTo>
                      <a:pt x="590" y="69"/>
                    </a:lnTo>
                    <a:lnTo>
                      <a:pt x="597" y="58"/>
                    </a:lnTo>
                    <a:lnTo>
                      <a:pt x="603" y="48"/>
                    </a:lnTo>
                    <a:lnTo>
                      <a:pt x="607" y="35"/>
                    </a:lnTo>
                    <a:lnTo>
                      <a:pt x="613" y="23"/>
                    </a:lnTo>
                    <a:lnTo>
                      <a:pt x="617" y="13"/>
                    </a:lnTo>
                    <a:lnTo>
                      <a:pt x="621" y="0"/>
                    </a:lnTo>
                    <a:lnTo>
                      <a:pt x="55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1" name="îṧḷîdè">
                <a:extLst>
                  <a:ext uri="{FF2B5EF4-FFF2-40B4-BE49-F238E27FC236}">
                    <a16:creationId xmlns:a16="http://schemas.microsoft.com/office/drawing/2014/main" id="{CAD80FCD-6015-6880-F49F-E7A3E7E9195B}"/>
                  </a:ext>
                </a:extLst>
              </p:cNvPr>
              <p:cNvSpPr/>
              <p:nvPr/>
            </p:nvSpPr>
            <p:spPr bwMode="auto">
              <a:xfrm>
                <a:off x="2246313" y="3451226"/>
                <a:ext cx="1031875" cy="131763"/>
              </a:xfrm>
              <a:custGeom>
                <a:avLst/>
                <a:gdLst>
                  <a:gd name="T0" fmla="*/ 372 w 650"/>
                  <a:gd name="T1" fmla="*/ 0 h 83"/>
                  <a:gd name="T2" fmla="*/ 372 w 650"/>
                  <a:gd name="T3" fmla="*/ 0 h 83"/>
                  <a:gd name="T4" fmla="*/ 359 w 650"/>
                  <a:gd name="T5" fmla="*/ 2 h 83"/>
                  <a:gd name="T6" fmla="*/ 349 w 650"/>
                  <a:gd name="T7" fmla="*/ 4 h 83"/>
                  <a:gd name="T8" fmla="*/ 341 w 650"/>
                  <a:gd name="T9" fmla="*/ 8 h 83"/>
                  <a:gd name="T10" fmla="*/ 334 w 650"/>
                  <a:gd name="T11" fmla="*/ 12 h 83"/>
                  <a:gd name="T12" fmla="*/ 326 w 650"/>
                  <a:gd name="T13" fmla="*/ 23 h 83"/>
                  <a:gd name="T14" fmla="*/ 324 w 650"/>
                  <a:gd name="T15" fmla="*/ 27 h 83"/>
                  <a:gd name="T16" fmla="*/ 320 w 650"/>
                  <a:gd name="T17" fmla="*/ 20 h 83"/>
                  <a:gd name="T18" fmla="*/ 314 w 650"/>
                  <a:gd name="T19" fmla="*/ 14 h 83"/>
                  <a:gd name="T20" fmla="*/ 305 w 650"/>
                  <a:gd name="T21" fmla="*/ 8 h 83"/>
                  <a:gd name="T22" fmla="*/ 297 w 650"/>
                  <a:gd name="T23" fmla="*/ 4 h 83"/>
                  <a:gd name="T24" fmla="*/ 286 w 650"/>
                  <a:gd name="T25" fmla="*/ 2 h 83"/>
                  <a:gd name="T26" fmla="*/ 276 w 650"/>
                  <a:gd name="T27" fmla="*/ 0 h 83"/>
                  <a:gd name="T28" fmla="*/ 274 w 650"/>
                  <a:gd name="T29" fmla="*/ 0 h 83"/>
                  <a:gd name="T30" fmla="*/ 0 w 650"/>
                  <a:gd name="T31" fmla="*/ 0 h 83"/>
                  <a:gd name="T32" fmla="*/ 0 w 650"/>
                  <a:gd name="T33" fmla="*/ 14 h 83"/>
                  <a:gd name="T34" fmla="*/ 4 w 650"/>
                  <a:gd name="T35" fmla="*/ 43 h 83"/>
                  <a:gd name="T36" fmla="*/ 280 w 650"/>
                  <a:gd name="T37" fmla="*/ 58 h 83"/>
                  <a:gd name="T38" fmla="*/ 280 w 650"/>
                  <a:gd name="T39" fmla="*/ 58 h 83"/>
                  <a:gd name="T40" fmla="*/ 284 w 650"/>
                  <a:gd name="T41" fmla="*/ 58 h 83"/>
                  <a:gd name="T42" fmla="*/ 295 w 650"/>
                  <a:gd name="T43" fmla="*/ 60 h 83"/>
                  <a:gd name="T44" fmla="*/ 307 w 650"/>
                  <a:gd name="T45" fmla="*/ 66 h 83"/>
                  <a:gd name="T46" fmla="*/ 316 w 650"/>
                  <a:gd name="T47" fmla="*/ 73 h 83"/>
                  <a:gd name="T48" fmla="*/ 322 w 650"/>
                  <a:gd name="T49" fmla="*/ 79 h 83"/>
                  <a:gd name="T50" fmla="*/ 324 w 650"/>
                  <a:gd name="T51" fmla="*/ 83 h 83"/>
                  <a:gd name="T52" fmla="*/ 330 w 650"/>
                  <a:gd name="T53" fmla="*/ 75 h 83"/>
                  <a:gd name="T54" fmla="*/ 338 w 650"/>
                  <a:gd name="T55" fmla="*/ 66 h 83"/>
                  <a:gd name="T56" fmla="*/ 347 w 650"/>
                  <a:gd name="T57" fmla="*/ 62 h 83"/>
                  <a:gd name="T58" fmla="*/ 355 w 650"/>
                  <a:gd name="T59" fmla="*/ 60 h 83"/>
                  <a:gd name="T60" fmla="*/ 365 w 650"/>
                  <a:gd name="T61" fmla="*/ 58 h 83"/>
                  <a:gd name="T62" fmla="*/ 365 w 650"/>
                  <a:gd name="T63" fmla="*/ 58 h 83"/>
                  <a:gd name="T64" fmla="*/ 642 w 650"/>
                  <a:gd name="T65" fmla="*/ 58 h 83"/>
                  <a:gd name="T66" fmla="*/ 646 w 650"/>
                  <a:gd name="T67" fmla="*/ 29 h 83"/>
                  <a:gd name="T68" fmla="*/ 650 w 650"/>
                  <a:gd name="T69" fmla="*/ 0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650" h="83">
                    <a:moveTo>
                      <a:pt x="372" y="0"/>
                    </a:moveTo>
                    <a:lnTo>
                      <a:pt x="372" y="0"/>
                    </a:lnTo>
                    <a:lnTo>
                      <a:pt x="372" y="0"/>
                    </a:lnTo>
                    <a:lnTo>
                      <a:pt x="372" y="0"/>
                    </a:lnTo>
                    <a:lnTo>
                      <a:pt x="365" y="2"/>
                    </a:lnTo>
                    <a:lnTo>
                      <a:pt x="359" y="2"/>
                    </a:lnTo>
                    <a:lnTo>
                      <a:pt x="355" y="2"/>
                    </a:lnTo>
                    <a:lnTo>
                      <a:pt x="349" y="4"/>
                    </a:lnTo>
                    <a:lnTo>
                      <a:pt x="345" y="6"/>
                    </a:lnTo>
                    <a:lnTo>
                      <a:pt x="341" y="8"/>
                    </a:lnTo>
                    <a:lnTo>
                      <a:pt x="338" y="10"/>
                    </a:lnTo>
                    <a:lnTo>
                      <a:pt x="334" y="12"/>
                    </a:lnTo>
                    <a:lnTo>
                      <a:pt x="330" y="18"/>
                    </a:lnTo>
                    <a:lnTo>
                      <a:pt x="326" y="23"/>
                    </a:lnTo>
                    <a:lnTo>
                      <a:pt x="324" y="25"/>
                    </a:lnTo>
                    <a:lnTo>
                      <a:pt x="324" y="27"/>
                    </a:lnTo>
                    <a:lnTo>
                      <a:pt x="324" y="27"/>
                    </a:lnTo>
                    <a:lnTo>
                      <a:pt x="320" y="20"/>
                    </a:lnTo>
                    <a:lnTo>
                      <a:pt x="318" y="16"/>
                    </a:lnTo>
                    <a:lnTo>
                      <a:pt x="314" y="14"/>
                    </a:lnTo>
                    <a:lnTo>
                      <a:pt x="309" y="10"/>
                    </a:lnTo>
                    <a:lnTo>
                      <a:pt x="305" y="8"/>
                    </a:lnTo>
                    <a:lnTo>
                      <a:pt x="301" y="6"/>
                    </a:lnTo>
                    <a:lnTo>
                      <a:pt x="297" y="4"/>
                    </a:lnTo>
                    <a:lnTo>
                      <a:pt x="293" y="4"/>
                    </a:lnTo>
                    <a:lnTo>
                      <a:pt x="286" y="2"/>
                    </a:lnTo>
                    <a:lnTo>
                      <a:pt x="280" y="0"/>
                    </a:lnTo>
                    <a:lnTo>
                      <a:pt x="276" y="0"/>
                    </a:lnTo>
                    <a:lnTo>
                      <a:pt x="274" y="0"/>
                    </a:lnTo>
                    <a:lnTo>
                      <a:pt x="274" y="0"/>
                    </a:lnTo>
                    <a:lnTo>
                      <a:pt x="274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14"/>
                    </a:lnTo>
                    <a:lnTo>
                      <a:pt x="2" y="29"/>
                    </a:lnTo>
                    <a:lnTo>
                      <a:pt x="4" y="43"/>
                    </a:lnTo>
                    <a:lnTo>
                      <a:pt x="8" y="58"/>
                    </a:lnTo>
                    <a:lnTo>
                      <a:pt x="280" y="58"/>
                    </a:lnTo>
                    <a:lnTo>
                      <a:pt x="280" y="58"/>
                    </a:lnTo>
                    <a:lnTo>
                      <a:pt x="280" y="58"/>
                    </a:lnTo>
                    <a:lnTo>
                      <a:pt x="280" y="58"/>
                    </a:lnTo>
                    <a:lnTo>
                      <a:pt x="284" y="58"/>
                    </a:lnTo>
                    <a:lnTo>
                      <a:pt x="289" y="58"/>
                    </a:lnTo>
                    <a:lnTo>
                      <a:pt x="295" y="60"/>
                    </a:lnTo>
                    <a:lnTo>
                      <a:pt x="301" y="62"/>
                    </a:lnTo>
                    <a:lnTo>
                      <a:pt x="307" y="66"/>
                    </a:lnTo>
                    <a:lnTo>
                      <a:pt x="314" y="70"/>
                    </a:lnTo>
                    <a:lnTo>
                      <a:pt x="316" y="73"/>
                    </a:lnTo>
                    <a:lnTo>
                      <a:pt x="320" y="77"/>
                    </a:lnTo>
                    <a:lnTo>
                      <a:pt x="322" y="79"/>
                    </a:lnTo>
                    <a:lnTo>
                      <a:pt x="324" y="83"/>
                    </a:lnTo>
                    <a:lnTo>
                      <a:pt x="324" y="83"/>
                    </a:lnTo>
                    <a:lnTo>
                      <a:pt x="326" y="79"/>
                    </a:lnTo>
                    <a:lnTo>
                      <a:pt x="330" y="75"/>
                    </a:lnTo>
                    <a:lnTo>
                      <a:pt x="334" y="70"/>
                    </a:lnTo>
                    <a:lnTo>
                      <a:pt x="338" y="66"/>
                    </a:lnTo>
                    <a:lnTo>
                      <a:pt x="343" y="64"/>
                    </a:lnTo>
                    <a:lnTo>
                      <a:pt x="347" y="62"/>
                    </a:lnTo>
                    <a:lnTo>
                      <a:pt x="351" y="60"/>
                    </a:lnTo>
                    <a:lnTo>
                      <a:pt x="355" y="60"/>
                    </a:lnTo>
                    <a:lnTo>
                      <a:pt x="361" y="58"/>
                    </a:lnTo>
                    <a:lnTo>
                      <a:pt x="365" y="58"/>
                    </a:lnTo>
                    <a:lnTo>
                      <a:pt x="365" y="58"/>
                    </a:lnTo>
                    <a:lnTo>
                      <a:pt x="365" y="58"/>
                    </a:lnTo>
                    <a:lnTo>
                      <a:pt x="642" y="58"/>
                    </a:lnTo>
                    <a:lnTo>
                      <a:pt x="642" y="58"/>
                    </a:lnTo>
                    <a:lnTo>
                      <a:pt x="644" y="43"/>
                    </a:lnTo>
                    <a:lnTo>
                      <a:pt x="646" y="29"/>
                    </a:lnTo>
                    <a:lnTo>
                      <a:pt x="648" y="14"/>
                    </a:lnTo>
                    <a:lnTo>
                      <a:pt x="650" y="0"/>
                    </a:lnTo>
                    <a:lnTo>
                      <a:pt x="37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" name="ísḻíḋè">
                <a:extLst>
                  <a:ext uri="{FF2B5EF4-FFF2-40B4-BE49-F238E27FC236}">
                    <a16:creationId xmlns:a16="http://schemas.microsoft.com/office/drawing/2014/main" id="{B0965060-A1E6-FAB2-29C3-1369A2636725}"/>
                  </a:ext>
                </a:extLst>
              </p:cNvPr>
              <p:cNvSpPr/>
              <p:nvPr/>
            </p:nvSpPr>
            <p:spPr bwMode="auto">
              <a:xfrm>
                <a:off x="2041526" y="3527426"/>
                <a:ext cx="131763" cy="79375"/>
              </a:xfrm>
              <a:custGeom>
                <a:avLst/>
                <a:gdLst>
                  <a:gd name="T0" fmla="*/ 4 w 83"/>
                  <a:gd name="T1" fmla="*/ 50 h 50"/>
                  <a:gd name="T2" fmla="*/ 2 w 83"/>
                  <a:gd name="T3" fmla="*/ 33 h 50"/>
                  <a:gd name="T4" fmla="*/ 2 w 83"/>
                  <a:gd name="T5" fmla="*/ 22 h 50"/>
                  <a:gd name="T6" fmla="*/ 2 w 83"/>
                  <a:gd name="T7" fmla="*/ 20 h 50"/>
                  <a:gd name="T8" fmla="*/ 4 w 83"/>
                  <a:gd name="T9" fmla="*/ 16 h 50"/>
                  <a:gd name="T10" fmla="*/ 6 w 83"/>
                  <a:gd name="T11" fmla="*/ 14 h 50"/>
                  <a:gd name="T12" fmla="*/ 13 w 83"/>
                  <a:gd name="T13" fmla="*/ 10 h 50"/>
                  <a:gd name="T14" fmla="*/ 19 w 83"/>
                  <a:gd name="T15" fmla="*/ 8 h 50"/>
                  <a:gd name="T16" fmla="*/ 35 w 83"/>
                  <a:gd name="T17" fmla="*/ 2 h 50"/>
                  <a:gd name="T18" fmla="*/ 42 w 83"/>
                  <a:gd name="T19" fmla="*/ 0 h 50"/>
                  <a:gd name="T20" fmla="*/ 54 w 83"/>
                  <a:gd name="T21" fmla="*/ 0 h 50"/>
                  <a:gd name="T22" fmla="*/ 58 w 83"/>
                  <a:gd name="T23" fmla="*/ 0 h 50"/>
                  <a:gd name="T24" fmla="*/ 69 w 83"/>
                  <a:gd name="T25" fmla="*/ 2 h 50"/>
                  <a:gd name="T26" fmla="*/ 73 w 83"/>
                  <a:gd name="T27" fmla="*/ 6 h 50"/>
                  <a:gd name="T28" fmla="*/ 77 w 83"/>
                  <a:gd name="T29" fmla="*/ 8 h 50"/>
                  <a:gd name="T30" fmla="*/ 79 w 83"/>
                  <a:gd name="T31" fmla="*/ 12 h 50"/>
                  <a:gd name="T32" fmla="*/ 83 w 83"/>
                  <a:gd name="T33" fmla="*/ 35 h 50"/>
                  <a:gd name="T34" fmla="*/ 73 w 83"/>
                  <a:gd name="T35" fmla="*/ 29 h 50"/>
                  <a:gd name="T36" fmla="*/ 71 w 83"/>
                  <a:gd name="T37" fmla="*/ 18 h 50"/>
                  <a:gd name="T38" fmla="*/ 69 w 83"/>
                  <a:gd name="T39" fmla="*/ 14 h 50"/>
                  <a:gd name="T40" fmla="*/ 67 w 83"/>
                  <a:gd name="T41" fmla="*/ 10 h 50"/>
                  <a:gd name="T42" fmla="*/ 64 w 83"/>
                  <a:gd name="T43" fmla="*/ 10 h 50"/>
                  <a:gd name="T44" fmla="*/ 60 w 83"/>
                  <a:gd name="T45" fmla="*/ 8 h 50"/>
                  <a:gd name="T46" fmla="*/ 56 w 83"/>
                  <a:gd name="T47" fmla="*/ 8 h 50"/>
                  <a:gd name="T48" fmla="*/ 48 w 83"/>
                  <a:gd name="T49" fmla="*/ 8 h 50"/>
                  <a:gd name="T50" fmla="*/ 37 w 83"/>
                  <a:gd name="T51" fmla="*/ 8 h 50"/>
                  <a:gd name="T52" fmla="*/ 31 w 83"/>
                  <a:gd name="T53" fmla="*/ 10 h 50"/>
                  <a:gd name="T54" fmla="*/ 23 w 83"/>
                  <a:gd name="T55" fmla="*/ 12 h 50"/>
                  <a:gd name="T56" fmla="*/ 19 w 83"/>
                  <a:gd name="T57" fmla="*/ 14 h 50"/>
                  <a:gd name="T58" fmla="*/ 13 w 83"/>
                  <a:gd name="T59" fmla="*/ 18 h 50"/>
                  <a:gd name="T60" fmla="*/ 10 w 83"/>
                  <a:gd name="T61" fmla="*/ 22 h 50"/>
                  <a:gd name="T62" fmla="*/ 10 w 83"/>
                  <a:gd name="T63" fmla="*/ 25 h 50"/>
                  <a:gd name="T64" fmla="*/ 10 w 83"/>
                  <a:gd name="T65" fmla="*/ 31 h 50"/>
                  <a:gd name="T66" fmla="*/ 73 w 83"/>
                  <a:gd name="T67" fmla="*/ 29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83" h="50">
                    <a:moveTo>
                      <a:pt x="83" y="35"/>
                    </a:moveTo>
                    <a:lnTo>
                      <a:pt x="4" y="50"/>
                    </a:lnTo>
                    <a:lnTo>
                      <a:pt x="2" y="33"/>
                    </a:lnTo>
                    <a:lnTo>
                      <a:pt x="2" y="33"/>
                    </a:lnTo>
                    <a:lnTo>
                      <a:pt x="0" y="27"/>
                    </a:lnTo>
                    <a:lnTo>
                      <a:pt x="2" y="22"/>
                    </a:lnTo>
                    <a:lnTo>
                      <a:pt x="2" y="22"/>
                    </a:lnTo>
                    <a:lnTo>
                      <a:pt x="2" y="20"/>
                    </a:lnTo>
                    <a:lnTo>
                      <a:pt x="2" y="18"/>
                    </a:lnTo>
                    <a:lnTo>
                      <a:pt x="4" y="16"/>
                    </a:lnTo>
                    <a:lnTo>
                      <a:pt x="6" y="14"/>
                    </a:lnTo>
                    <a:lnTo>
                      <a:pt x="6" y="14"/>
                    </a:lnTo>
                    <a:lnTo>
                      <a:pt x="8" y="12"/>
                    </a:lnTo>
                    <a:lnTo>
                      <a:pt x="13" y="10"/>
                    </a:lnTo>
                    <a:lnTo>
                      <a:pt x="19" y="8"/>
                    </a:lnTo>
                    <a:lnTo>
                      <a:pt x="19" y="8"/>
                    </a:lnTo>
                    <a:lnTo>
                      <a:pt x="27" y="4"/>
                    </a:lnTo>
                    <a:lnTo>
                      <a:pt x="35" y="2"/>
                    </a:lnTo>
                    <a:lnTo>
                      <a:pt x="35" y="2"/>
                    </a:lnTo>
                    <a:lnTo>
                      <a:pt x="42" y="0"/>
                    </a:lnTo>
                    <a:lnTo>
                      <a:pt x="48" y="0"/>
                    </a:lnTo>
                    <a:lnTo>
                      <a:pt x="54" y="0"/>
                    </a:lnTo>
                    <a:lnTo>
                      <a:pt x="58" y="0"/>
                    </a:lnTo>
                    <a:lnTo>
                      <a:pt x="58" y="0"/>
                    </a:lnTo>
                    <a:lnTo>
                      <a:pt x="64" y="2"/>
                    </a:lnTo>
                    <a:lnTo>
                      <a:pt x="69" y="2"/>
                    </a:lnTo>
                    <a:lnTo>
                      <a:pt x="71" y="4"/>
                    </a:lnTo>
                    <a:lnTo>
                      <a:pt x="73" y="6"/>
                    </a:lnTo>
                    <a:lnTo>
                      <a:pt x="73" y="6"/>
                    </a:lnTo>
                    <a:lnTo>
                      <a:pt x="77" y="8"/>
                    </a:lnTo>
                    <a:lnTo>
                      <a:pt x="77" y="10"/>
                    </a:lnTo>
                    <a:lnTo>
                      <a:pt x="79" y="12"/>
                    </a:lnTo>
                    <a:lnTo>
                      <a:pt x="79" y="16"/>
                    </a:lnTo>
                    <a:lnTo>
                      <a:pt x="83" y="35"/>
                    </a:lnTo>
                    <a:lnTo>
                      <a:pt x="83" y="35"/>
                    </a:lnTo>
                    <a:close/>
                    <a:moveTo>
                      <a:pt x="73" y="29"/>
                    </a:moveTo>
                    <a:lnTo>
                      <a:pt x="71" y="18"/>
                    </a:lnTo>
                    <a:lnTo>
                      <a:pt x="71" y="18"/>
                    </a:lnTo>
                    <a:lnTo>
                      <a:pt x="71" y="16"/>
                    </a:lnTo>
                    <a:lnTo>
                      <a:pt x="69" y="14"/>
                    </a:lnTo>
                    <a:lnTo>
                      <a:pt x="69" y="12"/>
                    </a:lnTo>
                    <a:lnTo>
                      <a:pt x="67" y="10"/>
                    </a:lnTo>
                    <a:lnTo>
                      <a:pt x="67" y="10"/>
                    </a:lnTo>
                    <a:lnTo>
                      <a:pt x="64" y="10"/>
                    </a:lnTo>
                    <a:lnTo>
                      <a:pt x="62" y="8"/>
                    </a:lnTo>
                    <a:lnTo>
                      <a:pt x="60" y="8"/>
                    </a:lnTo>
                    <a:lnTo>
                      <a:pt x="56" y="8"/>
                    </a:lnTo>
                    <a:lnTo>
                      <a:pt x="56" y="8"/>
                    </a:lnTo>
                    <a:lnTo>
                      <a:pt x="52" y="6"/>
                    </a:lnTo>
                    <a:lnTo>
                      <a:pt x="48" y="8"/>
                    </a:lnTo>
                    <a:lnTo>
                      <a:pt x="44" y="8"/>
                    </a:lnTo>
                    <a:lnTo>
                      <a:pt x="37" y="8"/>
                    </a:lnTo>
                    <a:lnTo>
                      <a:pt x="37" y="8"/>
                    </a:lnTo>
                    <a:lnTo>
                      <a:pt x="31" y="10"/>
                    </a:lnTo>
                    <a:lnTo>
                      <a:pt x="27" y="10"/>
                    </a:lnTo>
                    <a:lnTo>
                      <a:pt x="23" y="12"/>
                    </a:lnTo>
                    <a:lnTo>
                      <a:pt x="19" y="14"/>
                    </a:lnTo>
                    <a:lnTo>
                      <a:pt x="19" y="14"/>
                    </a:lnTo>
                    <a:lnTo>
                      <a:pt x="17" y="16"/>
                    </a:lnTo>
                    <a:lnTo>
                      <a:pt x="13" y="18"/>
                    </a:lnTo>
                    <a:lnTo>
                      <a:pt x="13" y="20"/>
                    </a:lnTo>
                    <a:lnTo>
                      <a:pt x="10" y="22"/>
                    </a:lnTo>
                    <a:lnTo>
                      <a:pt x="10" y="22"/>
                    </a:lnTo>
                    <a:lnTo>
                      <a:pt x="10" y="25"/>
                    </a:lnTo>
                    <a:lnTo>
                      <a:pt x="10" y="27"/>
                    </a:lnTo>
                    <a:lnTo>
                      <a:pt x="10" y="31"/>
                    </a:lnTo>
                    <a:lnTo>
                      <a:pt x="13" y="41"/>
                    </a:lnTo>
                    <a:lnTo>
                      <a:pt x="73" y="2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" name="ïṩḷiḍe">
                <a:extLst>
                  <a:ext uri="{FF2B5EF4-FFF2-40B4-BE49-F238E27FC236}">
                    <a16:creationId xmlns:a16="http://schemas.microsoft.com/office/drawing/2014/main" id="{DBA7D55B-ADD0-A3A8-EAA2-8ABC73A970E8}"/>
                  </a:ext>
                </a:extLst>
              </p:cNvPr>
              <p:cNvSpPr/>
              <p:nvPr/>
            </p:nvSpPr>
            <p:spPr bwMode="auto">
              <a:xfrm>
                <a:off x="2032001" y="3433763"/>
                <a:ext cx="128588" cy="73025"/>
              </a:xfrm>
              <a:custGeom>
                <a:avLst/>
                <a:gdLst>
                  <a:gd name="T0" fmla="*/ 81 w 81"/>
                  <a:gd name="T1" fmla="*/ 46 h 46"/>
                  <a:gd name="T2" fmla="*/ 0 w 81"/>
                  <a:gd name="T3" fmla="*/ 31 h 46"/>
                  <a:gd name="T4" fmla="*/ 0 w 81"/>
                  <a:gd name="T5" fmla="*/ 23 h 46"/>
                  <a:gd name="T6" fmla="*/ 79 w 81"/>
                  <a:gd name="T7" fmla="*/ 0 h 46"/>
                  <a:gd name="T8" fmla="*/ 79 w 81"/>
                  <a:gd name="T9" fmla="*/ 6 h 46"/>
                  <a:gd name="T10" fmla="*/ 54 w 81"/>
                  <a:gd name="T11" fmla="*/ 15 h 46"/>
                  <a:gd name="T12" fmla="*/ 56 w 81"/>
                  <a:gd name="T13" fmla="*/ 34 h 46"/>
                  <a:gd name="T14" fmla="*/ 81 w 81"/>
                  <a:gd name="T15" fmla="*/ 38 h 46"/>
                  <a:gd name="T16" fmla="*/ 81 w 81"/>
                  <a:gd name="T17" fmla="*/ 46 h 46"/>
                  <a:gd name="T18" fmla="*/ 81 w 81"/>
                  <a:gd name="T19" fmla="*/ 46 h 46"/>
                  <a:gd name="T20" fmla="*/ 48 w 81"/>
                  <a:gd name="T21" fmla="*/ 34 h 46"/>
                  <a:gd name="T22" fmla="*/ 46 w 81"/>
                  <a:gd name="T23" fmla="*/ 17 h 46"/>
                  <a:gd name="T24" fmla="*/ 25 w 81"/>
                  <a:gd name="T25" fmla="*/ 23 h 46"/>
                  <a:gd name="T26" fmla="*/ 25 w 81"/>
                  <a:gd name="T27" fmla="*/ 23 h 46"/>
                  <a:gd name="T28" fmla="*/ 8 w 81"/>
                  <a:gd name="T29" fmla="*/ 27 h 46"/>
                  <a:gd name="T30" fmla="*/ 8 w 81"/>
                  <a:gd name="T31" fmla="*/ 27 h 46"/>
                  <a:gd name="T32" fmla="*/ 14 w 81"/>
                  <a:gd name="T33" fmla="*/ 27 h 46"/>
                  <a:gd name="T34" fmla="*/ 23 w 81"/>
                  <a:gd name="T35" fmla="*/ 29 h 46"/>
                  <a:gd name="T36" fmla="*/ 48 w 81"/>
                  <a:gd name="T37" fmla="*/ 34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81" h="46">
                    <a:moveTo>
                      <a:pt x="81" y="46"/>
                    </a:moveTo>
                    <a:lnTo>
                      <a:pt x="0" y="31"/>
                    </a:lnTo>
                    <a:lnTo>
                      <a:pt x="0" y="23"/>
                    </a:lnTo>
                    <a:lnTo>
                      <a:pt x="79" y="0"/>
                    </a:lnTo>
                    <a:lnTo>
                      <a:pt x="79" y="6"/>
                    </a:lnTo>
                    <a:lnTo>
                      <a:pt x="54" y="15"/>
                    </a:lnTo>
                    <a:lnTo>
                      <a:pt x="56" y="34"/>
                    </a:lnTo>
                    <a:lnTo>
                      <a:pt x="81" y="38"/>
                    </a:lnTo>
                    <a:lnTo>
                      <a:pt x="81" y="46"/>
                    </a:lnTo>
                    <a:lnTo>
                      <a:pt x="81" y="46"/>
                    </a:lnTo>
                    <a:close/>
                    <a:moveTo>
                      <a:pt x="48" y="34"/>
                    </a:moveTo>
                    <a:lnTo>
                      <a:pt x="46" y="17"/>
                    </a:lnTo>
                    <a:lnTo>
                      <a:pt x="25" y="23"/>
                    </a:lnTo>
                    <a:lnTo>
                      <a:pt x="25" y="23"/>
                    </a:lnTo>
                    <a:lnTo>
                      <a:pt x="8" y="27"/>
                    </a:lnTo>
                    <a:lnTo>
                      <a:pt x="8" y="27"/>
                    </a:lnTo>
                    <a:lnTo>
                      <a:pt x="14" y="27"/>
                    </a:lnTo>
                    <a:lnTo>
                      <a:pt x="23" y="29"/>
                    </a:lnTo>
                    <a:lnTo>
                      <a:pt x="48" y="3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" name="ïṩľîďé">
                <a:extLst>
                  <a:ext uri="{FF2B5EF4-FFF2-40B4-BE49-F238E27FC236}">
                    <a16:creationId xmlns:a16="http://schemas.microsoft.com/office/drawing/2014/main" id="{0DCBDE6F-168C-AD6D-41D5-3F9E436E8EE4}"/>
                  </a:ext>
                </a:extLst>
              </p:cNvPr>
              <p:cNvSpPr/>
              <p:nvPr/>
            </p:nvSpPr>
            <p:spPr bwMode="auto">
              <a:xfrm>
                <a:off x="2028826" y="3367088"/>
                <a:ext cx="131763" cy="50800"/>
              </a:xfrm>
              <a:custGeom>
                <a:avLst/>
                <a:gdLst>
                  <a:gd name="T0" fmla="*/ 81 w 83"/>
                  <a:gd name="T1" fmla="*/ 32 h 32"/>
                  <a:gd name="T2" fmla="*/ 0 w 83"/>
                  <a:gd name="T3" fmla="*/ 28 h 32"/>
                  <a:gd name="T4" fmla="*/ 0 w 83"/>
                  <a:gd name="T5" fmla="*/ 21 h 32"/>
                  <a:gd name="T6" fmla="*/ 72 w 83"/>
                  <a:gd name="T7" fmla="*/ 26 h 32"/>
                  <a:gd name="T8" fmla="*/ 72 w 83"/>
                  <a:gd name="T9" fmla="*/ 0 h 32"/>
                  <a:gd name="T10" fmla="*/ 83 w 83"/>
                  <a:gd name="T11" fmla="*/ 3 h 32"/>
                  <a:gd name="T12" fmla="*/ 81 w 83"/>
                  <a:gd name="T13" fmla="*/ 3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3" h="32">
                    <a:moveTo>
                      <a:pt x="81" y="32"/>
                    </a:moveTo>
                    <a:lnTo>
                      <a:pt x="0" y="28"/>
                    </a:lnTo>
                    <a:lnTo>
                      <a:pt x="0" y="21"/>
                    </a:lnTo>
                    <a:lnTo>
                      <a:pt x="72" y="26"/>
                    </a:lnTo>
                    <a:lnTo>
                      <a:pt x="72" y="0"/>
                    </a:lnTo>
                    <a:lnTo>
                      <a:pt x="83" y="3"/>
                    </a:lnTo>
                    <a:lnTo>
                      <a:pt x="81" y="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" name="ïS1íḓè">
                <a:extLst>
                  <a:ext uri="{FF2B5EF4-FFF2-40B4-BE49-F238E27FC236}">
                    <a16:creationId xmlns:a16="http://schemas.microsoft.com/office/drawing/2014/main" id="{A65E0D5B-BDA1-E195-A163-C9E53788DA82}"/>
                  </a:ext>
                </a:extLst>
              </p:cNvPr>
              <p:cNvSpPr/>
              <p:nvPr/>
            </p:nvSpPr>
            <p:spPr bwMode="auto">
              <a:xfrm>
                <a:off x="2038351" y="3321051"/>
                <a:ext cx="125413" cy="26988"/>
              </a:xfrm>
              <a:custGeom>
                <a:avLst/>
                <a:gdLst>
                  <a:gd name="T0" fmla="*/ 79 w 79"/>
                  <a:gd name="T1" fmla="*/ 17 h 17"/>
                  <a:gd name="T2" fmla="*/ 0 w 79"/>
                  <a:gd name="T3" fmla="*/ 7 h 17"/>
                  <a:gd name="T4" fmla="*/ 0 w 79"/>
                  <a:gd name="T5" fmla="*/ 0 h 17"/>
                  <a:gd name="T6" fmla="*/ 79 w 79"/>
                  <a:gd name="T7" fmla="*/ 11 h 17"/>
                  <a:gd name="T8" fmla="*/ 79 w 79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" h="17">
                    <a:moveTo>
                      <a:pt x="79" y="17"/>
                    </a:moveTo>
                    <a:lnTo>
                      <a:pt x="0" y="7"/>
                    </a:lnTo>
                    <a:lnTo>
                      <a:pt x="0" y="0"/>
                    </a:lnTo>
                    <a:lnTo>
                      <a:pt x="79" y="11"/>
                    </a:lnTo>
                    <a:lnTo>
                      <a:pt x="79" y="1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" name="ïṥ1íďe">
                <a:extLst>
                  <a:ext uri="{FF2B5EF4-FFF2-40B4-BE49-F238E27FC236}">
                    <a16:creationId xmlns:a16="http://schemas.microsoft.com/office/drawing/2014/main" id="{EB030DA3-F3CB-E955-8FD3-8CBA97281A90}"/>
                  </a:ext>
                </a:extLst>
              </p:cNvPr>
              <p:cNvSpPr/>
              <p:nvPr/>
            </p:nvSpPr>
            <p:spPr bwMode="auto">
              <a:xfrm>
                <a:off x="2047876" y="3252788"/>
                <a:ext cx="134938" cy="71438"/>
              </a:xfrm>
              <a:custGeom>
                <a:avLst/>
                <a:gdLst>
                  <a:gd name="T0" fmla="*/ 75 w 85"/>
                  <a:gd name="T1" fmla="*/ 45 h 45"/>
                  <a:gd name="T2" fmla="*/ 0 w 85"/>
                  <a:gd name="T3" fmla="*/ 6 h 45"/>
                  <a:gd name="T4" fmla="*/ 2 w 85"/>
                  <a:gd name="T5" fmla="*/ 0 h 45"/>
                  <a:gd name="T6" fmla="*/ 85 w 85"/>
                  <a:gd name="T7" fmla="*/ 0 h 45"/>
                  <a:gd name="T8" fmla="*/ 83 w 85"/>
                  <a:gd name="T9" fmla="*/ 6 h 45"/>
                  <a:gd name="T10" fmla="*/ 58 w 85"/>
                  <a:gd name="T11" fmla="*/ 6 h 45"/>
                  <a:gd name="T12" fmla="*/ 54 w 85"/>
                  <a:gd name="T13" fmla="*/ 27 h 45"/>
                  <a:gd name="T14" fmla="*/ 75 w 85"/>
                  <a:gd name="T15" fmla="*/ 37 h 45"/>
                  <a:gd name="T16" fmla="*/ 75 w 85"/>
                  <a:gd name="T17" fmla="*/ 45 h 45"/>
                  <a:gd name="T18" fmla="*/ 75 w 85"/>
                  <a:gd name="T19" fmla="*/ 45 h 45"/>
                  <a:gd name="T20" fmla="*/ 46 w 85"/>
                  <a:gd name="T21" fmla="*/ 22 h 45"/>
                  <a:gd name="T22" fmla="*/ 50 w 85"/>
                  <a:gd name="T23" fmla="*/ 6 h 45"/>
                  <a:gd name="T24" fmla="*/ 27 w 85"/>
                  <a:gd name="T25" fmla="*/ 6 h 45"/>
                  <a:gd name="T26" fmla="*/ 27 w 85"/>
                  <a:gd name="T27" fmla="*/ 6 h 45"/>
                  <a:gd name="T28" fmla="*/ 11 w 85"/>
                  <a:gd name="T29" fmla="*/ 6 h 45"/>
                  <a:gd name="T30" fmla="*/ 11 w 85"/>
                  <a:gd name="T31" fmla="*/ 6 h 45"/>
                  <a:gd name="T32" fmla="*/ 17 w 85"/>
                  <a:gd name="T33" fmla="*/ 8 h 45"/>
                  <a:gd name="T34" fmla="*/ 25 w 85"/>
                  <a:gd name="T35" fmla="*/ 12 h 45"/>
                  <a:gd name="T36" fmla="*/ 46 w 85"/>
                  <a:gd name="T37" fmla="*/ 22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85" h="45">
                    <a:moveTo>
                      <a:pt x="75" y="45"/>
                    </a:moveTo>
                    <a:lnTo>
                      <a:pt x="0" y="6"/>
                    </a:lnTo>
                    <a:lnTo>
                      <a:pt x="2" y="0"/>
                    </a:lnTo>
                    <a:lnTo>
                      <a:pt x="85" y="0"/>
                    </a:lnTo>
                    <a:lnTo>
                      <a:pt x="83" y="6"/>
                    </a:lnTo>
                    <a:lnTo>
                      <a:pt x="58" y="6"/>
                    </a:lnTo>
                    <a:lnTo>
                      <a:pt x="54" y="27"/>
                    </a:lnTo>
                    <a:lnTo>
                      <a:pt x="75" y="37"/>
                    </a:lnTo>
                    <a:lnTo>
                      <a:pt x="75" y="45"/>
                    </a:lnTo>
                    <a:lnTo>
                      <a:pt x="75" y="45"/>
                    </a:lnTo>
                    <a:close/>
                    <a:moveTo>
                      <a:pt x="46" y="22"/>
                    </a:moveTo>
                    <a:lnTo>
                      <a:pt x="50" y="6"/>
                    </a:lnTo>
                    <a:lnTo>
                      <a:pt x="27" y="6"/>
                    </a:lnTo>
                    <a:lnTo>
                      <a:pt x="27" y="6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7" y="8"/>
                    </a:lnTo>
                    <a:lnTo>
                      <a:pt x="25" y="12"/>
                    </a:lnTo>
                    <a:lnTo>
                      <a:pt x="46" y="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" name="îṡ1íḓe">
                <a:extLst>
                  <a:ext uri="{FF2B5EF4-FFF2-40B4-BE49-F238E27FC236}">
                    <a16:creationId xmlns:a16="http://schemas.microsoft.com/office/drawing/2014/main" id="{9982B1D2-F4F7-C01B-7D2B-3034C90EAF9F}"/>
                  </a:ext>
                </a:extLst>
              </p:cNvPr>
              <p:cNvSpPr/>
              <p:nvPr/>
            </p:nvSpPr>
            <p:spPr bwMode="auto">
              <a:xfrm>
                <a:off x="2071688" y="3133726"/>
                <a:ext cx="138113" cy="104775"/>
              </a:xfrm>
              <a:custGeom>
                <a:avLst/>
                <a:gdLst>
                  <a:gd name="T0" fmla="*/ 72 w 87"/>
                  <a:gd name="T1" fmla="*/ 66 h 66"/>
                  <a:gd name="T2" fmla="*/ 0 w 87"/>
                  <a:gd name="T3" fmla="*/ 37 h 66"/>
                  <a:gd name="T4" fmla="*/ 2 w 87"/>
                  <a:gd name="T5" fmla="*/ 31 h 66"/>
                  <a:gd name="T6" fmla="*/ 70 w 87"/>
                  <a:gd name="T7" fmla="*/ 29 h 66"/>
                  <a:gd name="T8" fmla="*/ 10 w 87"/>
                  <a:gd name="T9" fmla="*/ 6 h 66"/>
                  <a:gd name="T10" fmla="*/ 12 w 87"/>
                  <a:gd name="T11" fmla="*/ 0 h 66"/>
                  <a:gd name="T12" fmla="*/ 87 w 87"/>
                  <a:gd name="T13" fmla="*/ 31 h 66"/>
                  <a:gd name="T14" fmla="*/ 85 w 87"/>
                  <a:gd name="T15" fmla="*/ 37 h 66"/>
                  <a:gd name="T16" fmla="*/ 16 w 87"/>
                  <a:gd name="T17" fmla="*/ 37 h 66"/>
                  <a:gd name="T18" fmla="*/ 75 w 87"/>
                  <a:gd name="T19" fmla="*/ 60 h 66"/>
                  <a:gd name="T20" fmla="*/ 72 w 87"/>
                  <a:gd name="T21" fmla="*/ 66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7" h="66">
                    <a:moveTo>
                      <a:pt x="72" y="66"/>
                    </a:moveTo>
                    <a:lnTo>
                      <a:pt x="0" y="37"/>
                    </a:lnTo>
                    <a:lnTo>
                      <a:pt x="2" y="31"/>
                    </a:lnTo>
                    <a:lnTo>
                      <a:pt x="70" y="29"/>
                    </a:lnTo>
                    <a:lnTo>
                      <a:pt x="10" y="6"/>
                    </a:lnTo>
                    <a:lnTo>
                      <a:pt x="12" y="0"/>
                    </a:lnTo>
                    <a:lnTo>
                      <a:pt x="87" y="31"/>
                    </a:lnTo>
                    <a:lnTo>
                      <a:pt x="85" y="37"/>
                    </a:lnTo>
                    <a:lnTo>
                      <a:pt x="16" y="37"/>
                    </a:lnTo>
                    <a:lnTo>
                      <a:pt x="75" y="60"/>
                    </a:lnTo>
                    <a:lnTo>
                      <a:pt x="72" y="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" name="ïṣļîḍê">
                <a:extLst>
                  <a:ext uri="{FF2B5EF4-FFF2-40B4-BE49-F238E27FC236}">
                    <a16:creationId xmlns:a16="http://schemas.microsoft.com/office/drawing/2014/main" id="{7D143130-048B-38E7-C182-B97C192E9D5D}"/>
                  </a:ext>
                </a:extLst>
              </p:cNvPr>
              <p:cNvSpPr/>
              <p:nvPr/>
            </p:nvSpPr>
            <p:spPr bwMode="auto">
              <a:xfrm>
                <a:off x="2133601" y="3006726"/>
                <a:ext cx="128588" cy="109538"/>
              </a:xfrm>
              <a:custGeom>
                <a:avLst/>
                <a:gdLst>
                  <a:gd name="T0" fmla="*/ 17 w 81"/>
                  <a:gd name="T1" fmla="*/ 5 h 69"/>
                  <a:gd name="T2" fmla="*/ 21 w 81"/>
                  <a:gd name="T3" fmla="*/ 0 h 69"/>
                  <a:gd name="T4" fmla="*/ 58 w 81"/>
                  <a:gd name="T5" fmla="*/ 25 h 69"/>
                  <a:gd name="T6" fmla="*/ 58 w 81"/>
                  <a:gd name="T7" fmla="*/ 25 h 69"/>
                  <a:gd name="T8" fmla="*/ 67 w 81"/>
                  <a:gd name="T9" fmla="*/ 32 h 69"/>
                  <a:gd name="T10" fmla="*/ 75 w 81"/>
                  <a:gd name="T11" fmla="*/ 38 h 69"/>
                  <a:gd name="T12" fmla="*/ 75 w 81"/>
                  <a:gd name="T13" fmla="*/ 38 h 69"/>
                  <a:gd name="T14" fmla="*/ 77 w 81"/>
                  <a:gd name="T15" fmla="*/ 40 h 69"/>
                  <a:gd name="T16" fmla="*/ 79 w 81"/>
                  <a:gd name="T17" fmla="*/ 42 h 69"/>
                  <a:gd name="T18" fmla="*/ 79 w 81"/>
                  <a:gd name="T19" fmla="*/ 46 h 69"/>
                  <a:gd name="T20" fmla="*/ 81 w 81"/>
                  <a:gd name="T21" fmla="*/ 48 h 69"/>
                  <a:gd name="T22" fmla="*/ 81 w 81"/>
                  <a:gd name="T23" fmla="*/ 48 h 69"/>
                  <a:gd name="T24" fmla="*/ 81 w 81"/>
                  <a:gd name="T25" fmla="*/ 52 h 69"/>
                  <a:gd name="T26" fmla="*/ 81 w 81"/>
                  <a:gd name="T27" fmla="*/ 55 h 69"/>
                  <a:gd name="T28" fmla="*/ 79 w 81"/>
                  <a:gd name="T29" fmla="*/ 59 h 69"/>
                  <a:gd name="T30" fmla="*/ 77 w 81"/>
                  <a:gd name="T31" fmla="*/ 61 h 69"/>
                  <a:gd name="T32" fmla="*/ 77 w 81"/>
                  <a:gd name="T33" fmla="*/ 61 h 69"/>
                  <a:gd name="T34" fmla="*/ 75 w 81"/>
                  <a:gd name="T35" fmla="*/ 63 h 69"/>
                  <a:gd name="T36" fmla="*/ 71 w 81"/>
                  <a:gd name="T37" fmla="*/ 67 h 69"/>
                  <a:gd name="T38" fmla="*/ 71 w 81"/>
                  <a:gd name="T39" fmla="*/ 67 h 69"/>
                  <a:gd name="T40" fmla="*/ 67 w 81"/>
                  <a:gd name="T41" fmla="*/ 67 h 69"/>
                  <a:gd name="T42" fmla="*/ 63 w 81"/>
                  <a:gd name="T43" fmla="*/ 69 h 69"/>
                  <a:gd name="T44" fmla="*/ 63 w 81"/>
                  <a:gd name="T45" fmla="*/ 69 h 69"/>
                  <a:gd name="T46" fmla="*/ 60 w 81"/>
                  <a:gd name="T47" fmla="*/ 67 h 69"/>
                  <a:gd name="T48" fmla="*/ 58 w 81"/>
                  <a:gd name="T49" fmla="*/ 67 h 69"/>
                  <a:gd name="T50" fmla="*/ 52 w 81"/>
                  <a:gd name="T51" fmla="*/ 65 h 69"/>
                  <a:gd name="T52" fmla="*/ 46 w 81"/>
                  <a:gd name="T53" fmla="*/ 63 h 69"/>
                  <a:gd name="T54" fmla="*/ 38 w 81"/>
                  <a:gd name="T55" fmla="*/ 57 h 69"/>
                  <a:gd name="T56" fmla="*/ 0 w 81"/>
                  <a:gd name="T57" fmla="*/ 32 h 69"/>
                  <a:gd name="T58" fmla="*/ 2 w 81"/>
                  <a:gd name="T59" fmla="*/ 27 h 69"/>
                  <a:gd name="T60" fmla="*/ 42 w 81"/>
                  <a:gd name="T61" fmla="*/ 52 h 69"/>
                  <a:gd name="T62" fmla="*/ 42 w 81"/>
                  <a:gd name="T63" fmla="*/ 52 h 69"/>
                  <a:gd name="T64" fmla="*/ 50 w 81"/>
                  <a:gd name="T65" fmla="*/ 57 h 69"/>
                  <a:gd name="T66" fmla="*/ 56 w 81"/>
                  <a:gd name="T67" fmla="*/ 59 h 69"/>
                  <a:gd name="T68" fmla="*/ 56 w 81"/>
                  <a:gd name="T69" fmla="*/ 59 h 69"/>
                  <a:gd name="T70" fmla="*/ 58 w 81"/>
                  <a:gd name="T71" fmla="*/ 61 h 69"/>
                  <a:gd name="T72" fmla="*/ 60 w 81"/>
                  <a:gd name="T73" fmla="*/ 61 h 69"/>
                  <a:gd name="T74" fmla="*/ 63 w 81"/>
                  <a:gd name="T75" fmla="*/ 61 h 69"/>
                  <a:gd name="T76" fmla="*/ 65 w 81"/>
                  <a:gd name="T77" fmla="*/ 61 h 69"/>
                  <a:gd name="T78" fmla="*/ 65 w 81"/>
                  <a:gd name="T79" fmla="*/ 61 h 69"/>
                  <a:gd name="T80" fmla="*/ 65 w 81"/>
                  <a:gd name="T81" fmla="*/ 59 h 69"/>
                  <a:gd name="T82" fmla="*/ 67 w 81"/>
                  <a:gd name="T83" fmla="*/ 59 h 69"/>
                  <a:gd name="T84" fmla="*/ 69 w 81"/>
                  <a:gd name="T85" fmla="*/ 57 h 69"/>
                  <a:gd name="T86" fmla="*/ 69 w 81"/>
                  <a:gd name="T87" fmla="*/ 57 h 69"/>
                  <a:gd name="T88" fmla="*/ 69 w 81"/>
                  <a:gd name="T89" fmla="*/ 57 h 69"/>
                  <a:gd name="T90" fmla="*/ 71 w 81"/>
                  <a:gd name="T91" fmla="*/ 52 h 69"/>
                  <a:gd name="T92" fmla="*/ 71 w 81"/>
                  <a:gd name="T93" fmla="*/ 50 h 69"/>
                  <a:gd name="T94" fmla="*/ 71 w 81"/>
                  <a:gd name="T95" fmla="*/ 48 h 69"/>
                  <a:gd name="T96" fmla="*/ 71 w 81"/>
                  <a:gd name="T97" fmla="*/ 44 h 69"/>
                  <a:gd name="T98" fmla="*/ 71 w 81"/>
                  <a:gd name="T99" fmla="*/ 44 h 69"/>
                  <a:gd name="T100" fmla="*/ 69 w 81"/>
                  <a:gd name="T101" fmla="*/ 42 h 69"/>
                  <a:gd name="T102" fmla="*/ 67 w 81"/>
                  <a:gd name="T103" fmla="*/ 38 h 69"/>
                  <a:gd name="T104" fmla="*/ 60 w 81"/>
                  <a:gd name="T105" fmla="*/ 34 h 69"/>
                  <a:gd name="T106" fmla="*/ 56 w 81"/>
                  <a:gd name="T107" fmla="*/ 32 h 69"/>
                  <a:gd name="T108" fmla="*/ 17 w 81"/>
                  <a:gd name="T109" fmla="*/ 5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81" h="69">
                    <a:moveTo>
                      <a:pt x="17" y="5"/>
                    </a:moveTo>
                    <a:lnTo>
                      <a:pt x="21" y="0"/>
                    </a:lnTo>
                    <a:lnTo>
                      <a:pt x="58" y="25"/>
                    </a:lnTo>
                    <a:lnTo>
                      <a:pt x="58" y="25"/>
                    </a:lnTo>
                    <a:lnTo>
                      <a:pt x="67" y="32"/>
                    </a:lnTo>
                    <a:lnTo>
                      <a:pt x="75" y="38"/>
                    </a:lnTo>
                    <a:lnTo>
                      <a:pt x="75" y="38"/>
                    </a:lnTo>
                    <a:lnTo>
                      <a:pt x="77" y="40"/>
                    </a:lnTo>
                    <a:lnTo>
                      <a:pt x="79" y="42"/>
                    </a:lnTo>
                    <a:lnTo>
                      <a:pt x="79" y="46"/>
                    </a:lnTo>
                    <a:lnTo>
                      <a:pt x="81" y="48"/>
                    </a:lnTo>
                    <a:lnTo>
                      <a:pt x="81" y="48"/>
                    </a:lnTo>
                    <a:lnTo>
                      <a:pt x="81" y="52"/>
                    </a:lnTo>
                    <a:lnTo>
                      <a:pt x="81" y="55"/>
                    </a:lnTo>
                    <a:lnTo>
                      <a:pt x="79" y="59"/>
                    </a:lnTo>
                    <a:lnTo>
                      <a:pt x="77" y="61"/>
                    </a:lnTo>
                    <a:lnTo>
                      <a:pt x="77" y="61"/>
                    </a:lnTo>
                    <a:lnTo>
                      <a:pt x="75" y="63"/>
                    </a:lnTo>
                    <a:lnTo>
                      <a:pt x="71" y="67"/>
                    </a:lnTo>
                    <a:lnTo>
                      <a:pt x="71" y="67"/>
                    </a:lnTo>
                    <a:lnTo>
                      <a:pt x="67" y="67"/>
                    </a:lnTo>
                    <a:lnTo>
                      <a:pt x="63" y="69"/>
                    </a:lnTo>
                    <a:lnTo>
                      <a:pt x="63" y="69"/>
                    </a:lnTo>
                    <a:lnTo>
                      <a:pt x="60" y="67"/>
                    </a:lnTo>
                    <a:lnTo>
                      <a:pt x="58" y="67"/>
                    </a:lnTo>
                    <a:lnTo>
                      <a:pt x="52" y="65"/>
                    </a:lnTo>
                    <a:lnTo>
                      <a:pt x="46" y="63"/>
                    </a:lnTo>
                    <a:lnTo>
                      <a:pt x="38" y="57"/>
                    </a:lnTo>
                    <a:lnTo>
                      <a:pt x="0" y="32"/>
                    </a:lnTo>
                    <a:lnTo>
                      <a:pt x="2" y="27"/>
                    </a:lnTo>
                    <a:lnTo>
                      <a:pt x="42" y="52"/>
                    </a:lnTo>
                    <a:lnTo>
                      <a:pt x="42" y="52"/>
                    </a:lnTo>
                    <a:lnTo>
                      <a:pt x="50" y="57"/>
                    </a:lnTo>
                    <a:lnTo>
                      <a:pt x="56" y="59"/>
                    </a:lnTo>
                    <a:lnTo>
                      <a:pt x="56" y="59"/>
                    </a:lnTo>
                    <a:lnTo>
                      <a:pt x="58" y="61"/>
                    </a:lnTo>
                    <a:lnTo>
                      <a:pt x="60" y="61"/>
                    </a:lnTo>
                    <a:lnTo>
                      <a:pt x="63" y="61"/>
                    </a:lnTo>
                    <a:lnTo>
                      <a:pt x="65" y="61"/>
                    </a:lnTo>
                    <a:lnTo>
                      <a:pt x="65" y="61"/>
                    </a:lnTo>
                    <a:lnTo>
                      <a:pt x="65" y="59"/>
                    </a:lnTo>
                    <a:lnTo>
                      <a:pt x="67" y="59"/>
                    </a:lnTo>
                    <a:lnTo>
                      <a:pt x="69" y="57"/>
                    </a:lnTo>
                    <a:lnTo>
                      <a:pt x="69" y="57"/>
                    </a:lnTo>
                    <a:lnTo>
                      <a:pt x="69" y="57"/>
                    </a:lnTo>
                    <a:lnTo>
                      <a:pt x="71" y="52"/>
                    </a:lnTo>
                    <a:lnTo>
                      <a:pt x="71" y="50"/>
                    </a:lnTo>
                    <a:lnTo>
                      <a:pt x="71" y="48"/>
                    </a:lnTo>
                    <a:lnTo>
                      <a:pt x="71" y="44"/>
                    </a:lnTo>
                    <a:lnTo>
                      <a:pt x="71" y="44"/>
                    </a:lnTo>
                    <a:lnTo>
                      <a:pt x="69" y="42"/>
                    </a:lnTo>
                    <a:lnTo>
                      <a:pt x="67" y="38"/>
                    </a:lnTo>
                    <a:lnTo>
                      <a:pt x="60" y="34"/>
                    </a:lnTo>
                    <a:lnTo>
                      <a:pt x="56" y="32"/>
                    </a:lnTo>
                    <a:lnTo>
                      <a:pt x="17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" name="iṧḻiḓe">
                <a:extLst>
                  <a:ext uri="{FF2B5EF4-FFF2-40B4-BE49-F238E27FC236}">
                    <a16:creationId xmlns:a16="http://schemas.microsoft.com/office/drawing/2014/main" id="{DF7378DD-A853-304D-C404-22883E8D06AB}"/>
                  </a:ext>
                </a:extLst>
              </p:cNvPr>
              <p:cNvSpPr/>
              <p:nvPr/>
            </p:nvSpPr>
            <p:spPr bwMode="auto">
              <a:xfrm>
                <a:off x="2190751" y="2927351"/>
                <a:ext cx="134938" cy="130175"/>
              </a:xfrm>
              <a:custGeom>
                <a:avLst/>
                <a:gdLst>
                  <a:gd name="T0" fmla="*/ 60 w 85"/>
                  <a:gd name="T1" fmla="*/ 82 h 82"/>
                  <a:gd name="T2" fmla="*/ 0 w 85"/>
                  <a:gd name="T3" fmla="*/ 30 h 82"/>
                  <a:gd name="T4" fmla="*/ 4 w 85"/>
                  <a:gd name="T5" fmla="*/ 23 h 82"/>
                  <a:gd name="T6" fmla="*/ 68 w 85"/>
                  <a:gd name="T7" fmla="*/ 46 h 82"/>
                  <a:gd name="T8" fmla="*/ 20 w 85"/>
                  <a:gd name="T9" fmla="*/ 5 h 82"/>
                  <a:gd name="T10" fmla="*/ 24 w 85"/>
                  <a:gd name="T11" fmla="*/ 0 h 82"/>
                  <a:gd name="T12" fmla="*/ 85 w 85"/>
                  <a:gd name="T13" fmla="*/ 52 h 82"/>
                  <a:gd name="T14" fmla="*/ 81 w 85"/>
                  <a:gd name="T15" fmla="*/ 59 h 82"/>
                  <a:gd name="T16" fmla="*/ 16 w 85"/>
                  <a:gd name="T17" fmla="*/ 36 h 82"/>
                  <a:gd name="T18" fmla="*/ 64 w 85"/>
                  <a:gd name="T19" fmla="*/ 77 h 82"/>
                  <a:gd name="T20" fmla="*/ 60 w 85"/>
                  <a:gd name="T21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5" h="82">
                    <a:moveTo>
                      <a:pt x="60" y="82"/>
                    </a:moveTo>
                    <a:lnTo>
                      <a:pt x="0" y="30"/>
                    </a:lnTo>
                    <a:lnTo>
                      <a:pt x="4" y="23"/>
                    </a:lnTo>
                    <a:lnTo>
                      <a:pt x="68" y="46"/>
                    </a:lnTo>
                    <a:lnTo>
                      <a:pt x="20" y="5"/>
                    </a:lnTo>
                    <a:lnTo>
                      <a:pt x="24" y="0"/>
                    </a:lnTo>
                    <a:lnTo>
                      <a:pt x="85" y="52"/>
                    </a:lnTo>
                    <a:lnTo>
                      <a:pt x="81" y="59"/>
                    </a:lnTo>
                    <a:lnTo>
                      <a:pt x="16" y="36"/>
                    </a:lnTo>
                    <a:lnTo>
                      <a:pt x="64" y="77"/>
                    </a:lnTo>
                    <a:lnTo>
                      <a:pt x="60" y="8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0" name="iSḻíḓe">
                <a:extLst>
                  <a:ext uri="{FF2B5EF4-FFF2-40B4-BE49-F238E27FC236}">
                    <a16:creationId xmlns:a16="http://schemas.microsoft.com/office/drawing/2014/main" id="{16C295F8-0A10-7374-7F62-CB6A6C309515}"/>
                  </a:ext>
                </a:extLst>
              </p:cNvPr>
              <p:cNvSpPr/>
              <p:nvPr/>
            </p:nvSpPr>
            <p:spPr bwMode="auto">
              <a:xfrm>
                <a:off x="2259013" y="2895601"/>
                <a:ext cx="92075" cy="98425"/>
              </a:xfrm>
              <a:custGeom>
                <a:avLst/>
                <a:gdLst>
                  <a:gd name="T0" fmla="*/ 54 w 58"/>
                  <a:gd name="T1" fmla="*/ 62 h 62"/>
                  <a:gd name="T2" fmla="*/ 0 w 58"/>
                  <a:gd name="T3" fmla="*/ 4 h 62"/>
                  <a:gd name="T4" fmla="*/ 4 w 58"/>
                  <a:gd name="T5" fmla="*/ 0 h 62"/>
                  <a:gd name="T6" fmla="*/ 58 w 58"/>
                  <a:gd name="T7" fmla="*/ 58 h 62"/>
                  <a:gd name="T8" fmla="*/ 54 w 58"/>
                  <a:gd name="T9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8" h="62">
                    <a:moveTo>
                      <a:pt x="54" y="62"/>
                    </a:moveTo>
                    <a:lnTo>
                      <a:pt x="0" y="4"/>
                    </a:lnTo>
                    <a:lnTo>
                      <a:pt x="4" y="0"/>
                    </a:lnTo>
                    <a:lnTo>
                      <a:pt x="58" y="58"/>
                    </a:lnTo>
                    <a:lnTo>
                      <a:pt x="54" y="6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1" name="i$lîḍé">
                <a:extLst>
                  <a:ext uri="{FF2B5EF4-FFF2-40B4-BE49-F238E27FC236}">
                    <a16:creationId xmlns:a16="http://schemas.microsoft.com/office/drawing/2014/main" id="{2E38B2D6-C6F6-CA8A-A88B-457C34AB8200}"/>
                  </a:ext>
                </a:extLst>
              </p:cNvPr>
              <p:cNvSpPr/>
              <p:nvPr/>
            </p:nvSpPr>
            <p:spPr bwMode="auto">
              <a:xfrm>
                <a:off x="2289176" y="2828926"/>
                <a:ext cx="107950" cy="125413"/>
              </a:xfrm>
              <a:custGeom>
                <a:avLst/>
                <a:gdLst>
                  <a:gd name="T0" fmla="*/ 62 w 68"/>
                  <a:gd name="T1" fmla="*/ 79 h 79"/>
                  <a:gd name="T2" fmla="*/ 0 w 68"/>
                  <a:gd name="T3" fmla="*/ 27 h 79"/>
                  <a:gd name="T4" fmla="*/ 4 w 68"/>
                  <a:gd name="T5" fmla="*/ 23 h 79"/>
                  <a:gd name="T6" fmla="*/ 50 w 68"/>
                  <a:gd name="T7" fmla="*/ 62 h 79"/>
                  <a:gd name="T8" fmla="*/ 50 w 68"/>
                  <a:gd name="T9" fmla="*/ 62 h 79"/>
                  <a:gd name="T10" fmla="*/ 60 w 68"/>
                  <a:gd name="T11" fmla="*/ 71 h 79"/>
                  <a:gd name="T12" fmla="*/ 60 w 68"/>
                  <a:gd name="T13" fmla="*/ 71 h 79"/>
                  <a:gd name="T14" fmla="*/ 54 w 68"/>
                  <a:gd name="T15" fmla="*/ 58 h 79"/>
                  <a:gd name="T16" fmla="*/ 29 w 68"/>
                  <a:gd name="T17" fmla="*/ 4 h 79"/>
                  <a:gd name="T18" fmla="*/ 35 w 68"/>
                  <a:gd name="T19" fmla="*/ 0 h 79"/>
                  <a:gd name="T20" fmla="*/ 68 w 68"/>
                  <a:gd name="T21" fmla="*/ 77 h 79"/>
                  <a:gd name="T22" fmla="*/ 62 w 68"/>
                  <a:gd name="T23" fmla="*/ 79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8" h="79">
                    <a:moveTo>
                      <a:pt x="62" y="79"/>
                    </a:moveTo>
                    <a:lnTo>
                      <a:pt x="0" y="27"/>
                    </a:lnTo>
                    <a:lnTo>
                      <a:pt x="4" y="23"/>
                    </a:lnTo>
                    <a:lnTo>
                      <a:pt x="50" y="62"/>
                    </a:lnTo>
                    <a:lnTo>
                      <a:pt x="50" y="62"/>
                    </a:lnTo>
                    <a:lnTo>
                      <a:pt x="60" y="71"/>
                    </a:lnTo>
                    <a:lnTo>
                      <a:pt x="60" y="71"/>
                    </a:lnTo>
                    <a:lnTo>
                      <a:pt x="54" y="58"/>
                    </a:lnTo>
                    <a:lnTo>
                      <a:pt x="29" y="4"/>
                    </a:lnTo>
                    <a:lnTo>
                      <a:pt x="35" y="0"/>
                    </a:lnTo>
                    <a:lnTo>
                      <a:pt x="68" y="77"/>
                    </a:lnTo>
                    <a:lnTo>
                      <a:pt x="62" y="7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2" name="iṥľíḍe">
                <a:extLst>
                  <a:ext uri="{FF2B5EF4-FFF2-40B4-BE49-F238E27FC236}">
                    <a16:creationId xmlns:a16="http://schemas.microsoft.com/office/drawing/2014/main" id="{905747D4-AB6F-EEBE-2C81-63E596239064}"/>
                  </a:ext>
                </a:extLst>
              </p:cNvPr>
              <p:cNvSpPr/>
              <p:nvPr/>
            </p:nvSpPr>
            <p:spPr bwMode="auto">
              <a:xfrm>
                <a:off x="2371726" y="2782888"/>
                <a:ext cx="111125" cy="138113"/>
              </a:xfrm>
              <a:custGeom>
                <a:avLst/>
                <a:gdLst>
                  <a:gd name="T0" fmla="*/ 39 w 70"/>
                  <a:gd name="T1" fmla="*/ 87 h 87"/>
                  <a:gd name="T2" fmla="*/ 0 w 70"/>
                  <a:gd name="T3" fmla="*/ 18 h 87"/>
                  <a:gd name="T4" fmla="*/ 31 w 70"/>
                  <a:gd name="T5" fmla="*/ 0 h 87"/>
                  <a:gd name="T6" fmla="*/ 35 w 70"/>
                  <a:gd name="T7" fmla="*/ 8 h 87"/>
                  <a:gd name="T8" fmla="*/ 10 w 70"/>
                  <a:gd name="T9" fmla="*/ 23 h 87"/>
                  <a:gd name="T10" fmla="*/ 23 w 70"/>
                  <a:gd name="T11" fmla="*/ 46 h 87"/>
                  <a:gd name="T12" fmla="*/ 45 w 70"/>
                  <a:gd name="T13" fmla="*/ 31 h 87"/>
                  <a:gd name="T14" fmla="*/ 50 w 70"/>
                  <a:gd name="T15" fmla="*/ 39 h 87"/>
                  <a:gd name="T16" fmla="*/ 27 w 70"/>
                  <a:gd name="T17" fmla="*/ 52 h 87"/>
                  <a:gd name="T18" fmla="*/ 41 w 70"/>
                  <a:gd name="T19" fmla="*/ 77 h 87"/>
                  <a:gd name="T20" fmla="*/ 66 w 70"/>
                  <a:gd name="T21" fmla="*/ 62 h 87"/>
                  <a:gd name="T22" fmla="*/ 70 w 70"/>
                  <a:gd name="T23" fmla="*/ 71 h 87"/>
                  <a:gd name="T24" fmla="*/ 39 w 70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0" h="87">
                    <a:moveTo>
                      <a:pt x="39" y="87"/>
                    </a:moveTo>
                    <a:lnTo>
                      <a:pt x="0" y="18"/>
                    </a:lnTo>
                    <a:lnTo>
                      <a:pt x="31" y="0"/>
                    </a:lnTo>
                    <a:lnTo>
                      <a:pt x="35" y="8"/>
                    </a:lnTo>
                    <a:lnTo>
                      <a:pt x="10" y="23"/>
                    </a:lnTo>
                    <a:lnTo>
                      <a:pt x="23" y="46"/>
                    </a:lnTo>
                    <a:lnTo>
                      <a:pt x="45" y="31"/>
                    </a:lnTo>
                    <a:lnTo>
                      <a:pt x="50" y="39"/>
                    </a:lnTo>
                    <a:lnTo>
                      <a:pt x="27" y="52"/>
                    </a:lnTo>
                    <a:lnTo>
                      <a:pt x="41" y="77"/>
                    </a:lnTo>
                    <a:lnTo>
                      <a:pt x="66" y="62"/>
                    </a:lnTo>
                    <a:lnTo>
                      <a:pt x="70" y="71"/>
                    </a:lnTo>
                    <a:lnTo>
                      <a:pt x="39" y="8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3" name="ïṩḷíḓè">
                <a:extLst>
                  <a:ext uri="{FF2B5EF4-FFF2-40B4-BE49-F238E27FC236}">
                    <a16:creationId xmlns:a16="http://schemas.microsoft.com/office/drawing/2014/main" id="{9D74FABA-6174-4CD6-3AF0-DE23E7319773}"/>
                  </a:ext>
                </a:extLst>
              </p:cNvPr>
              <p:cNvSpPr/>
              <p:nvPr/>
            </p:nvSpPr>
            <p:spPr bwMode="auto">
              <a:xfrm>
                <a:off x="2457451" y="2749551"/>
                <a:ext cx="107950" cy="134938"/>
              </a:xfrm>
              <a:custGeom>
                <a:avLst/>
                <a:gdLst>
                  <a:gd name="T0" fmla="*/ 0 w 68"/>
                  <a:gd name="T1" fmla="*/ 10 h 85"/>
                  <a:gd name="T2" fmla="*/ 18 w 68"/>
                  <a:gd name="T3" fmla="*/ 2 h 85"/>
                  <a:gd name="T4" fmla="*/ 25 w 68"/>
                  <a:gd name="T5" fmla="*/ 0 h 85"/>
                  <a:gd name="T6" fmla="*/ 29 w 68"/>
                  <a:gd name="T7" fmla="*/ 0 h 85"/>
                  <a:gd name="T8" fmla="*/ 31 w 68"/>
                  <a:gd name="T9" fmla="*/ 0 h 85"/>
                  <a:gd name="T10" fmla="*/ 35 w 68"/>
                  <a:gd name="T11" fmla="*/ 4 h 85"/>
                  <a:gd name="T12" fmla="*/ 37 w 68"/>
                  <a:gd name="T13" fmla="*/ 6 h 85"/>
                  <a:gd name="T14" fmla="*/ 39 w 68"/>
                  <a:gd name="T15" fmla="*/ 10 h 85"/>
                  <a:gd name="T16" fmla="*/ 43 w 68"/>
                  <a:gd name="T17" fmla="*/ 17 h 85"/>
                  <a:gd name="T18" fmla="*/ 45 w 68"/>
                  <a:gd name="T19" fmla="*/ 23 h 85"/>
                  <a:gd name="T20" fmla="*/ 45 w 68"/>
                  <a:gd name="T21" fmla="*/ 31 h 85"/>
                  <a:gd name="T22" fmla="*/ 45 w 68"/>
                  <a:gd name="T23" fmla="*/ 33 h 85"/>
                  <a:gd name="T24" fmla="*/ 41 w 68"/>
                  <a:gd name="T25" fmla="*/ 39 h 85"/>
                  <a:gd name="T26" fmla="*/ 39 w 68"/>
                  <a:gd name="T27" fmla="*/ 42 h 85"/>
                  <a:gd name="T28" fmla="*/ 43 w 68"/>
                  <a:gd name="T29" fmla="*/ 44 h 85"/>
                  <a:gd name="T30" fmla="*/ 50 w 68"/>
                  <a:gd name="T31" fmla="*/ 48 h 85"/>
                  <a:gd name="T32" fmla="*/ 68 w 68"/>
                  <a:gd name="T33" fmla="*/ 69 h 85"/>
                  <a:gd name="T34" fmla="*/ 50 w 68"/>
                  <a:gd name="T35" fmla="*/ 58 h 85"/>
                  <a:gd name="T36" fmla="*/ 43 w 68"/>
                  <a:gd name="T37" fmla="*/ 52 h 85"/>
                  <a:gd name="T38" fmla="*/ 39 w 68"/>
                  <a:gd name="T39" fmla="*/ 48 h 85"/>
                  <a:gd name="T40" fmla="*/ 33 w 68"/>
                  <a:gd name="T41" fmla="*/ 46 h 85"/>
                  <a:gd name="T42" fmla="*/ 31 w 68"/>
                  <a:gd name="T43" fmla="*/ 46 h 85"/>
                  <a:gd name="T44" fmla="*/ 21 w 68"/>
                  <a:gd name="T45" fmla="*/ 50 h 85"/>
                  <a:gd name="T46" fmla="*/ 29 w 68"/>
                  <a:gd name="T47" fmla="*/ 85 h 85"/>
                  <a:gd name="T48" fmla="*/ 18 w 68"/>
                  <a:gd name="T49" fmla="*/ 42 h 85"/>
                  <a:gd name="T50" fmla="*/ 31 w 68"/>
                  <a:gd name="T51" fmla="*/ 35 h 85"/>
                  <a:gd name="T52" fmla="*/ 37 w 68"/>
                  <a:gd name="T53" fmla="*/ 31 h 85"/>
                  <a:gd name="T54" fmla="*/ 37 w 68"/>
                  <a:gd name="T55" fmla="*/ 29 h 85"/>
                  <a:gd name="T56" fmla="*/ 39 w 68"/>
                  <a:gd name="T57" fmla="*/ 27 h 85"/>
                  <a:gd name="T58" fmla="*/ 37 w 68"/>
                  <a:gd name="T59" fmla="*/ 19 h 85"/>
                  <a:gd name="T60" fmla="*/ 35 w 68"/>
                  <a:gd name="T61" fmla="*/ 17 h 85"/>
                  <a:gd name="T62" fmla="*/ 33 w 68"/>
                  <a:gd name="T63" fmla="*/ 12 h 85"/>
                  <a:gd name="T64" fmla="*/ 31 w 68"/>
                  <a:gd name="T65" fmla="*/ 10 h 85"/>
                  <a:gd name="T66" fmla="*/ 27 w 68"/>
                  <a:gd name="T67" fmla="*/ 10 h 85"/>
                  <a:gd name="T68" fmla="*/ 23 w 68"/>
                  <a:gd name="T69" fmla="*/ 10 h 85"/>
                  <a:gd name="T70" fmla="*/ 18 w 68"/>
                  <a:gd name="T71" fmla="*/ 42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68" h="85">
                    <a:moveTo>
                      <a:pt x="29" y="85"/>
                    </a:moveTo>
                    <a:lnTo>
                      <a:pt x="0" y="10"/>
                    </a:lnTo>
                    <a:lnTo>
                      <a:pt x="18" y="2"/>
                    </a:lnTo>
                    <a:lnTo>
                      <a:pt x="18" y="2"/>
                    </a:lnTo>
                    <a:lnTo>
                      <a:pt x="23" y="0"/>
                    </a:lnTo>
                    <a:lnTo>
                      <a:pt x="25" y="0"/>
                    </a:lnTo>
                    <a:lnTo>
                      <a:pt x="27" y="0"/>
                    </a:lnTo>
                    <a:lnTo>
                      <a:pt x="29" y="0"/>
                    </a:lnTo>
                    <a:lnTo>
                      <a:pt x="29" y="0"/>
                    </a:lnTo>
                    <a:lnTo>
                      <a:pt x="31" y="0"/>
                    </a:lnTo>
                    <a:lnTo>
                      <a:pt x="33" y="2"/>
                    </a:lnTo>
                    <a:lnTo>
                      <a:pt x="35" y="4"/>
                    </a:lnTo>
                    <a:lnTo>
                      <a:pt x="37" y="6"/>
                    </a:lnTo>
                    <a:lnTo>
                      <a:pt x="37" y="6"/>
                    </a:lnTo>
                    <a:lnTo>
                      <a:pt x="39" y="8"/>
                    </a:lnTo>
                    <a:lnTo>
                      <a:pt x="39" y="10"/>
                    </a:lnTo>
                    <a:lnTo>
                      <a:pt x="43" y="17"/>
                    </a:lnTo>
                    <a:lnTo>
                      <a:pt x="43" y="17"/>
                    </a:lnTo>
                    <a:lnTo>
                      <a:pt x="45" y="21"/>
                    </a:lnTo>
                    <a:lnTo>
                      <a:pt x="45" y="23"/>
                    </a:lnTo>
                    <a:lnTo>
                      <a:pt x="45" y="27"/>
                    </a:lnTo>
                    <a:lnTo>
                      <a:pt x="45" y="31"/>
                    </a:lnTo>
                    <a:lnTo>
                      <a:pt x="45" y="31"/>
                    </a:lnTo>
                    <a:lnTo>
                      <a:pt x="45" y="33"/>
                    </a:lnTo>
                    <a:lnTo>
                      <a:pt x="43" y="37"/>
                    </a:lnTo>
                    <a:lnTo>
                      <a:pt x="41" y="39"/>
                    </a:lnTo>
                    <a:lnTo>
                      <a:pt x="39" y="42"/>
                    </a:lnTo>
                    <a:lnTo>
                      <a:pt x="39" y="42"/>
                    </a:lnTo>
                    <a:lnTo>
                      <a:pt x="41" y="42"/>
                    </a:lnTo>
                    <a:lnTo>
                      <a:pt x="43" y="44"/>
                    </a:lnTo>
                    <a:lnTo>
                      <a:pt x="43" y="44"/>
                    </a:lnTo>
                    <a:lnTo>
                      <a:pt x="50" y="48"/>
                    </a:lnTo>
                    <a:lnTo>
                      <a:pt x="54" y="52"/>
                    </a:lnTo>
                    <a:lnTo>
                      <a:pt x="68" y="69"/>
                    </a:lnTo>
                    <a:lnTo>
                      <a:pt x="62" y="71"/>
                    </a:lnTo>
                    <a:lnTo>
                      <a:pt x="50" y="58"/>
                    </a:lnTo>
                    <a:lnTo>
                      <a:pt x="50" y="58"/>
                    </a:lnTo>
                    <a:lnTo>
                      <a:pt x="43" y="52"/>
                    </a:lnTo>
                    <a:lnTo>
                      <a:pt x="39" y="48"/>
                    </a:lnTo>
                    <a:lnTo>
                      <a:pt x="39" y="48"/>
                    </a:lnTo>
                    <a:lnTo>
                      <a:pt x="35" y="46"/>
                    </a:lnTo>
                    <a:lnTo>
                      <a:pt x="33" y="46"/>
                    </a:lnTo>
                    <a:lnTo>
                      <a:pt x="33" y="46"/>
                    </a:lnTo>
                    <a:lnTo>
                      <a:pt x="31" y="46"/>
                    </a:lnTo>
                    <a:lnTo>
                      <a:pt x="29" y="46"/>
                    </a:lnTo>
                    <a:lnTo>
                      <a:pt x="21" y="50"/>
                    </a:lnTo>
                    <a:lnTo>
                      <a:pt x="35" y="83"/>
                    </a:lnTo>
                    <a:lnTo>
                      <a:pt x="29" y="85"/>
                    </a:lnTo>
                    <a:lnTo>
                      <a:pt x="29" y="85"/>
                    </a:lnTo>
                    <a:close/>
                    <a:moveTo>
                      <a:pt x="18" y="42"/>
                    </a:moveTo>
                    <a:lnTo>
                      <a:pt x="31" y="35"/>
                    </a:lnTo>
                    <a:lnTo>
                      <a:pt x="31" y="35"/>
                    </a:lnTo>
                    <a:lnTo>
                      <a:pt x="35" y="33"/>
                    </a:lnTo>
                    <a:lnTo>
                      <a:pt x="37" y="31"/>
                    </a:lnTo>
                    <a:lnTo>
                      <a:pt x="37" y="31"/>
                    </a:lnTo>
                    <a:lnTo>
                      <a:pt x="37" y="29"/>
                    </a:lnTo>
                    <a:lnTo>
                      <a:pt x="39" y="27"/>
                    </a:lnTo>
                    <a:lnTo>
                      <a:pt x="39" y="27"/>
                    </a:lnTo>
                    <a:lnTo>
                      <a:pt x="39" y="23"/>
                    </a:lnTo>
                    <a:lnTo>
                      <a:pt x="37" y="19"/>
                    </a:lnTo>
                    <a:lnTo>
                      <a:pt x="37" y="19"/>
                    </a:lnTo>
                    <a:lnTo>
                      <a:pt x="35" y="17"/>
                    </a:lnTo>
                    <a:lnTo>
                      <a:pt x="35" y="14"/>
                    </a:lnTo>
                    <a:lnTo>
                      <a:pt x="33" y="12"/>
                    </a:lnTo>
                    <a:lnTo>
                      <a:pt x="31" y="10"/>
                    </a:lnTo>
                    <a:lnTo>
                      <a:pt x="31" y="10"/>
                    </a:lnTo>
                    <a:lnTo>
                      <a:pt x="29" y="10"/>
                    </a:lnTo>
                    <a:lnTo>
                      <a:pt x="27" y="10"/>
                    </a:lnTo>
                    <a:lnTo>
                      <a:pt x="25" y="10"/>
                    </a:lnTo>
                    <a:lnTo>
                      <a:pt x="23" y="10"/>
                    </a:lnTo>
                    <a:lnTo>
                      <a:pt x="8" y="17"/>
                    </a:lnTo>
                    <a:lnTo>
                      <a:pt x="18" y="4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4" name="ïṡļíḋe">
                <a:extLst>
                  <a:ext uri="{FF2B5EF4-FFF2-40B4-BE49-F238E27FC236}">
                    <a16:creationId xmlns:a16="http://schemas.microsoft.com/office/drawing/2014/main" id="{D93AE0F7-652E-D3A7-2F88-D04DE4B2BA11}"/>
                  </a:ext>
                </a:extLst>
              </p:cNvPr>
              <p:cNvSpPr/>
              <p:nvPr/>
            </p:nvSpPr>
            <p:spPr bwMode="auto">
              <a:xfrm>
                <a:off x="2555876" y="2719388"/>
                <a:ext cx="76200" cy="128588"/>
              </a:xfrm>
              <a:custGeom>
                <a:avLst/>
                <a:gdLst>
                  <a:gd name="T0" fmla="*/ 15 w 48"/>
                  <a:gd name="T1" fmla="*/ 58 h 81"/>
                  <a:gd name="T2" fmla="*/ 19 w 48"/>
                  <a:gd name="T3" fmla="*/ 67 h 81"/>
                  <a:gd name="T4" fmla="*/ 25 w 48"/>
                  <a:gd name="T5" fmla="*/ 71 h 81"/>
                  <a:gd name="T6" fmla="*/ 31 w 48"/>
                  <a:gd name="T7" fmla="*/ 73 h 81"/>
                  <a:gd name="T8" fmla="*/ 35 w 48"/>
                  <a:gd name="T9" fmla="*/ 71 h 81"/>
                  <a:gd name="T10" fmla="*/ 40 w 48"/>
                  <a:gd name="T11" fmla="*/ 67 h 81"/>
                  <a:gd name="T12" fmla="*/ 42 w 48"/>
                  <a:gd name="T13" fmla="*/ 61 h 81"/>
                  <a:gd name="T14" fmla="*/ 42 w 48"/>
                  <a:gd name="T15" fmla="*/ 56 h 81"/>
                  <a:gd name="T16" fmla="*/ 37 w 48"/>
                  <a:gd name="T17" fmla="*/ 50 h 81"/>
                  <a:gd name="T18" fmla="*/ 33 w 48"/>
                  <a:gd name="T19" fmla="*/ 46 h 81"/>
                  <a:gd name="T20" fmla="*/ 23 w 48"/>
                  <a:gd name="T21" fmla="*/ 44 h 81"/>
                  <a:gd name="T22" fmla="*/ 13 w 48"/>
                  <a:gd name="T23" fmla="*/ 42 h 81"/>
                  <a:gd name="T24" fmla="*/ 6 w 48"/>
                  <a:gd name="T25" fmla="*/ 36 h 81"/>
                  <a:gd name="T26" fmla="*/ 2 w 48"/>
                  <a:gd name="T27" fmla="*/ 27 h 81"/>
                  <a:gd name="T28" fmla="*/ 0 w 48"/>
                  <a:gd name="T29" fmla="*/ 19 h 81"/>
                  <a:gd name="T30" fmla="*/ 2 w 48"/>
                  <a:gd name="T31" fmla="*/ 11 h 81"/>
                  <a:gd name="T32" fmla="*/ 8 w 48"/>
                  <a:gd name="T33" fmla="*/ 2 h 81"/>
                  <a:gd name="T34" fmla="*/ 15 w 48"/>
                  <a:gd name="T35" fmla="*/ 0 h 81"/>
                  <a:gd name="T36" fmla="*/ 23 w 48"/>
                  <a:gd name="T37" fmla="*/ 2 h 81"/>
                  <a:gd name="T38" fmla="*/ 27 w 48"/>
                  <a:gd name="T39" fmla="*/ 4 h 81"/>
                  <a:gd name="T40" fmla="*/ 31 w 48"/>
                  <a:gd name="T41" fmla="*/ 8 h 81"/>
                  <a:gd name="T42" fmla="*/ 35 w 48"/>
                  <a:gd name="T43" fmla="*/ 17 h 81"/>
                  <a:gd name="T44" fmla="*/ 31 w 48"/>
                  <a:gd name="T45" fmla="*/ 21 h 81"/>
                  <a:gd name="T46" fmla="*/ 27 w 48"/>
                  <a:gd name="T47" fmla="*/ 13 h 81"/>
                  <a:gd name="T48" fmla="*/ 23 w 48"/>
                  <a:gd name="T49" fmla="*/ 11 h 81"/>
                  <a:gd name="T50" fmla="*/ 15 w 48"/>
                  <a:gd name="T51" fmla="*/ 11 h 81"/>
                  <a:gd name="T52" fmla="*/ 10 w 48"/>
                  <a:gd name="T53" fmla="*/ 13 h 81"/>
                  <a:gd name="T54" fmla="*/ 8 w 48"/>
                  <a:gd name="T55" fmla="*/ 15 h 81"/>
                  <a:gd name="T56" fmla="*/ 6 w 48"/>
                  <a:gd name="T57" fmla="*/ 21 h 81"/>
                  <a:gd name="T58" fmla="*/ 8 w 48"/>
                  <a:gd name="T59" fmla="*/ 27 h 81"/>
                  <a:gd name="T60" fmla="*/ 10 w 48"/>
                  <a:gd name="T61" fmla="*/ 31 h 81"/>
                  <a:gd name="T62" fmla="*/ 15 w 48"/>
                  <a:gd name="T63" fmla="*/ 33 h 81"/>
                  <a:gd name="T64" fmla="*/ 29 w 48"/>
                  <a:gd name="T65" fmla="*/ 36 h 81"/>
                  <a:gd name="T66" fmla="*/ 35 w 48"/>
                  <a:gd name="T67" fmla="*/ 38 h 81"/>
                  <a:gd name="T68" fmla="*/ 42 w 48"/>
                  <a:gd name="T69" fmla="*/ 42 h 81"/>
                  <a:gd name="T70" fmla="*/ 44 w 48"/>
                  <a:gd name="T71" fmla="*/ 48 h 81"/>
                  <a:gd name="T72" fmla="*/ 46 w 48"/>
                  <a:gd name="T73" fmla="*/ 52 h 81"/>
                  <a:gd name="T74" fmla="*/ 48 w 48"/>
                  <a:gd name="T75" fmla="*/ 63 h 81"/>
                  <a:gd name="T76" fmla="*/ 48 w 48"/>
                  <a:gd name="T77" fmla="*/ 69 h 81"/>
                  <a:gd name="T78" fmla="*/ 44 w 48"/>
                  <a:gd name="T79" fmla="*/ 75 h 81"/>
                  <a:gd name="T80" fmla="*/ 40 w 48"/>
                  <a:gd name="T81" fmla="*/ 79 h 81"/>
                  <a:gd name="T82" fmla="*/ 33 w 48"/>
                  <a:gd name="T83" fmla="*/ 81 h 81"/>
                  <a:gd name="T84" fmla="*/ 23 w 48"/>
                  <a:gd name="T85" fmla="*/ 81 h 81"/>
                  <a:gd name="T86" fmla="*/ 15 w 48"/>
                  <a:gd name="T87" fmla="*/ 75 h 81"/>
                  <a:gd name="T88" fmla="*/ 8 w 48"/>
                  <a:gd name="T89" fmla="*/ 61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48" h="81">
                    <a:moveTo>
                      <a:pt x="8" y="61"/>
                    </a:moveTo>
                    <a:lnTo>
                      <a:pt x="15" y="58"/>
                    </a:lnTo>
                    <a:lnTo>
                      <a:pt x="15" y="58"/>
                    </a:lnTo>
                    <a:lnTo>
                      <a:pt x="17" y="63"/>
                    </a:lnTo>
                    <a:lnTo>
                      <a:pt x="19" y="67"/>
                    </a:lnTo>
                    <a:lnTo>
                      <a:pt x="19" y="67"/>
                    </a:lnTo>
                    <a:lnTo>
                      <a:pt x="21" y="69"/>
                    </a:lnTo>
                    <a:lnTo>
                      <a:pt x="25" y="71"/>
                    </a:lnTo>
                    <a:lnTo>
                      <a:pt x="25" y="71"/>
                    </a:lnTo>
                    <a:lnTo>
                      <a:pt x="27" y="71"/>
                    </a:lnTo>
                    <a:lnTo>
                      <a:pt x="29" y="73"/>
                    </a:lnTo>
                    <a:lnTo>
                      <a:pt x="31" y="73"/>
                    </a:lnTo>
                    <a:lnTo>
                      <a:pt x="33" y="71"/>
                    </a:lnTo>
                    <a:lnTo>
                      <a:pt x="33" y="71"/>
                    </a:lnTo>
                    <a:lnTo>
                      <a:pt x="35" y="71"/>
                    </a:lnTo>
                    <a:lnTo>
                      <a:pt x="37" y="69"/>
                    </a:lnTo>
                    <a:lnTo>
                      <a:pt x="40" y="69"/>
                    </a:lnTo>
                    <a:lnTo>
                      <a:pt x="40" y="67"/>
                    </a:lnTo>
                    <a:lnTo>
                      <a:pt x="40" y="67"/>
                    </a:lnTo>
                    <a:lnTo>
                      <a:pt x="42" y="65"/>
                    </a:lnTo>
                    <a:lnTo>
                      <a:pt x="42" y="61"/>
                    </a:lnTo>
                    <a:lnTo>
                      <a:pt x="42" y="58"/>
                    </a:lnTo>
                    <a:lnTo>
                      <a:pt x="42" y="56"/>
                    </a:lnTo>
                    <a:lnTo>
                      <a:pt x="42" y="56"/>
                    </a:lnTo>
                    <a:lnTo>
                      <a:pt x="40" y="52"/>
                    </a:lnTo>
                    <a:lnTo>
                      <a:pt x="37" y="50"/>
                    </a:lnTo>
                    <a:lnTo>
                      <a:pt x="37" y="50"/>
                    </a:lnTo>
                    <a:lnTo>
                      <a:pt x="35" y="48"/>
                    </a:lnTo>
                    <a:lnTo>
                      <a:pt x="33" y="46"/>
                    </a:lnTo>
                    <a:lnTo>
                      <a:pt x="33" y="46"/>
                    </a:lnTo>
                    <a:lnTo>
                      <a:pt x="29" y="46"/>
                    </a:lnTo>
                    <a:lnTo>
                      <a:pt x="23" y="44"/>
                    </a:lnTo>
                    <a:lnTo>
                      <a:pt x="23" y="44"/>
                    </a:lnTo>
                    <a:lnTo>
                      <a:pt x="17" y="44"/>
                    </a:lnTo>
                    <a:lnTo>
                      <a:pt x="15" y="42"/>
                    </a:lnTo>
                    <a:lnTo>
                      <a:pt x="13" y="42"/>
                    </a:lnTo>
                    <a:lnTo>
                      <a:pt x="13" y="42"/>
                    </a:lnTo>
                    <a:lnTo>
                      <a:pt x="8" y="40"/>
                    </a:lnTo>
                    <a:lnTo>
                      <a:pt x="6" y="36"/>
                    </a:lnTo>
                    <a:lnTo>
                      <a:pt x="6" y="36"/>
                    </a:lnTo>
                    <a:lnTo>
                      <a:pt x="4" y="31"/>
                    </a:lnTo>
                    <a:lnTo>
                      <a:pt x="2" y="27"/>
                    </a:lnTo>
                    <a:lnTo>
                      <a:pt x="2" y="27"/>
                    </a:lnTo>
                    <a:lnTo>
                      <a:pt x="0" y="23"/>
                    </a:lnTo>
                    <a:lnTo>
                      <a:pt x="0" y="19"/>
                    </a:lnTo>
                    <a:lnTo>
                      <a:pt x="0" y="15"/>
                    </a:lnTo>
                    <a:lnTo>
                      <a:pt x="2" y="11"/>
                    </a:lnTo>
                    <a:lnTo>
                      <a:pt x="2" y="11"/>
                    </a:lnTo>
                    <a:lnTo>
                      <a:pt x="4" y="6"/>
                    </a:lnTo>
                    <a:lnTo>
                      <a:pt x="6" y="4"/>
                    </a:lnTo>
                    <a:lnTo>
                      <a:pt x="8" y="2"/>
                    </a:lnTo>
                    <a:lnTo>
                      <a:pt x="13" y="0"/>
                    </a:lnTo>
                    <a:lnTo>
                      <a:pt x="13" y="0"/>
                    </a:lnTo>
                    <a:lnTo>
                      <a:pt x="15" y="0"/>
                    </a:lnTo>
                    <a:lnTo>
                      <a:pt x="19" y="0"/>
                    </a:lnTo>
                    <a:lnTo>
                      <a:pt x="21" y="0"/>
                    </a:lnTo>
                    <a:lnTo>
                      <a:pt x="23" y="2"/>
                    </a:lnTo>
                    <a:lnTo>
                      <a:pt x="23" y="2"/>
                    </a:lnTo>
                    <a:lnTo>
                      <a:pt x="25" y="2"/>
                    </a:lnTo>
                    <a:lnTo>
                      <a:pt x="27" y="4"/>
                    </a:lnTo>
                    <a:lnTo>
                      <a:pt x="29" y="6"/>
                    </a:lnTo>
                    <a:lnTo>
                      <a:pt x="31" y="8"/>
                    </a:lnTo>
                    <a:lnTo>
                      <a:pt x="31" y="8"/>
                    </a:lnTo>
                    <a:lnTo>
                      <a:pt x="33" y="11"/>
                    </a:lnTo>
                    <a:lnTo>
                      <a:pt x="33" y="13"/>
                    </a:lnTo>
                    <a:lnTo>
                      <a:pt x="35" y="17"/>
                    </a:lnTo>
                    <a:lnTo>
                      <a:pt x="37" y="19"/>
                    </a:lnTo>
                    <a:lnTo>
                      <a:pt x="31" y="21"/>
                    </a:lnTo>
                    <a:lnTo>
                      <a:pt x="31" y="21"/>
                    </a:lnTo>
                    <a:lnTo>
                      <a:pt x="29" y="19"/>
                    </a:lnTo>
                    <a:lnTo>
                      <a:pt x="27" y="15"/>
                    </a:lnTo>
                    <a:lnTo>
                      <a:pt x="27" y="13"/>
                    </a:lnTo>
                    <a:lnTo>
                      <a:pt x="25" y="13"/>
                    </a:lnTo>
                    <a:lnTo>
                      <a:pt x="25" y="13"/>
                    </a:lnTo>
                    <a:lnTo>
                      <a:pt x="23" y="11"/>
                    </a:lnTo>
                    <a:lnTo>
                      <a:pt x="21" y="11"/>
                    </a:lnTo>
                    <a:lnTo>
                      <a:pt x="19" y="11"/>
                    </a:lnTo>
                    <a:lnTo>
                      <a:pt x="15" y="11"/>
                    </a:lnTo>
                    <a:lnTo>
                      <a:pt x="15" y="11"/>
                    </a:lnTo>
                    <a:lnTo>
                      <a:pt x="13" y="11"/>
                    </a:lnTo>
                    <a:lnTo>
                      <a:pt x="10" y="13"/>
                    </a:lnTo>
                    <a:lnTo>
                      <a:pt x="8" y="15"/>
                    </a:lnTo>
                    <a:lnTo>
                      <a:pt x="8" y="15"/>
                    </a:lnTo>
                    <a:lnTo>
                      <a:pt x="8" y="15"/>
                    </a:lnTo>
                    <a:lnTo>
                      <a:pt x="8" y="17"/>
                    </a:lnTo>
                    <a:lnTo>
                      <a:pt x="6" y="19"/>
                    </a:lnTo>
                    <a:lnTo>
                      <a:pt x="6" y="21"/>
                    </a:lnTo>
                    <a:lnTo>
                      <a:pt x="8" y="25"/>
                    </a:lnTo>
                    <a:lnTo>
                      <a:pt x="8" y="25"/>
                    </a:lnTo>
                    <a:lnTo>
                      <a:pt x="8" y="27"/>
                    </a:lnTo>
                    <a:lnTo>
                      <a:pt x="8" y="29"/>
                    </a:lnTo>
                    <a:lnTo>
                      <a:pt x="10" y="29"/>
                    </a:lnTo>
                    <a:lnTo>
                      <a:pt x="10" y="31"/>
                    </a:lnTo>
                    <a:lnTo>
                      <a:pt x="10" y="31"/>
                    </a:lnTo>
                    <a:lnTo>
                      <a:pt x="13" y="31"/>
                    </a:lnTo>
                    <a:lnTo>
                      <a:pt x="15" y="33"/>
                    </a:lnTo>
                    <a:lnTo>
                      <a:pt x="23" y="33"/>
                    </a:lnTo>
                    <a:lnTo>
                      <a:pt x="23" y="33"/>
                    </a:lnTo>
                    <a:lnTo>
                      <a:pt x="29" y="36"/>
                    </a:lnTo>
                    <a:lnTo>
                      <a:pt x="33" y="36"/>
                    </a:lnTo>
                    <a:lnTo>
                      <a:pt x="33" y="36"/>
                    </a:lnTo>
                    <a:lnTo>
                      <a:pt x="35" y="38"/>
                    </a:lnTo>
                    <a:lnTo>
                      <a:pt x="37" y="38"/>
                    </a:lnTo>
                    <a:lnTo>
                      <a:pt x="40" y="40"/>
                    </a:lnTo>
                    <a:lnTo>
                      <a:pt x="42" y="42"/>
                    </a:lnTo>
                    <a:lnTo>
                      <a:pt x="42" y="42"/>
                    </a:lnTo>
                    <a:lnTo>
                      <a:pt x="44" y="44"/>
                    </a:lnTo>
                    <a:lnTo>
                      <a:pt x="44" y="48"/>
                    </a:lnTo>
                    <a:lnTo>
                      <a:pt x="46" y="50"/>
                    </a:lnTo>
                    <a:lnTo>
                      <a:pt x="46" y="52"/>
                    </a:lnTo>
                    <a:lnTo>
                      <a:pt x="46" y="52"/>
                    </a:lnTo>
                    <a:lnTo>
                      <a:pt x="48" y="56"/>
                    </a:lnTo>
                    <a:lnTo>
                      <a:pt x="48" y="61"/>
                    </a:lnTo>
                    <a:lnTo>
                      <a:pt x="48" y="63"/>
                    </a:lnTo>
                    <a:lnTo>
                      <a:pt x="48" y="65"/>
                    </a:lnTo>
                    <a:lnTo>
                      <a:pt x="48" y="65"/>
                    </a:lnTo>
                    <a:lnTo>
                      <a:pt x="48" y="69"/>
                    </a:lnTo>
                    <a:lnTo>
                      <a:pt x="46" y="71"/>
                    </a:lnTo>
                    <a:lnTo>
                      <a:pt x="44" y="73"/>
                    </a:lnTo>
                    <a:lnTo>
                      <a:pt x="44" y="75"/>
                    </a:lnTo>
                    <a:lnTo>
                      <a:pt x="44" y="75"/>
                    </a:lnTo>
                    <a:lnTo>
                      <a:pt x="42" y="77"/>
                    </a:lnTo>
                    <a:lnTo>
                      <a:pt x="40" y="79"/>
                    </a:lnTo>
                    <a:lnTo>
                      <a:pt x="37" y="81"/>
                    </a:lnTo>
                    <a:lnTo>
                      <a:pt x="33" y="81"/>
                    </a:lnTo>
                    <a:lnTo>
                      <a:pt x="33" y="81"/>
                    </a:lnTo>
                    <a:lnTo>
                      <a:pt x="29" y="81"/>
                    </a:lnTo>
                    <a:lnTo>
                      <a:pt x="27" y="81"/>
                    </a:lnTo>
                    <a:lnTo>
                      <a:pt x="23" y="81"/>
                    </a:lnTo>
                    <a:lnTo>
                      <a:pt x="19" y="77"/>
                    </a:lnTo>
                    <a:lnTo>
                      <a:pt x="19" y="77"/>
                    </a:lnTo>
                    <a:lnTo>
                      <a:pt x="15" y="75"/>
                    </a:lnTo>
                    <a:lnTo>
                      <a:pt x="13" y="71"/>
                    </a:lnTo>
                    <a:lnTo>
                      <a:pt x="10" y="65"/>
                    </a:lnTo>
                    <a:lnTo>
                      <a:pt x="8" y="61"/>
                    </a:lnTo>
                    <a:lnTo>
                      <a:pt x="8" y="6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5" name="íṧḻïḋê">
                <a:extLst>
                  <a:ext uri="{FF2B5EF4-FFF2-40B4-BE49-F238E27FC236}">
                    <a16:creationId xmlns:a16="http://schemas.microsoft.com/office/drawing/2014/main" id="{E2D9A399-383D-F3B5-FF7D-B448EE8A8DC3}"/>
                  </a:ext>
                </a:extLst>
              </p:cNvPr>
              <p:cNvSpPr/>
              <p:nvPr/>
            </p:nvSpPr>
            <p:spPr bwMode="auto">
              <a:xfrm>
                <a:off x="2641601" y="2709863"/>
                <a:ext cx="30163" cy="125413"/>
              </a:xfrm>
              <a:custGeom>
                <a:avLst/>
                <a:gdLst>
                  <a:gd name="T0" fmla="*/ 13 w 19"/>
                  <a:gd name="T1" fmla="*/ 79 h 79"/>
                  <a:gd name="T2" fmla="*/ 0 w 19"/>
                  <a:gd name="T3" fmla="*/ 0 h 79"/>
                  <a:gd name="T4" fmla="*/ 6 w 19"/>
                  <a:gd name="T5" fmla="*/ 0 h 79"/>
                  <a:gd name="T6" fmla="*/ 19 w 19"/>
                  <a:gd name="T7" fmla="*/ 77 h 79"/>
                  <a:gd name="T8" fmla="*/ 13 w 19"/>
                  <a:gd name="T9" fmla="*/ 79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79">
                    <a:moveTo>
                      <a:pt x="13" y="79"/>
                    </a:moveTo>
                    <a:lnTo>
                      <a:pt x="0" y="0"/>
                    </a:lnTo>
                    <a:lnTo>
                      <a:pt x="6" y="0"/>
                    </a:lnTo>
                    <a:lnTo>
                      <a:pt x="19" y="77"/>
                    </a:lnTo>
                    <a:lnTo>
                      <a:pt x="13" y="7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6" name="íṡḷidé">
                <a:extLst>
                  <a:ext uri="{FF2B5EF4-FFF2-40B4-BE49-F238E27FC236}">
                    <a16:creationId xmlns:a16="http://schemas.microsoft.com/office/drawing/2014/main" id="{FC766600-A8F5-9809-C1CC-3FD3C4A6BEBD}"/>
                  </a:ext>
                </a:extLst>
              </p:cNvPr>
              <p:cNvSpPr/>
              <p:nvPr/>
            </p:nvSpPr>
            <p:spPr bwMode="auto">
              <a:xfrm>
                <a:off x="2681288" y="2700338"/>
                <a:ext cx="63500" cy="128588"/>
              </a:xfrm>
              <a:custGeom>
                <a:avLst/>
                <a:gdLst>
                  <a:gd name="T0" fmla="*/ 21 w 40"/>
                  <a:gd name="T1" fmla="*/ 81 h 81"/>
                  <a:gd name="T2" fmla="*/ 17 w 40"/>
                  <a:gd name="T3" fmla="*/ 10 h 81"/>
                  <a:gd name="T4" fmla="*/ 0 w 40"/>
                  <a:gd name="T5" fmla="*/ 12 h 81"/>
                  <a:gd name="T6" fmla="*/ 0 w 40"/>
                  <a:gd name="T7" fmla="*/ 2 h 81"/>
                  <a:gd name="T8" fmla="*/ 40 w 40"/>
                  <a:gd name="T9" fmla="*/ 0 h 81"/>
                  <a:gd name="T10" fmla="*/ 40 w 40"/>
                  <a:gd name="T11" fmla="*/ 8 h 81"/>
                  <a:gd name="T12" fmla="*/ 23 w 40"/>
                  <a:gd name="T13" fmla="*/ 10 h 81"/>
                  <a:gd name="T14" fmla="*/ 29 w 40"/>
                  <a:gd name="T15" fmla="*/ 81 h 81"/>
                  <a:gd name="T16" fmla="*/ 21 w 40"/>
                  <a:gd name="T17" fmla="*/ 81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0" h="81">
                    <a:moveTo>
                      <a:pt x="21" y="81"/>
                    </a:moveTo>
                    <a:lnTo>
                      <a:pt x="17" y="10"/>
                    </a:lnTo>
                    <a:lnTo>
                      <a:pt x="0" y="12"/>
                    </a:lnTo>
                    <a:lnTo>
                      <a:pt x="0" y="2"/>
                    </a:lnTo>
                    <a:lnTo>
                      <a:pt x="40" y="0"/>
                    </a:lnTo>
                    <a:lnTo>
                      <a:pt x="40" y="8"/>
                    </a:lnTo>
                    <a:lnTo>
                      <a:pt x="23" y="10"/>
                    </a:lnTo>
                    <a:lnTo>
                      <a:pt x="29" y="81"/>
                    </a:lnTo>
                    <a:lnTo>
                      <a:pt x="21" y="8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7" name="ïs1ïḍê">
                <a:extLst>
                  <a:ext uri="{FF2B5EF4-FFF2-40B4-BE49-F238E27FC236}">
                    <a16:creationId xmlns:a16="http://schemas.microsoft.com/office/drawing/2014/main" id="{D37EF55E-3553-7D29-2A1C-FA3858DD8F90}"/>
                  </a:ext>
                </a:extLst>
              </p:cNvPr>
              <p:cNvSpPr/>
              <p:nvPr/>
            </p:nvSpPr>
            <p:spPr bwMode="auto">
              <a:xfrm>
                <a:off x="2767013" y="2700338"/>
                <a:ext cx="73025" cy="128588"/>
              </a:xfrm>
              <a:custGeom>
                <a:avLst/>
                <a:gdLst>
                  <a:gd name="T0" fmla="*/ 15 w 46"/>
                  <a:gd name="T1" fmla="*/ 81 h 81"/>
                  <a:gd name="T2" fmla="*/ 17 w 46"/>
                  <a:gd name="T3" fmla="*/ 48 h 81"/>
                  <a:gd name="T4" fmla="*/ 0 w 46"/>
                  <a:gd name="T5" fmla="*/ 0 h 81"/>
                  <a:gd name="T6" fmla="*/ 8 w 46"/>
                  <a:gd name="T7" fmla="*/ 0 h 81"/>
                  <a:gd name="T8" fmla="*/ 17 w 46"/>
                  <a:gd name="T9" fmla="*/ 25 h 81"/>
                  <a:gd name="T10" fmla="*/ 17 w 46"/>
                  <a:gd name="T11" fmla="*/ 25 h 81"/>
                  <a:gd name="T12" fmla="*/ 21 w 46"/>
                  <a:gd name="T13" fmla="*/ 37 h 81"/>
                  <a:gd name="T14" fmla="*/ 21 w 46"/>
                  <a:gd name="T15" fmla="*/ 37 h 81"/>
                  <a:gd name="T16" fmla="*/ 27 w 46"/>
                  <a:gd name="T17" fmla="*/ 25 h 81"/>
                  <a:gd name="T18" fmla="*/ 37 w 46"/>
                  <a:gd name="T19" fmla="*/ 2 h 81"/>
                  <a:gd name="T20" fmla="*/ 46 w 46"/>
                  <a:gd name="T21" fmla="*/ 2 h 81"/>
                  <a:gd name="T22" fmla="*/ 23 w 46"/>
                  <a:gd name="T23" fmla="*/ 48 h 81"/>
                  <a:gd name="T24" fmla="*/ 21 w 46"/>
                  <a:gd name="T25" fmla="*/ 81 h 81"/>
                  <a:gd name="T26" fmla="*/ 15 w 46"/>
                  <a:gd name="T27" fmla="*/ 81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6" h="81">
                    <a:moveTo>
                      <a:pt x="15" y="81"/>
                    </a:moveTo>
                    <a:lnTo>
                      <a:pt x="17" y="48"/>
                    </a:lnTo>
                    <a:lnTo>
                      <a:pt x="0" y="0"/>
                    </a:lnTo>
                    <a:lnTo>
                      <a:pt x="8" y="0"/>
                    </a:lnTo>
                    <a:lnTo>
                      <a:pt x="17" y="25"/>
                    </a:lnTo>
                    <a:lnTo>
                      <a:pt x="17" y="25"/>
                    </a:lnTo>
                    <a:lnTo>
                      <a:pt x="21" y="37"/>
                    </a:lnTo>
                    <a:lnTo>
                      <a:pt x="21" y="37"/>
                    </a:lnTo>
                    <a:lnTo>
                      <a:pt x="27" y="25"/>
                    </a:lnTo>
                    <a:lnTo>
                      <a:pt x="37" y="2"/>
                    </a:lnTo>
                    <a:lnTo>
                      <a:pt x="46" y="2"/>
                    </a:lnTo>
                    <a:lnTo>
                      <a:pt x="23" y="48"/>
                    </a:lnTo>
                    <a:lnTo>
                      <a:pt x="21" y="81"/>
                    </a:lnTo>
                    <a:lnTo>
                      <a:pt x="15" y="8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8" name="íṥľïḋe">
                <a:extLst>
                  <a:ext uri="{FF2B5EF4-FFF2-40B4-BE49-F238E27FC236}">
                    <a16:creationId xmlns:a16="http://schemas.microsoft.com/office/drawing/2014/main" id="{CC4763F7-3E8B-53E2-8D36-52C1F9C8FACC}"/>
                  </a:ext>
                </a:extLst>
              </p:cNvPr>
              <p:cNvSpPr/>
              <p:nvPr/>
            </p:nvSpPr>
            <p:spPr bwMode="auto">
              <a:xfrm>
                <a:off x="2889251" y="2719388"/>
                <a:ext cx="79375" cy="128588"/>
              </a:xfrm>
              <a:custGeom>
                <a:avLst/>
                <a:gdLst>
                  <a:gd name="T0" fmla="*/ 2 w 50"/>
                  <a:gd name="T1" fmla="*/ 36 h 81"/>
                  <a:gd name="T2" fmla="*/ 6 w 50"/>
                  <a:gd name="T3" fmla="*/ 19 h 81"/>
                  <a:gd name="T4" fmla="*/ 10 w 50"/>
                  <a:gd name="T5" fmla="*/ 13 h 81"/>
                  <a:gd name="T6" fmla="*/ 17 w 50"/>
                  <a:gd name="T7" fmla="*/ 6 h 81"/>
                  <a:gd name="T8" fmla="*/ 19 w 50"/>
                  <a:gd name="T9" fmla="*/ 4 h 81"/>
                  <a:gd name="T10" fmla="*/ 23 w 50"/>
                  <a:gd name="T11" fmla="*/ 2 h 81"/>
                  <a:gd name="T12" fmla="*/ 27 w 50"/>
                  <a:gd name="T13" fmla="*/ 0 h 81"/>
                  <a:gd name="T14" fmla="*/ 31 w 50"/>
                  <a:gd name="T15" fmla="*/ 0 h 81"/>
                  <a:gd name="T16" fmla="*/ 35 w 50"/>
                  <a:gd name="T17" fmla="*/ 0 h 81"/>
                  <a:gd name="T18" fmla="*/ 39 w 50"/>
                  <a:gd name="T19" fmla="*/ 4 h 81"/>
                  <a:gd name="T20" fmla="*/ 46 w 50"/>
                  <a:gd name="T21" fmla="*/ 8 h 81"/>
                  <a:gd name="T22" fmla="*/ 46 w 50"/>
                  <a:gd name="T23" fmla="*/ 11 h 81"/>
                  <a:gd name="T24" fmla="*/ 48 w 50"/>
                  <a:gd name="T25" fmla="*/ 19 h 81"/>
                  <a:gd name="T26" fmla="*/ 50 w 50"/>
                  <a:gd name="T27" fmla="*/ 25 h 81"/>
                  <a:gd name="T28" fmla="*/ 50 w 50"/>
                  <a:gd name="T29" fmla="*/ 36 h 81"/>
                  <a:gd name="T30" fmla="*/ 48 w 50"/>
                  <a:gd name="T31" fmla="*/ 46 h 81"/>
                  <a:gd name="T32" fmla="*/ 44 w 50"/>
                  <a:gd name="T33" fmla="*/ 54 h 81"/>
                  <a:gd name="T34" fmla="*/ 37 w 50"/>
                  <a:gd name="T35" fmla="*/ 69 h 81"/>
                  <a:gd name="T36" fmla="*/ 33 w 50"/>
                  <a:gd name="T37" fmla="*/ 73 h 81"/>
                  <a:gd name="T38" fmla="*/ 29 w 50"/>
                  <a:gd name="T39" fmla="*/ 77 h 81"/>
                  <a:gd name="T40" fmla="*/ 25 w 50"/>
                  <a:gd name="T41" fmla="*/ 81 h 81"/>
                  <a:gd name="T42" fmla="*/ 19 w 50"/>
                  <a:gd name="T43" fmla="*/ 81 h 81"/>
                  <a:gd name="T44" fmla="*/ 14 w 50"/>
                  <a:gd name="T45" fmla="*/ 81 h 81"/>
                  <a:gd name="T46" fmla="*/ 12 w 50"/>
                  <a:gd name="T47" fmla="*/ 81 h 81"/>
                  <a:gd name="T48" fmla="*/ 6 w 50"/>
                  <a:gd name="T49" fmla="*/ 77 h 81"/>
                  <a:gd name="T50" fmla="*/ 4 w 50"/>
                  <a:gd name="T51" fmla="*/ 73 h 81"/>
                  <a:gd name="T52" fmla="*/ 2 w 50"/>
                  <a:gd name="T53" fmla="*/ 67 h 81"/>
                  <a:gd name="T54" fmla="*/ 0 w 50"/>
                  <a:gd name="T55" fmla="*/ 65 h 81"/>
                  <a:gd name="T56" fmla="*/ 0 w 50"/>
                  <a:gd name="T57" fmla="*/ 50 h 81"/>
                  <a:gd name="T58" fmla="*/ 2 w 50"/>
                  <a:gd name="T59" fmla="*/ 36 h 81"/>
                  <a:gd name="T60" fmla="*/ 2 w 50"/>
                  <a:gd name="T61" fmla="*/ 36 h 81"/>
                  <a:gd name="T62" fmla="*/ 8 w 50"/>
                  <a:gd name="T63" fmla="*/ 38 h 81"/>
                  <a:gd name="T64" fmla="*/ 6 w 50"/>
                  <a:gd name="T65" fmla="*/ 50 h 81"/>
                  <a:gd name="T66" fmla="*/ 6 w 50"/>
                  <a:gd name="T67" fmla="*/ 61 h 81"/>
                  <a:gd name="T68" fmla="*/ 8 w 50"/>
                  <a:gd name="T69" fmla="*/ 65 h 81"/>
                  <a:gd name="T70" fmla="*/ 12 w 50"/>
                  <a:gd name="T71" fmla="*/ 71 h 81"/>
                  <a:gd name="T72" fmla="*/ 17 w 50"/>
                  <a:gd name="T73" fmla="*/ 73 h 81"/>
                  <a:gd name="T74" fmla="*/ 23 w 50"/>
                  <a:gd name="T75" fmla="*/ 71 h 81"/>
                  <a:gd name="T76" fmla="*/ 29 w 50"/>
                  <a:gd name="T77" fmla="*/ 67 h 81"/>
                  <a:gd name="T78" fmla="*/ 33 w 50"/>
                  <a:gd name="T79" fmla="*/ 63 h 81"/>
                  <a:gd name="T80" fmla="*/ 37 w 50"/>
                  <a:gd name="T81" fmla="*/ 52 h 81"/>
                  <a:gd name="T82" fmla="*/ 39 w 50"/>
                  <a:gd name="T83" fmla="*/ 46 h 81"/>
                  <a:gd name="T84" fmla="*/ 41 w 50"/>
                  <a:gd name="T85" fmla="*/ 36 h 81"/>
                  <a:gd name="T86" fmla="*/ 41 w 50"/>
                  <a:gd name="T87" fmla="*/ 25 h 81"/>
                  <a:gd name="T88" fmla="*/ 41 w 50"/>
                  <a:gd name="T89" fmla="*/ 23 h 81"/>
                  <a:gd name="T90" fmla="*/ 41 w 50"/>
                  <a:gd name="T91" fmla="*/ 17 h 81"/>
                  <a:gd name="T92" fmla="*/ 39 w 50"/>
                  <a:gd name="T93" fmla="*/ 15 h 81"/>
                  <a:gd name="T94" fmla="*/ 37 w 50"/>
                  <a:gd name="T95" fmla="*/ 11 h 81"/>
                  <a:gd name="T96" fmla="*/ 31 w 50"/>
                  <a:gd name="T97" fmla="*/ 11 h 81"/>
                  <a:gd name="T98" fmla="*/ 29 w 50"/>
                  <a:gd name="T99" fmla="*/ 8 h 81"/>
                  <a:gd name="T100" fmla="*/ 23 w 50"/>
                  <a:gd name="T101" fmla="*/ 11 h 81"/>
                  <a:gd name="T102" fmla="*/ 19 w 50"/>
                  <a:gd name="T103" fmla="*/ 15 h 81"/>
                  <a:gd name="T104" fmla="*/ 12 w 50"/>
                  <a:gd name="T105" fmla="*/ 23 h 81"/>
                  <a:gd name="T106" fmla="*/ 8 w 50"/>
                  <a:gd name="T107" fmla="*/ 38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50" h="81">
                    <a:moveTo>
                      <a:pt x="2" y="36"/>
                    </a:moveTo>
                    <a:lnTo>
                      <a:pt x="2" y="36"/>
                    </a:lnTo>
                    <a:lnTo>
                      <a:pt x="4" y="27"/>
                    </a:lnTo>
                    <a:lnTo>
                      <a:pt x="6" y="19"/>
                    </a:lnTo>
                    <a:lnTo>
                      <a:pt x="8" y="15"/>
                    </a:lnTo>
                    <a:lnTo>
                      <a:pt x="10" y="13"/>
                    </a:lnTo>
                    <a:lnTo>
                      <a:pt x="12" y="11"/>
                    </a:lnTo>
                    <a:lnTo>
                      <a:pt x="17" y="6"/>
                    </a:lnTo>
                    <a:lnTo>
                      <a:pt x="17" y="6"/>
                    </a:lnTo>
                    <a:lnTo>
                      <a:pt x="19" y="4"/>
                    </a:lnTo>
                    <a:lnTo>
                      <a:pt x="21" y="4"/>
                    </a:lnTo>
                    <a:lnTo>
                      <a:pt x="23" y="2"/>
                    </a:lnTo>
                    <a:lnTo>
                      <a:pt x="25" y="0"/>
                    </a:lnTo>
                    <a:lnTo>
                      <a:pt x="27" y="0"/>
                    </a:lnTo>
                    <a:lnTo>
                      <a:pt x="29" y="0"/>
                    </a:lnTo>
                    <a:lnTo>
                      <a:pt x="31" y="0"/>
                    </a:lnTo>
                    <a:lnTo>
                      <a:pt x="35" y="0"/>
                    </a:lnTo>
                    <a:lnTo>
                      <a:pt x="35" y="0"/>
                    </a:lnTo>
                    <a:lnTo>
                      <a:pt x="37" y="2"/>
                    </a:lnTo>
                    <a:lnTo>
                      <a:pt x="39" y="4"/>
                    </a:lnTo>
                    <a:lnTo>
                      <a:pt x="41" y="6"/>
                    </a:lnTo>
                    <a:lnTo>
                      <a:pt x="46" y="8"/>
                    </a:lnTo>
                    <a:lnTo>
                      <a:pt x="46" y="8"/>
                    </a:lnTo>
                    <a:lnTo>
                      <a:pt x="46" y="11"/>
                    </a:lnTo>
                    <a:lnTo>
                      <a:pt x="48" y="15"/>
                    </a:lnTo>
                    <a:lnTo>
                      <a:pt x="48" y="19"/>
                    </a:lnTo>
                    <a:lnTo>
                      <a:pt x="50" y="25"/>
                    </a:lnTo>
                    <a:lnTo>
                      <a:pt x="50" y="25"/>
                    </a:lnTo>
                    <a:lnTo>
                      <a:pt x="50" y="29"/>
                    </a:lnTo>
                    <a:lnTo>
                      <a:pt x="50" y="36"/>
                    </a:lnTo>
                    <a:lnTo>
                      <a:pt x="48" y="40"/>
                    </a:lnTo>
                    <a:lnTo>
                      <a:pt x="48" y="46"/>
                    </a:lnTo>
                    <a:lnTo>
                      <a:pt x="48" y="46"/>
                    </a:lnTo>
                    <a:lnTo>
                      <a:pt x="44" y="54"/>
                    </a:lnTo>
                    <a:lnTo>
                      <a:pt x="41" y="63"/>
                    </a:lnTo>
                    <a:lnTo>
                      <a:pt x="37" y="69"/>
                    </a:lnTo>
                    <a:lnTo>
                      <a:pt x="33" y="73"/>
                    </a:lnTo>
                    <a:lnTo>
                      <a:pt x="33" y="73"/>
                    </a:lnTo>
                    <a:lnTo>
                      <a:pt x="31" y="75"/>
                    </a:lnTo>
                    <a:lnTo>
                      <a:pt x="29" y="77"/>
                    </a:lnTo>
                    <a:lnTo>
                      <a:pt x="27" y="79"/>
                    </a:lnTo>
                    <a:lnTo>
                      <a:pt x="25" y="81"/>
                    </a:lnTo>
                    <a:lnTo>
                      <a:pt x="23" y="81"/>
                    </a:lnTo>
                    <a:lnTo>
                      <a:pt x="19" y="81"/>
                    </a:lnTo>
                    <a:lnTo>
                      <a:pt x="17" y="81"/>
                    </a:lnTo>
                    <a:lnTo>
                      <a:pt x="14" y="81"/>
                    </a:lnTo>
                    <a:lnTo>
                      <a:pt x="14" y="81"/>
                    </a:lnTo>
                    <a:lnTo>
                      <a:pt x="12" y="81"/>
                    </a:lnTo>
                    <a:lnTo>
                      <a:pt x="8" y="79"/>
                    </a:lnTo>
                    <a:lnTo>
                      <a:pt x="6" y="77"/>
                    </a:lnTo>
                    <a:lnTo>
                      <a:pt x="6" y="75"/>
                    </a:lnTo>
                    <a:lnTo>
                      <a:pt x="4" y="73"/>
                    </a:lnTo>
                    <a:lnTo>
                      <a:pt x="2" y="71"/>
                    </a:lnTo>
                    <a:lnTo>
                      <a:pt x="2" y="67"/>
                    </a:lnTo>
                    <a:lnTo>
                      <a:pt x="0" y="65"/>
                    </a:lnTo>
                    <a:lnTo>
                      <a:pt x="0" y="65"/>
                    </a:lnTo>
                    <a:lnTo>
                      <a:pt x="0" y="58"/>
                    </a:lnTo>
                    <a:lnTo>
                      <a:pt x="0" y="50"/>
                    </a:lnTo>
                    <a:lnTo>
                      <a:pt x="0" y="44"/>
                    </a:lnTo>
                    <a:lnTo>
                      <a:pt x="2" y="36"/>
                    </a:lnTo>
                    <a:lnTo>
                      <a:pt x="2" y="36"/>
                    </a:lnTo>
                    <a:lnTo>
                      <a:pt x="2" y="36"/>
                    </a:lnTo>
                    <a:close/>
                    <a:moveTo>
                      <a:pt x="8" y="38"/>
                    </a:moveTo>
                    <a:lnTo>
                      <a:pt x="8" y="38"/>
                    </a:lnTo>
                    <a:lnTo>
                      <a:pt x="6" y="46"/>
                    </a:lnTo>
                    <a:lnTo>
                      <a:pt x="6" y="50"/>
                    </a:lnTo>
                    <a:lnTo>
                      <a:pt x="6" y="56"/>
                    </a:lnTo>
                    <a:lnTo>
                      <a:pt x="6" y="61"/>
                    </a:lnTo>
                    <a:lnTo>
                      <a:pt x="6" y="61"/>
                    </a:lnTo>
                    <a:lnTo>
                      <a:pt x="8" y="65"/>
                    </a:lnTo>
                    <a:lnTo>
                      <a:pt x="10" y="69"/>
                    </a:lnTo>
                    <a:lnTo>
                      <a:pt x="12" y="71"/>
                    </a:lnTo>
                    <a:lnTo>
                      <a:pt x="17" y="73"/>
                    </a:lnTo>
                    <a:lnTo>
                      <a:pt x="17" y="73"/>
                    </a:lnTo>
                    <a:lnTo>
                      <a:pt x="19" y="73"/>
                    </a:lnTo>
                    <a:lnTo>
                      <a:pt x="23" y="71"/>
                    </a:lnTo>
                    <a:lnTo>
                      <a:pt x="27" y="71"/>
                    </a:lnTo>
                    <a:lnTo>
                      <a:pt x="29" y="67"/>
                    </a:lnTo>
                    <a:lnTo>
                      <a:pt x="29" y="67"/>
                    </a:lnTo>
                    <a:lnTo>
                      <a:pt x="33" y="63"/>
                    </a:lnTo>
                    <a:lnTo>
                      <a:pt x="35" y="58"/>
                    </a:lnTo>
                    <a:lnTo>
                      <a:pt x="37" y="52"/>
                    </a:lnTo>
                    <a:lnTo>
                      <a:pt x="39" y="46"/>
                    </a:lnTo>
                    <a:lnTo>
                      <a:pt x="39" y="46"/>
                    </a:lnTo>
                    <a:lnTo>
                      <a:pt x="41" y="40"/>
                    </a:lnTo>
                    <a:lnTo>
                      <a:pt x="41" y="36"/>
                    </a:lnTo>
                    <a:lnTo>
                      <a:pt x="41" y="31"/>
                    </a:lnTo>
                    <a:lnTo>
                      <a:pt x="41" y="25"/>
                    </a:lnTo>
                    <a:lnTo>
                      <a:pt x="41" y="25"/>
                    </a:lnTo>
                    <a:lnTo>
                      <a:pt x="41" y="23"/>
                    </a:lnTo>
                    <a:lnTo>
                      <a:pt x="41" y="21"/>
                    </a:lnTo>
                    <a:lnTo>
                      <a:pt x="41" y="17"/>
                    </a:lnTo>
                    <a:lnTo>
                      <a:pt x="39" y="15"/>
                    </a:lnTo>
                    <a:lnTo>
                      <a:pt x="39" y="15"/>
                    </a:lnTo>
                    <a:lnTo>
                      <a:pt x="37" y="13"/>
                    </a:lnTo>
                    <a:lnTo>
                      <a:pt x="37" y="11"/>
                    </a:lnTo>
                    <a:lnTo>
                      <a:pt x="35" y="11"/>
                    </a:lnTo>
                    <a:lnTo>
                      <a:pt x="31" y="11"/>
                    </a:lnTo>
                    <a:lnTo>
                      <a:pt x="31" y="11"/>
                    </a:lnTo>
                    <a:lnTo>
                      <a:pt x="29" y="8"/>
                    </a:lnTo>
                    <a:lnTo>
                      <a:pt x="25" y="11"/>
                    </a:lnTo>
                    <a:lnTo>
                      <a:pt x="23" y="11"/>
                    </a:lnTo>
                    <a:lnTo>
                      <a:pt x="19" y="15"/>
                    </a:lnTo>
                    <a:lnTo>
                      <a:pt x="19" y="15"/>
                    </a:lnTo>
                    <a:lnTo>
                      <a:pt x="14" y="19"/>
                    </a:lnTo>
                    <a:lnTo>
                      <a:pt x="12" y="23"/>
                    </a:lnTo>
                    <a:lnTo>
                      <a:pt x="10" y="29"/>
                    </a:lnTo>
                    <a:lnTo>
                      <a:pt x="8" y="38"/>
                    </a:lnTo>
                    <a:lnTo>
                      <a:pt x="8" y="3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9" name="íŝlîḍè">
                <a:extLst>
                  <a:ext uri="{FF2B5EF4-FFF2-40B4-BE49-F238E27FC236}">
                    <a16:creationId xmlns:a16="http://schemas.microsoft.com/office/drawing/2014/main" id="{B4F4C9A5-D79D-4608-BA08-ED6E6B450930}"/>
                  </a:ext>
                </a:extLst>
              </p:cNvPr>
              <p:cNvSpPr/>
              <p:nvPr/>
            </p:nvSpPr>
            <p:spPr bwMode="auto">
              <a:xfrm>
                <a:off x="2962276" y="2743201"/>
                <a:ext cx="95250" cy="122238"/>
              </a:xfrm>
              <a:custGeom>
                <a:avLst/>
                <a:gdLst>
                  <a:gd name="T0" fmla="*/ 0 w 60"/>
                  <a:gd name="T1" fmla="*/ 75 h 77"/>
                  <a:gd name="T2" fmla="*/ 29 w 60"/>
                  <a:gd name="T3" fmla="*/ 0 h 77"/>
                  <a:gd name="T4" fmla="*/ 60 w 60"/>
                  <a:gd name="T5" fmla="*/ 12 h 77"/>
                  <a:gd name="T6" fmla="*/ 56 w 60"/>
                  <a:gd name="T7" fmla="*/ 21 h 77"/>
                  <a:gd name="T8" fmla="*/ 31 w 60"/>
                  <a:gd name="T9" fmla="*/ 10 h 77"/>
                  <a:gd name="T10" fmla="*/ 22 w 60"/>
                  <a:gd name="T11" fmla="*/ 33 h 77"/>
                  <a:gd name="T12" fmla="*/ 43 w 60"/>
                  <a:gd name="T13" fmla="*/ 41 h 77"/>
                  <a:gd name="T14" fmla="*/ 41 w 60"/>
                  <a:gd name="T15" fmla="*/ 50 h 77"/>
                  <a:gd name="T16" fmla="*/ 18 w 60"/>
                  <a:gd name="T17" fmla="*/ 43 h 77"/>
                  <a:gd name="T18" fmla="*/ 6 w 60"/>
                  <a:gd name="T19" fmla="*/ 77 h 77"/>
                  <a:gd name="T20" fmla="*/ 0 w 60"/>
                  <a:gd name="T21" fmla="*/ 75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0" h="77">
                    <a:moveTo>
                      <a:pt x="0" y="75"/>
                    </a:moveTo>
                    <a:lnTo>
                      <a:pt x="29" y="0"/>
                    </a:lnTo>
                    <a:lnTo>
                      <a:pt x="60" y="12"/>
                    </a:lnTo>
                    <a:lnTo>
                      <a:pt x="56" y="21"/>
                    </a:lnTo>
                    <a:lnTo>
                      <a:pt x="31" y="10"/>
                    </a:lnTo>
                    <a:lnTo>
                      <a:pt x="22" y="33"/>
                    </a:lnTo>
                    <a:lnTo>
                      <a:pt x="43" y="41"/>
                    </a:lnTo>
                    <a:lnTo>
                      <a:pt x="41" y="50"/>
                    </a:lnTo>
                    <a:lnTo>
                      <a:pt x="18" y="43"/>
                    </a:lnTo>
                    <a:lnTo>
                      <a:pt x="6" y="77"/>
                    </a:lnTo>
                    <a:lnTo>
                      <a:pt x="0" y="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90" name="íşḻíḋé">
                <a:extLst>
                  <a:ext uri="{FF2B5EF4-FFF2-40B4-BE49-F238E27FC236}">
                    <a16:creationId xmlns:a16="http://schemas.microsoft.com/office/drawing/2014/main" id="{CC99FB71-C27C-DC24-09DF-FC09257AC3FA}"/>
                  </a:ext>
                </a:extLst>
              </p:cNvPr>
              <p:cNvSpPr/>
              <p:nvPr/>
            </p:nvSpPr>
            <p:spPr bwMode="auto">
              <a:xfrm>
                <a:off x="3067051" y="2789238"/>
                <a:ext cx="98425" cy="125413"/>
              </a:xfrm>
              <a:custGeom>
                <a:avLst/>
                <a:gdLst>
                  <a:gd name="T0" fmla="*/ 0 w 62"/>
                  <a:gd name="T1" fmla="*/ 77 h 79"/>
                  <a:gd name="T2" fmla="*/ 37 w 62"/>
                  <a:gd name="T3" fmla="*/ 17 h 79"/>
                  <a:gd name="T4" fmla="*/ 23 w 62"/>
                  <a:gd name="T5" fmla="*/ 8 h 79"/>
                  <a:gd name="T6" fmla="*/ 29 w 62"/>
                  <a:gd name="T7" fmla="*/ 0 h 79"/>
                  <a:gd name="T8" fmla="*/ 62 w 62"/>
                  <a:gd name="T9" fmla="*/ 21 h 79"/>
                  <a:gd name="T10" fmla="*/ 56 w 62"/>
                  <a:gd name="T11" fmla="*/ 27 h 79"/>
                  <a:gd name="T12" fmla="*/ 44 w 62"/>
                  <a:gd name="T13" fmla="*/ 19 h 79"/>
                  <a:gd name="T14" fmla="*/ 6 w 62"/>
                  <a:gd name="T15" fmla="*/ 79 h 79"/>
                  <a:gd name="T16" fmla="*/ 0 w 62"/>
                  <a:gd name="T17" fmla="*/ 77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2" h="79">
                    <a:moveTo>
                      <a:pt x="0" y="77"/>
                    </a:moveTo>
                    <a:lnTo>
                      <a:pt x="37" y="17"/>
                    </a:lnTo>
                    <a:lnTo>
                      <a:pt x="23" y="8"/>
                    </a:lnTo>
                    <a:lnTo>
                      <a:pt x="29" y="0"/>
                    </a:lnTo>
                    <a:lnTo>
                      <a:pt x="62" y="21"/>
                    </a:lnTo>
                    <a:lnTo>
                      <a:pt x="56" y="27"/>
                    </a:lnTo>
                    <a:lnTo>
                      <a:pt x="44" y="19"/>
                    </a:lnTo>
                    <a:lnTo>
                      <a:pt x="6" y="79"/>
                    </a:lnTo>
                    <a:lnTo>
                      <a:pt x="0" y="7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91" name="ïślîde">
                <a:extLst>
                  <a:ext uri="{FF2B5EF4-FFF2-40B4-BE49-F238E27FC236}">
                    <a16:creationId xmlns:a16="http://schemas.microsoft.com/office/drawing/2014/main" id="{D2C9997A-F284-245F-E5AF-C6E29B472487}"/>
                  </a:ext>
                </a:extLst>
              </p:cNvPr>
              <p:cNvSpPr/>
              <p:nvPr/>
            </p:nvSpPr>
            <p:spPr bwMode="auto">
              <a:xfrm>
                <a:off x="3113088" y="2838451"/>
                <a:ext cx="122238" cy="136525"/>
              </a:xfrm>
              <a:custGeom>
                <a:avLst/>
                <a:gdLst>
                  <a:gd name="T0" fmla="*/ 0 w 77"/>
                  <a:gd name="T1" fmla="*/ 63 h 86"/>
                  <a:gd name="T2" fmla="*/ 50 w 77"/>
                  <a:gd name="T3" fmla="*/ 0 h 86"/>
                  <a:gd name="T4" fmla="*/ 77 w 77"/>
                  <a:gd name="T5" fmla="*/ 23 h 86"/>
                  <a:gd name="T6" fmla="*/ 71 w 77"/>
                  <a:gd name="T7" fmla="*/ 29 h 86"/>
                  <a:gd name="T8" fmla="*/ 48 w 77"/>
                  <a:gd name="T9" fmla="*/ 13 h 86"/>
                  <a:gd name="T10" fmla="*/ 33 w 77"/>
                  <a:gd name="T11" fmla="*/ 31 h 86"/>
                  <a:gd name="T12" fmla="*/ 54 w 77"/>
                  <a:gd name="T13" fmla="*/ 48 h 86"/>
                  <a:gd name="T14" fmla="*/ 50 w 77"/>
                  <a:gd name="T15" fmla="*/ 56 h 86"/>
                  <a:gd name="T16" fmla="*/ 27 w 77"/>
                  <a:gd name="T17" fmla="*/ 40 h 86"/>
                  <a:gd name="T18" fmla="*/ 11 w 77"/>
                  <a:gd name="T19" fmla="*/ 61 h 86"/>
                  <a:gd name="T20" fmla="*/ 35 w 77"/>
                  <a:gd name="T21" fmla="*/ 79 h 86"/>
                  <a:gd name="T22" fmla="*/ 29 w 77"/>
                  <a:gd name="T23" fmla="*/ 86 h 86"/>
                  <a:gd name="T24" fmla="*/ 0 w 77"/>
                  <a:gd name="T25" fmla="*/ 63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7" h="86">
                    <a:moveTo>
                      <a:pt x="0" y="63"/>
                    </a:moveTo>
                    <a:lnTo>
                      <a:pt x="50" y="0"/>
                    </a:lnTo>
                    <a:lnTo>
                      <a:pt x="77" y="23"/>
                    </a:lnTo>
                    <a:lnTo>
                      <a:pt x="71" y="29"/>
                    </a:lnTo>
                    <a:lnTo>
                      <a:pt x="48" y="13"/>
                    </a:lnTo>
                    <a:lnTo>
                      <a:pt x="33" y="31"/>
                    </a:lnTo>
                    <a:lnTo>
                      <a:pt x="54" y="48"/>
                    </a:lnTo>
                    <a:lnTo>
                      <a:pt x="50" y="56"/>
                    </a:lnTo>
                    <a:lnTo>
                      <a:pt x="27" y="40"/>
                    </a:lnTo>
                    <a:lnTo>
                      <a:pt x="11" y="61"/>
                    </a:lnTo>
                    <a:lnTo>
                      <a:pt x="35" y="79"/>
                    </a:lnTo>
                    <a:lnTo>
                      <a:pt x="29" y="86"/>
                    </a:lnTo>
                    <a:lnTo>
                      <a:pt x="0" y="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92" name="íšľíḑé">
                <a:extLst>
                  <a:ext uri="{FF2B5EF4-FFF2-40B4-BE49-F238E27FC236}">
                    <a16:creationId xmlns:a16="http://schemas.microsoft.com/office/drawing/2014/main" id="{BA03507D-D4BC-68F5-1AE9-5773AA3810A4}"/>
                  </a:ext>
                </a:extLst>
              </p:cNvPr>
              <p:cNvSpPr/>
              <p:nvPr/>
            </p:nvSpPr>
            <p:spPr bwMode="auto">
              <a:xfrm>
                <a:off x="3189288" y="2914651"/>
                <a:ext cx="107950" cy="109538"/>
              </a:xfrm>
              <a:custGeom>
                <a:avLst/>
                <a:gdLst>
                  <a:gd name="T0" fmla="*/ 37 w 68"/>
                  <a:gd name="T1" fmla="*/ 58 h 69"/>
                  <a:gd name="T2" fmla="*/ 31 w 68"/>
                  <a:gd name="T3" fmla="*/ 63 h 69"/>
                  <a:gd name="T4" fmla="*/ 23 w 68"/>
                  <a:gd name="T5" fmla="*/ 67 h 69"/>
                  <a:gd name="T6" fmla="*/ 19 w 68"/>
                  <a:gd name="T7" fmla="*/ 69 h 69"/>
                  <a:gd name="T8" fmla="*/ 10 w 68"/>
                  <a:gd name="T9" fmla="*/ 67 h 69"/>
                  <a:gd name="T10" fmla="*/ 4 w 68"/>
                  <a:gd name="T11" fmla="*/ 63 h 69"/>
                  <a:gd name="T12" fmla="*/ 2 w 68"/>
                  <a:gd name="T13" fmla="*/ 60 h 69"/>
                  <a:gd name="T14" fmla="*/ 0 w 68"/>
                  <a:gd name="T15" fmla="*/ 54 h 69"/>
                  <a:gd name="T16" fmla="*/ 0 w 68"/>
                  <a:gd name="T17" fmla="*/ 52 h 69"/>
                  <a:gd name="T18" fmla="*/ 0 w 68"/>
                  <a:gd name="T19" fmla="*/ 44 h 69"/>
                  <a:gd name="T20" fmla="*/ 4 w 68"/>
                  <a:gd name="T21" fmla="*/ 35 h 69"/>
                  <a:gd name="T22" fmla="*/ 6 w 68"/>
                  <a:gd name="T23" fmla="*/ 31 h 69"/>
                  <a:gd name="T24" fmla="*/ 14 w 68"/>
                  <a:gd name="T25" fmla="*/ 23 h 69"/>
                  <a:gd name="T26" fmla="*/ 19 w 68"/>
                  <a:gd name="T27" fmla="*/ 17 h 69"/>
                  <a:gd name="T28" fmla="*/ 27 w 68"/>
                  <a:gd name="T29" fmla="*/ 8 h 69"/>
                  <a:gd name="T30" fmla="*/ 37 w 68"/>
                  <a:gd name="T31" fmla="*/ 4 h 69"/>
                  <a:gd name="T32" fmla="*/ 41 w 68"/>
                  <a:gd name="T33" fmla="*/ 2 h 69"/>
                  <a:gd name="T34" fmla="*/ 50 w 68"/>
                  <a:gd name="T35" fmla="*/ 0 h 69"/>
                  <a:gd name="T36" fmla="*/ 52 w 68"/>
                  <a:gd name="T37" fmla="*/ 0 h 69"/>
                  <a:gd name="T38" fmla="*/ 58 w 68"/>
                  <a:gd name="T39" fmla="*/ 2 h 69"/>
                  <a:gd name="T40" fmla="*/ 64 w 68"/>
                  <a:gd name="T41" fmla="*/ 6 h 69"/>
                  <a:gd name="T42" fmla="*/ 66 w 68"/>
                  <a:gd name="T43" fmla="*/ 8 h 69"/>
                  <a:gd name="T44" fmla="*/ 68 w 68"/>
                  <a:gd name="T45" fmla="*/ 15 h 69"/>
                  <a:gd name="T46" fmla="*/ 68 w 68"/>
                  <a:gd name="T47" fmla="*/ 19 h 69"/>
                  <a:gd name="T48" fmla="*/ 66 w 68"/>
                  <a:gd name="T49" fmla="*/ 27 h 69"/>
                  <a:gd name="T50" fmla="*/ 60 w 68"/>
                  <a:gd name="T51" fmla="*/ 35 h 69"/>
                  <a:gd name="T52" fmla="*/ 54 w 68"/>
                  <a:gd name="T53" fmla="*/ 33 h 69"/>
                  <a:gd name="T54" fmla="*/ 58 w 68"/>
                  <a:gd name="T55" fmla="*/ 27 h 69"/>
                  <a:gd name="T56" fmla="*/ 60 w 68"/>
                  <a:gd name="T57" fmla="*/ 21 h 69"/>
                  <a:gd name="T58" fmla="*/ 60 w 68"/>
                  <a:gd name="T59" fmla="*/ 15 h 69"/>
                  <a:gd name="T60" fmla="*/ 58 w 68"/>
                  <a:gd name="T61" fmla="*/ 13 h 69"/>
                  <a:gd name="T62" fmla="*/ 56 w 68"/>
                  <a:gd name="T63" fmla="*/ 10 h 69"/>
                  <a:gd name="T64" fmla="*/ 52 w 68"/>
                  <a:gd name="T65" fmla="*/ 8 h 69"/>
                  <a:gd name="T66" fmla="*/ 50 w 68"/>
                  <a:gd name="T67" fmla="*/ 8 h 69"/>
                  <a:gd name="T68" fmla="*/ 44 w 68"/>
                  <a:gd name="T69" fmla="*/ 8 h 69"/>
                  <a:gd name="T70" fmla="*/ 37 w 68"/>
                  <a:gd name="T71" fmla="*/ 10 h 69"/>
                  <a:gd name="T72" fmla="*/ 35 w 68"/>
                  <a:gd name="T73" fmla="*/ 13 h 69"/>
                  <a:gd name="T74" fmla="*/ 27 w 68"/>
                  <a:gd name="T75" fmla="*/ 19 h 69"/>
                  <a:gd name="T76" fmla="*/ 23 w 68"/>
                  <a:gd name="T77" fmla="*/ 23 h 69"/>
                  <a:gd name="T78" fmla="*/ 14 w 68"/>
                  <a:gd name="T79" fmla="*/ 33 h 69"/>
                  <a:gd name="T80" fmla="*/ 8 w 68"/>
                  <a:gd name="T81" fmla="*/ 42 h 69"/>
                  <a:gd name="T82" fmla="*/ 8 w 68"/>
                  <a:gd name="T83" fmla="*/ 46 h 69"/>
                  <a:gd name="T84" fmla="*/ 8 w 68"/>
                  <a:gd name="T85" fmla="*/ 54 h 69"/>
                  <a:gd name="T86" fmla="*/ 10 w 68"/>
                  <a:gd name="T87" fmla="*/ 56 h 69"/>
                  <a:gd name="T88" fmla="*/ 14 w 68"/>
                  <a:gd name="T89" fmla="*/ 58 h 69"/>
                  <a:gd name="T90" fmla="*/ 21 w 68"/>
                  <a:gd name="T91" fmla="*/ 60 h 69"/>
                  <a:gd name="T92" fmla="*/ 23 w 68"/>
                  <a:gd name="T93" fmla="*/ 58 h 69"/>
                  <a:gd name="T94" fmla="*/ 31 w 68"/>
                  <a:gd name="T95" fmla="*/ 54 h 69"/>
                  <a:gd name="T96" fmla="*/ 35 w 68"/>
                  <a:gd name="T97" fmla="*/ 52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68" h="69">
                    <a:moveTo>
                      <a:pt x="35" y="52"/>
                    </a:moveTo>
                    <a:lnTo>
                      <a:pt x="37" y="58"/>
                    </a:lnTo>
                    <a:lnTo>
                      <a:pt x="37" y="58"/>
                    </a:lnTo>
                    <a:lnTo>
                      <a:pt x="31" y="63"/>
                    </a:lnTo>
                    <a:lnTo>
                      <a:pt x="27" y="65"/>
                    </a:lnTo>
                    <a:lnTo>
                      <a:pt x="23" y="67"/>
                    </a:lnTo>
                    <a:lnTo>
                      <a:pt x="19" y="69"/>
                    </a:lnTo>
                    <a:lnTo>
                      <a:pt x="19" y="69"/>
                    </a:lnTo>
                    <a:lnTo>
                      <a:pt x="14" y="67"/>
                    </a:lnTo>
                    <a:lnTo>
                      <a:pt x="10" y="67"/>
                    </a:lnTo>
                    <a:lnTo>
                      <a:pt x="6" y="65"/>
                    </a:lnTo>
                    <a:lnTo>
                      <a:pt x="4" y="63"/>
                    </a:lnTo>
                    <a:lnTo>
                      <a:pt x="4" y="63"/>
                    </a:lnTo>
                    <a:lnTo>
                      <a:pt x="2" y="60"/>
                    </a:lnTo>
                    <a:lnTo>
                      <a:pt x="0" y="58"/>
                    </a:lnTo>
                    <a:lnTo>
                      <a:pt x="0" y="54"/>
                    </a:lnTo>
                    <a:lnTo>
                      <a:pt x="0" y="52"/>
                    </a:lnTo>
                    <a:lnTo>
                      <a:pt x="0" y="52"/>
                    </a:lnTo>
                    <a:lnTo>
                      <a:pt x="0" y="48"/>
                    </a:lnTo>
                    <a:lnTo>
                      <a:pt x="0" y="44"/>
                    </a:lnTo>
                    <a:lnTo>
                      <a:pt x="2" y="40"/>
                    </a:lnTo>
                    <a:lnTo>
                      <a:pt x="4" y="35"/>
                    </a:lnTo>
                    <a:lnTo>
                      <a:pt x="4" y="35"/>
                    </a:lnTo>
                    <a:lnTo>
                      <a:pt x="6" y="31"/>
                    </a:lnTo>
                    <a:lnTo>
                      <a:pt x="10" y="27"/>
                    </a:lnTo>
                    <a:lnTo>
                      <a:pt x="14" y="23"/>
                    </a:lnTo>
                    <a:lnTo>
                      <a:pt x="19" y="17"/>
                    </a:lnTo>
                    <a:lnTo>
                      <a:pt x="19" y="17"/>
                    </a:lnTo>
                    <a:lnTo>
                      <a:pt x="23" y="13"/>
                    </a:lnTo>
                    <a:lnTo>
                      <a:pt x="27" y="8"/>
                    </a:lnTo>
                    <a:lnTo>
                      <a:pt x="33" y="6"/>
                    </a:lnTo>
                    <a:lnTo>
                      <a:pt x="37" y="4"/>
                    </a:lnTo>
                    <a:lnTo>
                      <a:pt x="37" y="4"/>
                    </a:lnTo>
                    <a:lnTo>
                      <a:pt x="41" y="2"/>
                    </a:lnTo>
                    <a:lnTo>
                      <a:pt x="46" y="0"/>
                    </a:lnTo>
                    <a:lnTo>
                      <a:pt x="50" y="0"/>
                    </a:lnTo>
                    <a:lnTo>
                      <a:pt x="52" y="0"/>
                    </a:lnTo>
                    <a:lnTo>
                      <a:pt x="52" y="0"/>
                    </a:lnTo>
                    <a:lnTo>
                      <a:pt x="56" y="0"/>
                    </a:lnTo>
                    <a:lnTo>
                      <a:pt x="58" y="2"/>
                    </a:lnTo>
                    <a:lnTo>
                      <a:pt x="62" y="4"/>
                    </a:lnTo>
                    <a:lnTo>
                      <a:pt x="64" y="6"/>
                    </a:lnTo>
                    <a:lnTo>
                      <a:pt x="64" y="6"/>
                    </a:lnTo>
                    <a:lnTo>
                      <a:pt x="66" y="8"/>
                    </a:lnTo>
                    <a:lnTo>
                      <a:pt x="66" y="10"/>
                    </a:lnTo>
                    <a:lnTo>
                      <a:pt x="68" y="15"/>
                    </a:lnTo>
                    <a:lnTo>
                      <a:pt x="68" y="19"/>
                    </a:lnTo>
                    <a:lnTo>
                      <a:pt x="68" y="19"/>
                    </a:lnTo>
                    <a:lnTo>
                      <a:pt x="66" y="23"/>
                    </a:lnTo>
                    <a:lnTo>
                      <a:pt x="66" y="27"/>
                    </a:lnTo>
                    <a:lnTo>
                      <a:pt x="64" y="31"/>
                    </a:lnTo>
                    <a:lnTo>
                      <a:pt x="60" y="35"/>
                    </a:lnTo>
                    <a:lnTo>
                      <a:pt x="54" y="33"/>
                    </a:lnTo>
                    <a:lnTo>
                      <a:pt x="54" y="33"/>
                    </a:lnTo>
                    <a:lnTo>
                      <a:pt x="56" y="29"/>
                    </a:lnTo>
                    <a:lnTo>
                      <a:pt x="58" y="27"/>
                    </a:lnTo>
                    <a:lnTo>
                      <a:pt x="60" y="23"/>
                    </a:lnTo>
                    <a:lnTo>
                      <a:pt x="60" y="21"/>
                    </a:lnTo>
                    <a:lnTo>
                      <a:pt x="60" y="19"/>
                    </a:lnTo>
                    <a:lnTo>
                      <a:pt x="60" y="15"/>
                    </a:lnTo>
                    <a:lnTo>
                      <a:pt x="58" y="15"/>
                    </a:lnTo>
                    <a:lnTo>
                      <a:pt x="58" y="13"/>
                    </a:lnTo>
                    <a:lnTo>
                      <a:pt x="58" y="13"/>
                    </a:lnTo>
                    <a:lnTo>
                      <a:pt x="56" y="10"/>
                    </a:lnTo>
                    <a:lnTo>
                      <a:pt x="54" y="8"/>
                    </a:lnTo>
                    <a:lnTo>
                      <a:pt x="52" y="8"/>
                    </a:lnTo>
                    <a:lnTo>
                      <a:pt x="50" y="8"/>
                    </a:lnTo>
                    <a:lnTo>
                      <a:pt x="50" y="8"/>
                    </a:lnTo>
                    <a:lnTo>
                      <a:pt x="46" y="8"/>
                    </a:lnTo>
                    <a:lnTo>
                      <a:pt x="44" y="8"/>
                    </a:lnTo>
                    <a:lnTo>
                      <a:pt x="41" y="10"/>
                    </a:lnTo>
                    <a:lnTo>
                      <a:pt x="37" y="10"/>
                    </a:lnTo>
                    <a:lnTo>
                      <a:pt x="37" y="10"/>
                    </a:lnTo>
                    <a:lnTo>
                      <a:pt x="35" y="13"/>
                    </a:lnTo>
                    <a:lnTo>
                      <a:pt x="31" y="15"/>
                    </a:lnTo>
                    <a:lnTo>
                      <a:pt x="27" y="19"/>
                    </a:lnTo>
                    <a:lnTo>
                      <a:pt x="23" y="23"/>
                    </a:lnTo>
                    <a:lnTo>
                      <a:pt x="23" y="23"/>
                    </a:lnTo>
                    <a:lnTo>
                      <a:pt x="19" y="27"/>
                    </a:lnTo>
                    <a:lnTo>
                      <a:pt x="14" y="33"/>
                    </a:lnTo>
                    <a:lnTo>
                      <a:pt x="10" y="38"/>
                    </a:lnTo>
                    <a:lnTo>
                      <a:pt x="8" y="42"/>
                    </a:lnTo>
                    <a:lnTo>
                      <a:pt x="8" y="42"/>
                    </a:lnTo>
                    <a:lnTo>
                      <a:pt x="8" y="46"/>
                    </a:lnTo>
                    <a:lnTo>
                      <a:pt x="8" y="50"/>
                    </a:lnTo>
                    <a:lnTo>
                      <a:pt x="8" y="54"/>
                    </a:lnTo>
                    <a:lnTo>
                      <a:pt x="10" y="56"/>
                    </a:lnTo>
                    <a:lnTo>
                      <a:pt x="10" y="56"/>
                    </a:lnTo>
                    <a:lnTo>
                      <a:pt x="12" y="58"/>
                    </a:lnTo>
                    <a:lnTo>
                      <a:pt x="14" y="58"/>
                    </a:lnTo>
                    <a:lnTo>
                      <a:pt x="17" y="60"/>
                    </a:lnTo>
                    <a:lnTo>
                      <a:pt x="21" y="60"/>
                    </a:lnTo>
                    <a:lnTo>
                      <a:pt x="21" y="60"/>
                    </a:lnTo>
                    <a:lnTo>
                      <a:pt x="23" y="58"/>
                    </a:lnTo>
                    <a:lnTo>
                      <a:pt x="27" y="58"/>
                    </a:lnTo>
                    <a:lnTo>
                      <a:pt x="31" y="54"/>
                    </a:lnTo>
                    <a:lnTo>
                      <a:pt x="35" y="52"/>
                    </a:lnTo>
                    <a:lnTo>
                      <a:pt x="35" y="5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93" name="iSḻîdê">
                <a:extLst>
                  <a:ext uri="{FF2B5EF4-FFF2-40B4-BE49-F238E27FC236}">
                    <a16:creationId xmlns:a16="http://schemas.microsoft.com/office/drawing/2014/main" id="{27B34222-E956-CEF8-0449-4FCAC2F6B5D8}"/>
                  </a:ext>
                </a:extLst>
              </p:cNvPr>
              <p:cNvSpPr/>
              <p:nvPr/>
            </p:nvSpPr>
            <p:spPr bwMode="auto">
              <a:xfrm>
                <a:off x="3232151" y="2978151"/>
                <a:ext cx="138113" cy="122238"/>
              </a:xfrm>
              <a:custGeom>
                <a:avLst/>
                <a:gdLst>
                  <a:gd name="T0" fmla="*/ 0 w 87"/>
                  <a:gd name="T1" fmla="*/ 45 h 77"/>
                  <a:gd name="T2" fmla="*/ 64 w 87"/>
                  <a:gd name="T3" fmla="*/ 0 h 77"/>
                  <a:gd name="T4" fmla="*/ 68 w 87"/>
                  <a:gd name="T5" fmla="*/ 4 h 77"/>
                  <a:gd name="T6" fmla="*/ 41 w 87"/>
                  <a:gd name="T7" fmla="*/ 25 h 77"/>
                  <a:gd name="T8" fmla="*/ 58 w 87"/>
                  <a:gd name="T9" fmla="*/ 45 h 77"/>
                  <a:gd name="T10" fmla="*/ 83 w 87"/>
                  <a:gd name="T11" fmla="*/ 25 h 77"/>
                  <a:gd name="T12" fmla="*/ 87 w 87"/>
                  <a:gd name="T13" fmla="*/ 31 h 77"/>
                  <a:gd name="T14" fmla="*/ 23 w 87"/>
                  <a:gd name="T15" fmla="*/ 77 h 77"/>
                  <a:gd name="T16" fmla="*/ 19 w 87"/>
                  <a:gd name="T17" fmla="*/ 73 h 77"/>
                  <a:gd name="T18" fmla="*/ 50 w 87"/>
                  <a:gd name="T19" fmla="*/ 50 h 77"/>
                  <a:gd name="T20" fmla="*/ 35 w 87"/>
                  <a:gd name="T21" fmla="*/ 29 h 77"/>
                  <a:gd name="T22" fmla="*/ 4 w 87"/>
                  <a:gd name="T23" fmla="*/ 52 h 77"/>
                  <a:gd name="T24" fmla="*/ 0 w 87"/>
                  <a:gd name="T25" fmla="*/ 45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7" h="77">
                    <a:moveTo>
                      <a:pt x="0" y="45"/>
                    </a:moveTo>
                    <a:lnTo>
                      <a:pt x="64" y="0"/>
                    </a:lnTo>
                    <a:lnTo>
                      <a:pt x="68" y="4"/>
                    </a:lnTo>
                    <a:lnTo>
                      <a:pt x="41" y="25"/>
                    </a:lnTo>
                    <a:lnTo>
                      <a:pt x="58" y="45"/>
                    </a:lnTo>
                    <a:lnTo>
                      <a:pt x="83" y="25"/>
                    </a:lnTo>
                    <a:lnTo>
                      <a:pt x="87" y="31"/>
                    </a:lnTo>
                    <a:lnTo>
                      <a:pt x="23" y="77"/>
                    </a:lnTo>
                    <a:lnTo>
                      <a:pt x="19" y="73"/>
                    </a:lnTo>
                    <a:lnTo>
                      <a:pt x="50" y="50"/>
                    </a:lnTo>
                    <a:lnTo>
                      <a:pt x="35" y="29"/>
                    </a:lnTo>
                    <a:lnTo>
                      <a:pt x="4" y="52"/>
                    </a:lnTo>
                    <a:lnTo>
                      <a:pt x="0" y="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94" name="îṥļîḍé">
                <a:extLst>
                  <a:ext uri="{FF2B5EF4-FFF2-40B4-BE49-F238E27FC236}">
                    <a16:creationId xmlns:a16="http://schemas.microsoft.com/office/drawing/2014/main" id="{02BE56C9-CDD6-2B19-1427-F96D7A1B2D08}"/>
                  </a:ext>
                </a:extLst>
              </p:cNvPr>
              <p:cNvSpPr/>
              <p:nvPr/>
            </p:nvSpPr>
            <p:spPr bwMode="auto">
              <a:xfrm>
                <a:off x="3281363" y="3060701"/>
                <a:ext cx="141288" cy="115888"/>
              </a:xfrm>
              <a:custGeom>
                <a:avLst/>
                <a:gdLst>
                  <a:gd name="T0" fmla="*/ 0 w 89"/>
                  <a:gd name="T1" fmla="*/ 39 h 73"/>
                  <a:gd name="T2" fmla="*/ 71 w 89"/>
                  <a:gd name="T3" fmla="*/ 0 h 73"/>
                  <a:gd name="T4" fmla="*/ 73 w 89"/>
                  <a:gd name="T5" fmla="*/ 6 h 73"/>
                  <a:gd name="T6" fmla="*/ 29 w 89"/>
                  <a:gd name="T7" fmla="*/ 58 h 73"/>
                  <a:gd name="T8" fmla="*/ 85 w 89"/>
                  <a:gd name="T9" fmla="*/ 29 h 73"/>
                  <a:gd name="T10" fmla="*/ 89 w 89"/>
                  <a:gd name="T11" fmla="*/ 35 h 73"/>
                  <a:gd name="T12" fmla="*/ 19 w 89"/>
                  <a:gd name="T13" fmla="*/ 73 h 73"/>
                  <a:gd name="T14" fmla="*/ 15 w 89"/>
                  <a:gd name="T15" fmla="*/ 66 h 73"/>
                  <a:gd name="T16" fmla="*/ 58 w 89"/>
                  <a:gd name="T17" fmla="*/ 14 h 73"/>
                  <a:gd name="T18" fmla="*/ 2 w 89"/>
                  <a:gd name="T19" fmla="*/ 43 h 73"/>
                  <a:gd name="T20" fmla="*/ 0 w 89"/>
                  <a:gd name="T21" fmla="*/ 39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9" h="73">
                    <a:moveTo>
                      <a:pt x="0" y="39"/>
                    </a:moveTo>
                    <a:lnTo>
                      <a:pt x="71" y="0"/>
                    </a:lnTo>
                    <a:lnTo>
                      <a:pt x="73" y="6"/>
                    </a:lnTo>
                    <a:lnTo>
                      <a:pt x="29" y="58"/>
                    </a:lnTo>
                    <a:lnTo>
                      <a:pt x="85" y="29"/>
                    </a:lnTo>
                    <a:lnTo>
                      <a:pt x="89" y="35"/>
                    </a:lnTo>
                    <a:lnTo>
                      <a:pt x="19" y="73"/>
                    </a:lnTo>
                    <a:lnTo>
                      <a:pt x="15" y="66"/>
                    </a:lnTo>
                    <a:lnTo>
                      <a:pt x="58" y="14"/>
                    </a:lnTo>
                    <a:lnTo>
                      <a:pt x="2" y="43"/>
                    </a:lnTo>
                    <a:lnTo>
                      <a:pt x="0" y="3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95" name="îš1íḑe">
                <a:extLst>
                  <a:ext uri="{FF2B5EF4-FFF2-40B4-BE49-F238E27FC236}">
                    <a16:creationId xmlns:a16="http://schemas.microsoft.com/office/drawing/2014/main" id="{4457CDDA-D182-6DF9-450F-5AC3044CBAC1}"/>
                  </a:ext>
                </a:extLst>
              </p:cNvPr>
              <p:cNvSpPr/>
              <p:nvPr/>
            </p:nvSpPr>
            <p:spPr bwMode="auto">
              <a:xfrm>
                <a:off x="3327401" y="3165476"/>
                <a:ext cx="128588" cy="87313"/>
              </a:xfrm>
              <a:custGeom>
                <a:avLst/>
                <a:gdLst>
                  <a:gd name="T0" fmla="*/ 31 w 81"/>
                  <a:gd name="T1" fmla="*/ 5 h 55"/>
                  <a:gd name="T2" fmla="*/ 50 w 81"/>
                  <a:gd name="T3" fmla="*/ 0 h 55"/>
                  <a:gd name="T4" fmla="*/ 56 w 81"/>
                  <a:gd name="T5" fmla="*/ 0 h 55"/>
                  <a:gd name="T6" fmla="*/ 62 w 81"/>
                  <a:gd name="T7" fmla="*/ 0 h 55"/>
                  <a:gd name="T8" fmla="*/ 67 w 81"/>
                  <a:gd name="T9" fmla="*/ 2 h 55"/>
                  <a:gd name="T10" fmla="*/ 71 w 81"/>
                  <a:gd name="T11" fmla="*/ 2 h 55"/>
                  <a:gd name="T12" fmla="*/ 75 w 81"/>
                  <a:gd name="T13" fmla="*/ 7 h 55"/>
                  <a:gd name="T14" fmla="*/ 79 w 81"/>
                  <a:gd name="T15" fmla="*/ 11 h 55"/>
                  <a:gd name="T16" fmla="*/ 79 w 81"/>
                  <a:gd name="T17" fmla="*/ 13 h 55"/>
                  <a:gd name="T18" fmla="*/ 81 w 81"/>
                  <a:gd name="T19" fmla="*/ 19 h 55"/>
                  <a:gd name="T20" fmla="*/ 79 w 81"/>
                  <a:gd name="T21" fmla="*/ 25 h 55"/>
                  <a:gd name="T22" fmla="*/ 77 w 81"/>
                  <a:gd name="T23" fmla="*/ 30 h 55"/>
                  <a:gd name="T24" fmla="*/ 71 w 81"/>
                  <a:gd name="T25" fmla="*/ 36 h 55"/>
                  <a:gd name="T26" fmla="*/ 69 w 81"/>
                  <a:gd name="T27" fmla="*/ 38 h 55"/>
                  <a:gd name="T28" fmla="*/ 58 w 81"/>
                  <a:gd name="T29" fmla="*/ 44 h 55"/>
                  <a:gd name="T30" fmla="*/ 48 w 81"/>
                  <a:gd name="T31" fmla="*/ 48 h 55"/>
                  <a:gd name="T32" fmla="*/ 40 w 81"/>
                  <a:gd name="T33" fmla="*/ 50 h 55"/>
                  <a:gd name="T34" fmla="*/ 25 w 81"/>
                  <a:gd name="T35" fmla="*/ 55 h 55"/>
                  <a:gd name="T36" fmla="*/ 19 w 81"/>
                  <a:gd name="T37" fmla="*/ 52 h 55"/>
                  <a:gd name="T38" fmla="*/ 13 w 81"/>
                  <a:gd name="T39" fmla="*/ 52 h 55"/>
                  <a:gd name="T40" fmla="*/ 6 w 81"/>
                  <a:gd name="T41" fmla="*/ 48 h 55"/>
                  <a:gd name="T42" fmla="*/ 4 w 81"/>
                  <a:gd name="T43" fmla="*/ 46 h 55"/>
                  <a:gd name="T44" fmla="*/ 0 w 81"/>
                  <a:gd name="T45" fmla="*/ 40 h 55"/>
                  <a:gd name="T46" fmla="*/ 0 w 81"/>
                  <a:gd name="T47" fmla="*/ 38 h 55"/>
                  <a:gd name="T48" fmla="*/ 0 w 81"/>
                  <a:gd name="T49" fmla="*/ 34 h 55"/>
                  <a:gd name="T50" fmla="*/ 2 w 81"/>
                  <a:gd name="T51" fmla="*/ 27 h 55"/>
                  <a:gd name="T52" fmla="*/ 4 w 81"/>
                  <a:gd name="T53" fmla="*/ 23 h 55"/>
                  <a:gd name="T54" fmla="*/ 6 w 81"/>
                  <a:gd name="T55" fmla="*/ 19 h 55"/>
                  <a:gd name="T56" fmla="*/ 17 w 81"/>
                  <a:gd name="T57" fmla="*/ 11 h 55"/>
                  <a:gd name="T58" fmla="*/ 31 w 81"/>
                  <a:gd name="T59" fmla="*/ 5 h 55"/>
                  <a:gd name="T60" fmla="*/ 31 w 81"/>
                  <a:gd name="T61" fmla="*/ 5 h 55"/>
                  <a:gd name="T62" fmla="*/ 33 w 81"/>
                  <a:gd name="T63" fmla="*/ 11 h 55"/>
                  <a:gd name="T64" fmla="*/ 21 w 81"/>
                  <a:gd name="T65" fmla="*/ 17 h 55"/>
                  <a:gd name="T66" fmla="*/ 13 w 81"/>
                  <a:gd name="T67" fmla="*/ 23 h 55"/>
                  <a:gd name="T68" fmla="*/ 11 w 81"/>
                  <a:gd name="T69" fmla="*/ 27 h 55"/>
                  <a:gd name="T70" fmla="*/ 8 w 81"/>
                  <a:gd name="T71" fmla="*/ 34 h 55"/>
                  <a:gd name="T72" fmla="*/ 8 w 81"/>
                  <a:gd name="T73" fmla="*/ 38 h 55"/>
                  <a:gd name="T74" fmla="*/ 15 w 81"/>
                  <a:gd name="T75" fmla="*/ 44 h 55"/>
                  <a:gd name="T76" fmla="*/ 21 w 81"/>
                  <a:gd name="T77" fmla="*/ 46 h 55"/>
                  <a:gd name="T78" fmla="*/ 27 w 81"/>
                  <a:gd name="T79" fmla="*/ 46 h 55"/>
                  <a:gd name="T80" fmla="*/ 40 w 81"/>
                  <a:gd name="T81" fmla="*/ 44 h 55"/>
                  <a:gd name="T82" fmla="*/ 46 w 81"/>
                  <a:gd name="T83" fmla="*/ 42 h 55"/>
                  <a:gd name="T84" fmla="*/ 54 w 81"/>
                  <a:gd name="T85" fmla="*/ 38 h 55"/>
                  <a:gd name="T86" fmla="*/ 62 w 81"/>
                  <a:gd name="T87" fmla="*/ 34 h 55"/>
                  <a:gd name="T88" fmla="*/ 65 w 81"/>
                  <a:gd name="T89" fmla="*/ 32 h 55"/>
                  <a:gd name="T90" fmla="*/ 69 w 81"/>
                  <a:gd name="T91" fmla="*/ 27 h 55"/>
                  <a:gd name="T92" fmla="*/ 71 w 81"/>
                  <a:gd name="T93" fmla="*/ 25 h 55"/>
                  <a:gd name="T94" fmla="*/ 71 w 81"/>
                  <a:gd name="T95" fmla="*/ 21 h 55"/>
                  <a:gd name="T96" fmla="*/ 71 w 81"/>
                  <a:gd name="T97" fmla="*/ 15 h 55"/>
                  <a:gd name="T98" fmla="*/ 69 w 81"/>
                  <a:gd name="T99" fmla="*/ 13 h 55"/>
                  <a:gd name="T100" fmla="*/ 62 w 81"/>
                  <a:gd name="T101" fmla="*/ 9 h 55"/>
                  <a:gd name="T102" fmla="*/ 58 w 81"/>
                  <a:gd name="T103" fmla="*/ 7 h 55"/>
                  <a:gd name="T104" fmla="*/ 48 w 81"/>
                  <a:gd name="T105" fmla="*/ 7 h 55"/>
                  <a:gd name="T106" fmla="*/ 33 w 81"/>
                  <a:gd name="T107" fmla="*/ 11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81" h="55">
                    <a:moveTo>
                      <a:pt x="31" y="5"/>
                    </a:moveTo>
                    <a:lnTo>
                      <a:pt x="31" y="5"/>
                    </a:lnTo>
                    <a:lnTo>
                      <a:pt x="40" y="2"/>
                    </a:lnTo>
                    <a:lnTo>
                      <a:pt x="50" y="0"/>
                    </a:lnTo>
                    <a:lnTo>
                      <a:pt x="52" y="0"/>
                    </a:lnTo>
                    <a:lnTo>
                      <a:pt x="56" y="0"/>
                    </a:lnTo>
                    <a:lnTo>
                      <a:pt x="60" y="0"/>
                    </a:lnTo>
                    <a:lnTo>
                      <a:pt x="62" y="0"/>
                    </a:lnTo>
                    <a:lnTo>
                      <a:pt x="62" y="0"/>
                    </a:lnTo>
                    <a:lnTo>
                      <a:pt x="67" y="2"/>
                    </a:lnTo>
                    <a:lnTo>
                      <a:pt x="69" y="2"/>
                    </a:lnTo>
                    <a:lnTo>
                      <a:pt x="71" y="2"/>
                    </a:lnTo>
                    <a:lnTo>
                      <a:pt x="73" y="5"/>
                    </a:lnTo>
                    <a:lnTo>
                      <a:pt x="75" y="7"/>
                    </a:lnTo>
                    <a:lnTo>
                      <a:pt x="77" y="9"/>
                    </a:lnTo>
                    <a:lnTo>
                      <a:pt x="79" y="11"/>
                    </a:lnTo>
                    <a:lnTo>
                      <a:pt x="79" y="13"/>
                    </a:lnTo>
                    <a:lnTo>
                      <a:pt x="79" y="13"/>
                    </a:lnTo>
                    <a:lnTo>
                      <a:pt x="79" y="15"/>
                    </a:lnTo>
                    <a:lnTo>
                      <a:pt x="81" y="19"/>
                    </a:lnTo>
                    <a:lnTo>
                      <a:pt x="79" y="23"/>
                    </a:lnTo>
                    <a:lnTo>
                      <a:pt x="79" y="25"/>
                    </a:lnTo>
                    <a:lnTo>
                      <a:pt x="79" y="25"/>
                    </a:lnTo>
                    <a:lnTo>
                      <a:pt x="77" y="30"/>
                    </a:lnTo>
                    <a:lnTo>
                      <a:pt x="75" y="32"/>
                    </a:lnTo>
                    <a:lnTo>
                      <a:pt x="71" y="36"/>
                    </a:lnTo>
                    <a:lnTo>
                      <a:pt x="69" y="38"/>
                    </a:lnTo>
                    <a:lnTo>
                      <a:pt x="69" y="38"/>
                    </a:lnTo>
                    <a:lnTo>
                      <a:pt x="65" y="42"/>
                    </a:lnTo>
                    <a:lnTo>
                      <a:pt x="58" y="44"/>
                    </a:lnTo>
                    <a:lnTo>
                      <a:pt x="54" y="46"/>
                    </a:lnTo>
                    <a:lnTo>
                      <a:pt x="48" y="48"/>
                    </a:lnTo>
                    <a:lnTo>
                      <a:pt x="48" y="48"/>
                    </a:lnTo>
                    <a:lnTo>
                      <a:pt x="40" y="50"/>
                    </a:lnTo>
                    <a:lnTo>
                      <a:pt x="31" y="52"/>
                    </a:lnTo>
                    <a:lnTo>
                      <a:pt x="25" y="55"/>
                    </a:lnTo>
                    <a:lnTo>
                      <a:pt x="19" y="52"/>
                    </a:lnTo>
                    <a:lnTo>
                      <a:pt x="19" y="52"/>
                    </a:lnTo>
                    <a:lnTo>
                      <a:pt x="15" y="52"/>
                    </a:lnTo>
                    <a:lnTo>
                      <a:pt x="13" y="52"/>
                    </a:lnTo>
                    <a:lnTo>
                      <a:pt x="8" y="50"/>
                    </a:lnTo>
                    <a:lnTo>
                      <a:pt x="6" y="48"/>
                    </a:lnTo>
                    <a:lnTo>
                      <a:pt x="4" y="48"/>
                    </a:lnTo>
                    <a:lnTo>
                      <a:pt x="4" y="46"/>
                    </a:lnTo>
                    <a:lnTo>
                      <a:pt x="2" y="44"/>
                    </a:lnTo>
                    <a:lnTo>
                      <a:pt x="0" y="40"/>
                    </a:lnTo>
                    <a:lnTo>
                      <a:pt x="0" y="40"/>
                    </a:lnTo>
                    <a:lnTo>
                      <a:pt x="0" y="38"/>
                    </a:lnTo>
                    <a:lnTo>
                      <a:pt x="0" y="36"/>
                    </a:lnTo>
                    <a:lnTo>
                      <a:pt x="0" y="34"/>
                    </a:lnTo>
                    <a:lnTo>
                      <a:pt x="0" y="30"/>
                    </a:lnTo>
                    <a:lnTo>
                      <a:pt x="2" y="27"/>
                    </a:lnTo>
                    <a:lnTo>
                      <a:pt x="4" y="25"/>
                    </a:lnTo>
                    <a:lnTo>
                      <a:pt x="4" y="23"/>
                    </a:lnTo>
                    <a:lnTo>
                      <a:pt x="6" y="19"/>
                    </a:lnTo>
                    <a:lnTo>
                      <a:pt x="6" y="19"/>
                    </a:lnTo>
                    <a:lnTo>
                      <a:pt x="13" y="15"/>
                    </a:lnTo>
                    <a:lnTo>
                      <a:pt x="17" y="11"/>
                    </a:lnTo>
                    <a:lnTo>
                      <a:pt x="25" y="9"/>
                    </a:lnTo>
                    <a:lnTo>
                      <a:pt x="31" y="5"/>
                    </a:lnTo>
                    <a:lnTo>
                      <a:pt x="31" y="5"/>
                    </a:lnTo>
                    <a:lnTo>
                      <a:pt x="31" y="5"/>
                    </a:lnTo>
                    <a:close/>
                    <a:moveTo>
                      <a:pt x="33" y="11"/>
                    </a:moveTo>
                    <a:lnTo>
                      <a:pt x="33" y="11"/>
                    </a:lnTo>
                    <a:lnTo>
                      <a:pt x="27" y="13"/>
                    </a:lnTo>
                    <a:lnTo>
                      <a:pt x="21" y="17"/>
                    </a:lnTo>
                    <a:lnTo>
                      <a:pt x="17" y="19"/>
                    </a:lnTo>
                    <a:lnTo>
                      <a:pt x="13" y="23"/>
                    </a:lnTo>
                    <a:lnTo>
                      <a:pt x="13" y="23"/>
                    </a:lnTo>
                    <a:lnTo>
                      <a:pt x="11" y="27"/>
                    </a:lnTo>
                    <a:lnTo>
                      <a:pt x="8" y="32"/>
                    </a:lnTo>
                    <a:lnTo>
                      <a:pt x="8" y="34"/>
                    </a:lnTo>
                    <a:lnTo>
                      <a:pt x="8" y="38"/>
                    </a:lnTo>
                    <a:lnTo>
                      <a:pt x="8" y="38"/>
                    </a:lnTo>
                    <a:lnTo>
                      <a:pt x="11" y="40"/>
                    </a:lnTo>
                    <a:lnTo>
                      <a:pt x="15" y="44"/>
                    </a:lnTo>
                    <a:lnTo>
                      <a:pt x="17" y="44"/>
                    </a:lnTo>
                    <a:lnTo>
                      <a:pt x="21" y="46"/>
                    </a:lnTo>
                    <a:lnTo>
                      <a:pt x="21" y="46"/>
                    </a:lnTo>
                    <a:lnTo>
                      <a:pt x="27" y="46"/>
                    </a:lnTo>
                    <a:lnTo>
                      <a:pt x="31" y="46"/>
                    </a:lnTo>
                    <a:lnTo>
                      <a:pt x="40" y="44"/>
                    </a:lnTo>
                    <a:lnTo>
                      <a:pt x="46" y="42"/>
                    </a:lnTo>
                    <a:lnTo>
                      <a:pt x="46" y="42"/>
                    </a:lnTo>
                    <a:lnTo>
                      <a:pt x="50" y="40"/>
                    </a:lnTo>
                    <a:lnTo>
                      <a:pt x="54" y="38"/>
                    </a:lnTo>
                    <a:lnTo>
                      <a:pt x="58" y="36"/>
                    </a:lnTo>
                    <a:lnTo>
                      <a:pt x="62" y="34"/>
                    </a:lnTo>
                    <a:lnTo>
                      <a:pt x="62" y="34"/>
                    </a:lnTo>
                    <a:lnTo>
                      <a:pt x="65" y="32"/>
                    </a:lnTo>
                    <a:lnTo>
                      <a:pt x="67" y="30"/>
                    </a:lnTo>
                    <a:lnTo>
                      <a:pt x="69" y="27"/>
                    </a:lnTo>
                    <a:lnTo>
                      <a:pt x="71" y="25"/>
                    </a:lnTo>
                    <a:lnTo>
                      <a:pt x="71" y="25"/>
                    </a:lnTo>
                    <a:lnTo>
                      <a:pt x="71" y="23"/>
                    </a:lnTo>
                    <a:lnTo>
                      <a:pt x="71" y="21"/>
                    </a:lnTo>
                    <a:lnTo>
                      <a:pt x="71" y="19"/>
                    </a:lnTo>
                    <a:lnTo>
                      <a:pt x="71" y="15"/>
                    </a:lnTo>
                    <a:lnTo>
                      <a:pt x="71" y="15"/>
                    </a:lnTo>
                    <a:lnTo>
                      <a:pt x="69" y="13"/>
                    </a:lnTo>
                    <a:lnTo>
                      <a:pt x="67" y="11"/>
                    </a:lnTo>
                    <a:lnTo>
                      <a:pt x="62" y="9"/>
                    </a:lnTo>
                    <a:lnTo>
                      <a:pt x="58" y="7"/>
                    </a:lnTo>
                    <a:lnTo>
                      <a:pt x="58" y="7"/>
                    </a:lnTo>
                    <a:lnTo>
                      <a:pt x="54" y="7"/>
                    </a:lnTo>
                    <a:lnTo>
                      <a:pt x="48" y="7"/>
                    </a:lnTo>
                    <a:lnTo>
                      <a:pt x="42" y="9"/>
                    </a:lnTo>
                    <a:lnTo>
                      <a:pt x="33" y="11"/>
                    </a:lnTo>
                    <a:lnTo>
                      <a:pt x="33" y="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96" name="îṩḻíde">
                <a:extLst>
                  <a:ext uri="{FF2B5EF4-FFF2-40B4-BE49-F238E27FC236}">
                    <a16:creationId xmlns:a16="http://schemas.microsoft.com/office/drawing/2014/main" id="{623B5005-C998-05F5-26FB-ECBC2DC1F279}"/>
                  </a:ext>
                </a:extLst>
              </p:cNvPr>
              <p:cNvSpPr/>
              <p:nvPr/>
            </p:nvSpPr>
            <p:spPr bwMode="auto">
              <a:xfrm>
                <a:off x="3348038" y="3255963"/>
                <a:ext cx="125413" cy="76200"/>
              </a:xfrm>
              <a:custGeom>
                <a:avLst/>
                <a:gdLst>
                  <a:gd name="T0" fmla="*/ 0 w 79"/>
                  <a:gd name="T1" fmla="*/ 16 h 48"/>
                  <a:gd name="T2" fmla="*/ 79 w 79"/>
                  <a:gd name="T3" fmla="*/ 0 h 48"/>
                  <a:gd name="T4" fmla="*/ 79 w 79"/>
                  <a:gd name="T5" fmla="*/ 6 h 48"/>
                  <a:gd name="T6" fmla="*/ 10 w 79"/>
                  <a:gd name="T7" fmla="*/ 23 h 48"/>
                  <a:gd name="T8" fmla="*/ 16 w 79"/>
                  <a:gd name="T9" fmla="*/ 45 h 48"/>
                  <a:gd name="T10" fmla="*/ 6 w 79"/>
                  <a:gd name="T11" fmla="*/ 48 h 48"/>
                  <a:gd name="T12" fmla="*/ 0 w 79"/>
                  <a:gd name="T13" fmla="*/ 16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9" h="48">
                    <a:moveTo>
                      <a:pt x="0" y="16"/>
                    </a:moveTo>
                    <a:lnTo>
                      <a:pt x="79" y="0"/>
                    </a:lnTo>
                    <a:lnTo>
                      <a:pt x="79" y="6"/>
                    </a:lnTo>
                    <a:lnTo>
                      <a:pt x="10" y="23"/>
                    </a:lnTo>
                    <a:lnTo>
                      <a:pt x="16" y="45"/>
                    </a:lnTo>
                    <a:lnTo>
                      <a:pt x="6" y="48"/>
                    </a:lnTo>
                    <a:lnTo>
                      <a:pt x="0" y="1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97" name="îŝľíḍè">
                <a:extLst>
                  <a:ext uri="{FF2B5EF4-FFF2-40B4-BE49-F238E27FC236}">
                    <a16:creationId xmlns:a16="http://schemas.microsoft.com/office/drawing/2014/main" id="{93766D65-8FF8-29B6-63C8-DAEC59F2FBF9}"/>
                  </a:ext>
                </a:extLst>
              </p:cNvPr>
              <p:cNvSpPr/>
              <p:nvPr/>
            </p:nvSpPr>
            <p:spPr bwMode="auto">
              <a:xfrm>
                <a:off x="3360738" y="3341688"/>
                <a:ext cx="131763" cy="76200"/>
              </a:xfrm>
              <a:custGeom>
                <a:avLst/>
                <a:gdLst>
                  <a:gd name="T0" fmla="*/ 39 w 83"/>
                  <a:gd name="T1" fmla="*/ 0 h 48"/>
                  <a:gd name="T2" fmla="*/ 58 w 83"/>
                  <a:gd name="T3" fmla="*/ 0 h 48"/>
                  <a:gd name="T4" fmla="*/ 68 w 83"/>
                  <a:gd name="T5" fmla="*/ 2 h 48"/>
                  <a:gd name="T6" fmla="*/ 71 w 83"/>
                  <a:gd name="T7" fmla="*/ 4 h 48"/>
                  <a:gd name="T8" fmla="*/ 77 w 83"/>
                  <a:gd name="T9" fmla="*/ 8 h 48"/>
                  <a:gd name="T10" fmla="*/ 79 w 83"/>
                  <a:gd name="T11" fmla="*/ 10 h 48"/>
                  <a:gd name="T12" fmla="*/ 83 w 83"/>
                  <a:gd name="T13" fmla="*/ 14 h 48"/>
                  <a:gd name="T14" fmla="*/ 83 w 83"/>
                  <a:gd name="T15" fmla="*/ 21 h 48"/>
                  <a:gd name="T16" fmla="*/ 83 w 83"/>
                  <a:gd name="T17" fmla="*/ 23 h 48"/>
                  <a:gd name="T18" fmla="*/ 81 w 83"/>
                  <a:gd name="T19" fmla="*/ 29 h 48"/>
                  <a:gd name="T20" fmla="*/ 79 w 83"/>
                  <a:gd name="T21" fmla="*/ 31 h 48"/>
                  <a:gd name="T22" fmla="*/ 75 w 83"/>
                  <a:gd name="T23" fmla="*/ 37 h 48"/>
                  <a:gd name="T24" fmla="*/ 66 w 83"/>
                  <a:gd name="T25" fmla="*/ 42 h 48"/>
                  <a:gd name="T26" fmla="*/ 60 w 83"/>
                  <a:gd name="T27" fmla="*/ 44 h 48"/>
                  <a:gd name="T28" fmla="*/ 50 w 83"/>
                  <a:gd name="T29" fmla="*/ 46 h 48"/>
                  <a:gd name="T30" fmla="*/ 44 w 83"/>
                  <a:gd name="T31" fmla="*/ 46 h 48"/>
                  <a:gd name="T32" fmla="*/ 27 w 83"/>
                  <a:gd name="T33" fmla="*/ 46 h 48"/>
                  <a:gd name="T34" fmla="*/ 14 w 83"/>
                  <a:gd name="T35" fmla="*/ 44 h 48"/>
                  <a:gd name="T36" fmla="*/ 12 w 83"/>
                  <a:gd name="T37" fmla="*/ 42 h 48"/>
                  <a:gd name="T38" fmla="*/ 6 w 83"/>
                  <a:gd name="T39" fmla="*/ 37 h 48"/>
                  <a:gd name="T40" fmla="*/ 4 w 83"/>
                  <a:gd name="T41" fmla="*/ 33 h 48"/>
                  <a:gd name="T42" fmla="*/ 2 w 83"/>
                  <a:gd name="T43" fmla="*/ 29 h 48"/>
                  <a:gd name="T44" fmla="*/ 0 w 83"/>
                  <a:gd name="T45" fmla="*/ 27 h 48"/>
                  <a:gd name="T46" fmla="*/ 2 w 83"/>
                  <a:gd name="T47" fmla="*/ 21 h 48"/>
                  <a:gd name="T48" fmla="*/ 4 w 83"/>
                  <a:gd name="T49" fmla="*/ 16 h 48"/>
                  <a:gd name="T50" fmla="*/ 6 w 83"/>
                  <a:gd name="T51" fmla="*/ 12 h 48"/>
                  <a:gd name="T52" fmla="*/ 12 w 83"/>
                  <a:gd name="T53" fmla="*/ 8 h 48"/>
                  <a:gd name="T54" fmla="*/ 19 w 83"/>
                  <a:gd name="T55" fmla="*/ 4 h 48"/>
                  <a:gd name="T56" fmla="*/ 31 w 83"/>
                  <a:gd name="T57" fmla="*/ 0 h 48"/>
                  <a:gd name="T58" fmla="*/ 39 w 83"/>
                  <a:gd name="T59" fmla="*/ 0 h 48"/>
                  <a:gd name="T60" fmla="*/ 39 w 83"/>
                  <a:gd name="T61" fmla="*/ 6 h 48"/>
                  <a:gd name="T62" fmla="*/ 33 w 83"/>
                  <a:gd name="T63" fmla="*/ 8 h 48"/>
                  <a:gd name="T64" fmla="*/ 21 w 83"/>
                  <a:gd name="T65" fmla="*/ 10 h 48"/>
                  <a:gd name="T66" fmla="*/ 17 w 83"/>
                  <a:gd name="T67" fmla="*/ 14 h 48"/>
                  <a:gd name="T68" fmla="*/ 12 w 83"/>
                  <a:gd name="T69" fmla="*/ 19 h 48"/>
                  <a:gd name="T70" fmla="*/ 10 w 83"/>
                  <a:gd name="T71" fmla="*/ 25 h 48"/>
                  <a:gd name="T72" fmla="*/ 10 w 83"/>
                  <a:gd name="T73" fmla="*/ 29 h 48"/>
                  <a:gd name="T74" fmla="*/ 14 w 83"/>
                  <a:gd name="T75" fmla="*/ 35 h 48"/>
                  <a:gd name="T76" fmla="*/ 19 w 83"/>
                  <a:gd name="T77" fmla="*/ 37 h 48"/>
                  <a:gd name="T78" fmla="*/ 29 w 83"/>
                  <a:gd name="T79" fmla="*/ 39 h 48"/>
                  <a:gd name="T80" fmla="*/ 44 w 83"/>
                  <a:gd name="T81" fmla="*/ 39 h 48"/>
                  <a:gd name="T82" fmla="*/ 50 w 83"/>
                  <a:gd name="T83" fmla="*/ 39 h 48"/>
                  <a:gd name="T84" fmla="*/ 58 w 83"/>
                  <a:gd name="T85" fmla="*/ 37 h 48"/>
                  <a:gd name="T86" fmla="*/ 62 w 83"/>
                  <a:gd name="T87" fmla="*/ 35 h 48"/>
                  <a:gd name="T88" fmla="*/ 66 w 83"/>
                  <a:gd name="T89" fmla="*/ 33 h 48"/>
                  <a:gd name="T90" fmla="*/ 71 w 83"/>
                  <a:gd name="T91" fmla="*/ 29 h 48"/>
                  <a:gd name="T92" fmla="*/ 73 w 83"/>
                  <a:gd name="T93" fmla="*/ 27 h 48"/>
                  <a:gd name="T94" fmla="*/ 75 w 83"/>
                  <a:gd name="T95" fmla="*/ 23 h 48"/>
                  <a:gd name="T96" fmla="*/ 75 w 83"/>
                  <a:gd name="T97" fmla="*/ 21 h 48"/>
                  <a:gd name="T98" fmla="*/ 73 w 83"/>
                  <a:gd name="T99" fmla="*/ 14 h 48"/>
                  <a:gd name="T100" fmla="*/ 64 w 83"/>
                  <a:gd name="T101" fmla="*/ 10 h 48"/>
                  <a:gd name="T102" fmla="*/ 60 w 83"/>
                  <a:gd name="T103" fmla="*/ 8 h 48"/>
                  <a:gd name="T104" fmla="*/ 48 w 83"/>
                  <a:gd name="T105" fmla="*/ 6 h 48"/>
                  <a:gd name="T106" fmla="*/ 39 w 83"/>
                  <a:gd name="T107" fmla="*/ 6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83" h="48">
                    <a:moveTo>
                      <a:pt x="39" y="0"/>
                    </a:moveTo>
                    <a:lnTo>
                      <a:pt x="39" y="0"/>
                    </a:lnTo>
                    <a:lnTo>
                      <a:pt x="50" y="0"/>
                    </a:lnTo>
                    <a:lnTo>
                      <a:pt x="58" y="0"/>
                    </a:lnTo>
                    <a:lnTo>
                      <a:pt x="64" y="2"/>
                    </a:lnTo>
                    <a:lnTo>
                      <a:pt x="68" y="2"/>
                    </a:lnTo>
                    <a:lnTo>
                      <a:pt x="71" y="4"/>
                    </a:lnTo>
                    <a:lnTo>
                      <a:pt x="71" y="4"/>
                    </a:lnTo>
                    <a:lnTo>
                      <a:pt x="75" y="6"/>
                    </a:lnTo>
                    <a:lnTo>
                      <a:pt x="77" y="8"/>
                    </a:lnTo>
                    <a:lnTo>
                      <a:pt x="79" y="8"/>
                    </a:lnTo>
                    <a:lnTo>
                      <a:pt x="79" y="10"/>
                    </a:lnTo>
                    <a:lnTo>
                      <a:pt x="81" y="12"/>
                    </a:lnTo>
                    <a:lnTo>
                      <a:pt x="83" y="14"/>
                    </a:lnTo>
                    <a:lnTo>
                      <a:pt x="83" y="16"/>
                    </a:lnTo>
                    <a:lnTo>
                      <a:pt x="83" y="21"/>
                    </a:lnTo>
                    <a:lnTo>
                      <a:pt x="83" y="21"/>
                    </a:lnTo>
                    <a:lnTo>
                      <a:pt x="83" y="23"/>
                    </a:lnTo>
                    <a:lnTo>
                      <a:pt x="83" y="27"/>
                    </a:lnTo>
                    <a:lnTo>
                      <a:pt x="81" y="29"/>
                    </a:lnTo>
                    <a:lnTo>
                      <a:pt x="79" y="31"/>
                    </a:lnTo>
                    <a:lnTo>
                      <a:pt x="79" y="31"/>
                    </a:lnTo>
                    <a:lnTo>
                      <a:pt x="77" y="35"/>
                    </a:lnTo>
                    <a:lnTo>
                      <a:pt x="75" y="37"/>
                    </a:lnTo>
                    <a:lnTo>
                      <a:pt x="71" y="39"/>
                    </a:lnTo>
                    <a:lnTo>
                      <a:pt x="66" y="42"/>
                    </a:lnTo>
                    <a:lnTo>
                      <a:pt x="66" y="42"/>
                    </a:lnTo>
                    <a:lnTo>
                      <a:pt x="60" y="44"/>
                    </a:lnTo>
                    <a:lnTo>
                      <a:pt x="56" y="46"/>
                    </a:lnTo>
                    <a:lnTo>
                      <a:pt x="50" y="46"/>
                    </a:lnTo>
                    <a:lnTo>
                      <a:pt x="44" y="46"/>
                    </a:lnTo>
                    <a:lnTo>
                      <a:pt x="44" y="46"/>
                    </a:lnTo>
                    <a:lnTo>
                      <a:pt x="35" y="48"/>
                    </a:lnTo>
                    <a:lnTo>
                      <a:pt x="27" y="46"/>
                    </a:lnTo>
                    <a:lnTo>
                      <a:pt x="21" y="46"/>
                    </a:lnTo>
                    <a:lnTo>
                      <a:pt x="14" y="44"/>
                    </a:lnTo>
                    <a:lnTo>
                      <a:pt x="14" y="44"/>
                    </a:lnTo>
                    <a:lnTo>
                      <a:pt x="12" y="42"/>
                    </a:lnTo>
                    <a:lnTo>
                      <a:pt x="8" y="39"/>
                    </a:lnTo>
                    <a:lnTo>
                      <a:pt x="6" y="37"/>
                    </a:lnTo>
                    <a:lnTo>
                      <a:pt x="4" y="35"/>
                    </a:lnTo>
                    <a:lnTo>
                      <a:pt x="4" y="33"/>
                    </a:lnTo>
                    <a:lnTo>
                      <a:pt x="2" y="31"/>
                    </a:lnTo>
                    <a:lnTo>
                      <a:pt x="2" y="29"/>
                    </a:lnTo>
                    <a:lnTo>
                      <a:pt x="0" y="27"/>
                    </a:lnTo>
                    <a:lnTo>
                      <a:pt x="0" y="27"/>
                    </a:lnTo>
                    <a:lnTo>
                      <a:pt x="0" y="25"/>
                    </a:lnTo>
                    <a:lnTo>
                      <a:pt x="2" y="21"/>
                    </a:lnTo>
                    <a:lnTo>
                      <a:pt x="2" y="19"/>
                    </a:lnTo>
                    <a:lnTo>
                      <a:pt x="4" y="16"/>
                    </a:lnTo>
                    <a:lnTo>
                      <a:pt x="4" y="14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2" y="8"/>
                    </a:lnTo>
                    <a:lnTo>
                      <a:pt x="12" y="8"/>
                    </a:lnTo>
                    <a:lnTo>
                      <a:pt x="19" y="4"/>
                    </a:lnTo>
                    <a:lnTo>
                      <a:pt x="25" y="2"/>
                    </a:lnTo>
                    <a:lnTo>
                      <a:pt x="31" y="0"/>
                    </a:lnTo>
                    <a:lnTo>
                      <a:pt x="39" y="0"/>
                    </a:lnTo>
                    <a:lnTo>
                      <a:pt x="39" y="0"/>
                    </a:lnTo>
                    <a:lnTo>
                      <a:pt x="39" y="0"/>
                    </a:lnTo>
                    <a:close/>
                    <a:moveTo>
                      <a:pt x="39" y="6"/>
                    </a:moveTo>
                    <a:lnTo>
                      <a:pt x="39" y="6"/>
                    </a:lnTo>
                    <a:lnTo>
                      <a:pt x="33" y="8"/>
                    </a:lnTo>
                    <a:lnTo>
                      <a:pt x="27" y="8"/>
                    </a:lnTo>
                    <a:lnTo>
                      <a:pt x="21" y="10"/>
                    </a:lnTo>
                    <a:lnTo>
                      <a:pt x="17" y="14"/>
                    </a:lnTo>
                    <a:lnTo>
                      <a:pt x="17" y="14"/>
                    </a:lnTo>
                    <a:lnTo>
                      <a:pt x="14" y="16"/>
                    </a:lnTo>
                    <a:lnTo>
                      <a:pt x="12" y="19"/>
                    </a:lnTo>
                    <a:lnTo>
                      <a:pt x="10" y="23"/>
                    </a:lnTo>
                    <a:lnTo>
                      <a:pt x="10" y="25"/>
                    </a:lnTo>
                    <a:lnTo>
                      <a:pt x="10" y="25"/>
                    </a:lnTo>
                    <a:lnTo>
                      <a:pt x="10" y="29"/>
                    </a:lnTo>
                    <a:lnTo>
                      <a:pt x="12" y="33"/>
                    </a:lnTo>
                    <a:lnTo>
                      <a:pt x="14" y="35"/>
                    </a:lnTo>
                    <a:lnTo>
                      <a:pt x="19" y="37"/>
                    </a:lnTo>
                    <a:lnTo>
                      <a:pt x="19" y="37"/>
                    </a:lnTo>
                    <a:lnTo>
                      <a:pt x="25" y="39"/>
                    </a:lnTo>
                    <a:lnTo>
                      <a:pt x="29" y="39"/>
                    </a:lnTo>
                    <a:lnTo>
                      <a:pt x="35" y="39"/>
                    </a:lnTo>
                    <a:lnTo>
                      <a:pt x="44" y="39"/>
                    </a:lnTo>
                    <a:lnTo>
                      <a:pt x="44" y="39"/>
                    </a:lnTo>
                    <a:lnTo>
                      <a:pt x="50" y="39"/>
                    </a:lnTo>
                    <a:lnTo>
                      <a:pt x="54" y="39"/>
                    </a:lnTo>
                    <a:lnTo>
                      <a:pt x="58" y="37"/>
                    </a:lnTo>
                    <a:lnTo>
                      <a:pt x="62" y="35"/>
                    </a:lnTo>
                    <a:lnTo>
                      <a:pt x="62" y="35"/>
                    </a:lnTo>
                    <a:lnTo>
                      <a:pt x="64" y="35"/>
                    </a:lnTo>
                    <a:lnTo>
                      <a:pt x="66" y="33"/>
                    </a:lnTo>
                    <a:lnTo>
                      <a:pt x="71" y="31"/>
                    </a:lnTo>
                    <a:lnTo>
                      <a:pt x="71" y="29"/>
                    </a:lnTo>
                    <a:lnTo>
                      <a:pt x="71" y="29"/>
                    </a:lnTo>
                    <a:lnTo>
                      <a:pt x="73" y="27"/>
                    </a:lnTo>
                    <a:lnTo>
                      <a:pt x="75" y="25"/>
                    </a:lnTo>
                    <a:lnTo>
                      <a:pt x="75" y="23"/>
                    </a:lnTo>
                    <a:lnTo>
                      <a:pt x="75" y="21"/>
                    </a:lnTo>
                    <a:lnTo>
                      <a:pt x="75" y="21"/>
                    </a:lnTo>
                    <a:lnTo>
                      <a:pt x="75" y="16"/>
                    </a:lnTo>
                    <a:lnTo>
                      <a:pt x="73" y="14"/>
                    </a:lnTo>
                    <a:lnTo>
                      <a:pt x="68" y="12"/>
                    </a:lnTo>
                    <a:lnTo>
                      <a:pt x="64" y="10"/>
                    </a:lnTo>
                    <a:lnTo>
                      <a:pt x="64" y="10"/>
                    </a:lnTo>
                    <a:lnTo>
                      <a:pt x="60" y="8"/>
                    </a:lnTo>
                    <a:lnTo>
                      <a:pt x="54" y="6"/>
                    </a:lnTo>
                    <a:lnTo>
                      <a:pt x="48" y="6"/>
                    </a:lnTo>
                    <a:lnTo>
                      <a:pt x="39" y="6"/>
                    </a:lnTo>
                    <a:lnTo>
                      <a:pt x="39" y="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98" name="ïs1îḋè">
                <a:extLst>
                  <a:ext uri="{FF2B5EF4-FFF2-40B4-BE49-F238E27FC236}">
                    <a16:creationId xmlns:a16="http://schemas.microsoft.com/office/drawing/2014/main" id="{A2A4E6B0-66CA-618F-83EF-AC473070D8F4}"/>
                  </a:ext>
                </a:extLst>
              </p:cNvPr>
              <p:cNvSpPr/>
              <p:nvPr/>
            </p:nvSpPr>
            <p:spPr bwMode="auto">
              <a:xfrm>
                <a:off x="3363913" y="3443288"/>
                <a:ext cx="128588" cy="73025"/>
              </a:xfrm>
              <a:custGeom>
                <a:avLst/>
                <a:gdLst>
                  <a:gd name="T0" fmla="*/ 42 w 81"/>
                  <a:gd name="T1" fmla="*/ 23 h 46"/>
                  <a:gd name="T2" fmla="*/ 10 w 81"/>
                  <a:gd name="T3" fmla="*/ 42 h 46"/>
                  <a:gd name="T4" fmla="*/ 8 w 81"/>
                  <a:gd name="T5" fmla="*/ 40 h 46"/>
                  <a:gd name="T6" fmla="*/ 4 w 81"/>
                  <a:gd name="T7" fmla="*/ 36 h 46"/>
                  <a:gd name="T8" fmla="*/ 2 w 81"/>
                  <a:gd name="T9" fmla="*/ 32 h 46"/>
                  <a:gd name="T10" fmla="*/ 0 w 81"/>
                  <a:gd name="T11" fmla="*/ 28 h 46"/>
                  <a:gd name="T12" fmla="*/ 0 w 81"/>
                  <a:gd name="T13" fmla="*/ 21 h 46"/>
                  <a:gd name="T14" fmla="*/ 0 w 81"/>
                  <a:gd name="T15" fmla="*/ 19 h 46"/>
                  <a:gd name="T16" fmla="*/ 2 w 81"/>
                  <a:gd name="T17" fmla="*/ 13 h 46"/>
                  <a:gd name="T18" fmla="*/ 4 w 81"/>
                  <a:gd name="T19" fmla="*/ 9 h 46"/>
                  <a:gd name="T20" fmla="*/ 10 w 81"/>
                  <a:gd name="T21" fmla="*/ 5 h 46"/>
                  <a:gd name="T22" fmla="*/ 19 w 81"/>
                  <a:gd name="T23" fmla="*/ 3 h 46"/>
                  <a:gd name="T24" fmla="*/ 25 w 81"/>
                  <a:gd name="T25" fmla="*/ 0 h 46"/>
                  <a:gd name="T26" fmla="*/ 35 w 81"/>
                  <a:gd name="T27" fmla="*/ 0 h 46"/>
                  <a:gd name="T28" fmla="*/ 42 w 81"/>
                  <a:gd name="T29" fmla="*/ 0 h 46"/>
                  <a:gd name="T30" fmla="*/ 54 w 81"/>
                  <a:gd name="T31" fmla="*/ 3 h 46"/>
                  <a:gd name="T32" fmla="*/ 64 w 81"/>
                  <a:gd name="T33" fmla="*/ 5 h 46"/>
                  <a:gd name="T34" fmla="*/ 69 w 81"/>
                  <a:gd name="T35" fmla="*/ 7 h 46"/>
                  <a:gd name="T36" fmla="*/ 75 w 81"/>
                  <a:gd name="T37" fmla="*/ 11 h 46"/>
                  <a:gd name="T38" fmla="*/ 77 w 81"/>
                  <a:gd name="T39" fmla="*/ 15 h 46"/>
                  <a:gd name="T40" fmla="*/ 81 w 81"/>
                  <a:gd name="T41" fmla="*/ 19 h 46"/>
                  <a:gd name="T42" fmla="*/ 81 w 81"/>
                  <a:gd name="T43" fmla="*/ 28 h 46"/>
                  <a:gd name="T44" fmla="*/ 81 w 81"/>
                  <a:gd name="T45" fmla="*/ 30 h 46"/>
                  <a:gd name="T46" fmla="*/ 79 w 81"/>
                  <a:gd name="T47" fmla="*/ 34 h 46"/>
                  <a:gd name="T48" fmla="*/ 79 w 81"/>
                  <a:gd name="T49" fmla="*/ 36 h 46"/>
                  <a:gd name="T50" fmla="*/ 75 w 81"/>
                  <a:gd name="T51" fmla="*/ 40 h 46"/>
                  <a:gd name="T52" fmla="*/ 71 w 81"/>
                  <a:gd name="T53" fmla="*/ 42 h 46"/>
                  <a:gd name="T54" fmla="*/ 69 w 81"/>
                  <a:gd name="T55" fmla="*/ 44 h 46"/>
                  <a:gd name="T56" fmla="*/ 56 w 81"/>
                  <a:gd name="T57" fmla="*/ 46 h 46"/>
                  <a:gd name="T58" fmla="*/ 54 w 81"/>
                  <a:gd name="T59" fmla="*/ 40 h 46"/>
                  <a:gd name="T60" fmla="*/ 64 w 81"/>
                  <a:gd name="T61" fmla="*/ 38 h 46"/>
                  <a:gd name="T62" fmla="*/ 69 w 81"/>
                  <a:gd name="T63" fmla="*/ 36 h 46"/>
                  <a:gd name="T64" fmla="*/ 71 w 81"/>
                  <a:gd name="T65" fmla="*/ 32 h 46"/>
                  <a:gd name="T66" fmla="*/ 73 w 81"/>
                  <a:gd name="T67" fmla="*/ 25 h 46"/>
                  <a:gd name="T68" fmla="*/ 73 w 81"/>
                  <a:gd name="T69" fmla="*/ 23 h 46"/>
                  <a:gd name="T70" fmla="*/ 71 w 81"/>
                  <a:gd name="T71" fmla="*/ 19 h 46"/>
                  <a:gd name="T72" fmla="*/ 71 w 81"/>
                  <a:gd name="T73" fmla="*/ 17 h 46"/>
                  <a:gd name="T74" fmla="*/ 66 w 81"/>
                  <a:gd name="T75" fmla="*/ 13 h 46"/>
                  <a:gd name="T76" fmla="*/ 60 w 81"/>
                  <a:gd name="T77" fmla="*/ 11 h 46"/>
                  <a:gd name="T78" fmla="*/ 56 w 81"/>
                  <a:gd name="T79" fmla="*/ 9 h 46"/>
                  <a:gd name="T80" fmla="*/ 48 w 81"/>
                  <a:gd name="T81" fmla="*/ 7 h 46"/>
                  <a:gd name="T82" fmla="*/ 42 w 81"/>
                  <a:gd name="T83" fmla="*/ 7 h 46"/>
                  <a:gd name="T84" fmla="*/ 27 w 81"/>
                  <a:gd name="T85" fmla="*/ 7 h 46"/>
                  <a:gd name="T86" fmla="*/ 17 w 81"/>
                  <a:gd name="T87" fmla="*/ 11 h 46"/>
                  <a:gd name="T88" fmla="*/ 15 w 81"/>
                  <a:gd name="T89" fmla="*/ 13 h 46"/>
                  <a:gd name="T90" fmla="*/ 10 w 81"/>
                  <a:gd name="T91" fmla="*/ 19 h 46"/>
                  <a:gd name="T92" fmla="*/ 8 w 81"/>
                  <a:gd name="T93" fmla="*/ 21 h 46"/>
                  <a:gd name="T94" fmla="*/ 8 w 81"/>
                  <a:gd name="T95" fmla="*/ 25 h 46"/>
                  <a:gd name="T96" fmla="*/ 10 w 81"/>
                  <a:gd name="T97" fmla="*/ 30 h 46"/>
                  <a:gd name="T98" fmla="*/ 17 w 81"/>
                  <a:gd name="T99" fmla="*/ 38 h 46"/>
                  <a:gd name="T100" fmla="*/ 31 w 81"/>
                  <a:gd name="T101" fmla="*/ 23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81" h="46">
                    <a:moveTo>
                      <a:pt x="31" y="23"/>
                    </a:moveTo>
                    <a:lnTo>
                      <a:pt x="42" y="23"/>
                    </a:lnTo>
                    <a:lnTo>
                      <a:pt x="39" y="44"/>
                    </a:lnTo>
                    <a:lnTo>
                      <a:pt x="10" y="42"/>
                    </a:lnTo>
                    <a:lnTo>
                      <a:pt x="10" y="42"/>
                    </a:lnTo>
                    <a:lnTo>
                      <a:pt x="8" y="40"/>
                    </a:lnTo>
                    <a:lnTo>
                      <a:pt x="6" y="38"/>
                    </a:lnTo>
                    <a:lnTo>
                      <a:pt x="4" y="36"/>
                    </a:lnTo>
                    <a:lnTo>
                      <a:pt x="2" y="32"/>
                    </a:lnTo>
                    <a:lnTo>
                      <a:pt x="2" y="32"/>
                    </a:lnTo>
                    <a:lnTo>
                      <a:pt x="0" y="30"/>
                    </a:lnTo>
                    <a:lnTo>
                      <a:pt x="0" y="28"/>
                    </a:lnTo>
                    <a:lnTo>
                      <a:pt x="0" y="25"/>
                    </a:lnTo>
                    <a:lnTo>
                      <a:pt x="0" y="21"/>
                    </a:lnTo>
                    <a:lnTo>
                      <a:pt x="0" y="21"/>
                    </a:lnTo>
                    <a:lnTo>
                      <a:pt x="0" y="19"/>
                    </a:lnTo>
                    <a:lnTo>
                      <a:pt x="0" y="15"/>
                    </a:lnTo>
                    <a:lnTo>
                      <a:pt x="2" y="13"/>
                    </a:lnTo>
                    <a:lnTo>
                      <a:pt x="4" y="9"/>
                    </a:lnTo>
                    <a:lnTo>
                      <a:pt x="4" y="9"/>
                    </a:lnTo>
                    <a:lnTo>
                      <a:pt x="8" y="7"/>
                    </a:lnTo>
                    <a:lnTo>
                      <a:pt x="10" y="5"/>
                    </a:lnTo>
                    <a:lnTo>
                      <a:pt x="15" y="3"/>
                    </a:lnTo>
                    <a:lnTo>
                      <a:pt x="19" y="3"/>
                    </a:lnTo>
                    <a:lnTo>
                      <a:pt x="19" y="3"/>
                    </a:lnTo>
                    <a:lnTo>
                      <a:pt x="25" y="0"/>
                    </a:lnTo>
                    <a:lnTo>
                      <a:pt x="29" y="0"/>
                    </a:lnTo>
                    <a:lnTo>
                      <a:pt x="35" y="0"/>
                    </a:lnTo>
                    <a:lnTo>
                      <a:pt x="42" y="0"/>
                    </a:lnTo>
                    <a:lnTo>
                      <a:pt x="42" y="0"/>
                    </a:lnTo>
                    <a:lnTo>
                      <a:pt x="48" y="0"/>
                    </a:lnTo>
                    <a:lnTo>
                      <a:pt x="54" y="3"/>
                    </a:lnTo>
                    <a:lnTo>
                      <a:pt x="60" y="3"/>
                    </a:lnTo>
                    <a:lnTo>
                      <a:pt x="64" y="5"/>
                    </a:lnTo>
                    <a:lnTo>
                      <a:pt x="64" y="5"/>
                    </a:lnTo>
                    <a:lnTo>
                      <a:pt x="69" y="7"/>
                    </a:lnTo>
                    <a:lnTo>
                      <a:pt x="73" y="9"/>
                    </a:lnTo>
                    <a:lnTo>
                      <a:pt x="75" y="11"/>
                    </a:lnTo>
                    <a:lnTo>
                      <a:pt x="77" y="15"/>
                    </a:lnTo>
                    <a:lnTo>
                      <a:pt x="77" y="15"/>
                    </a:lnTo>
                    <a:lnTo>
                      <a:pt x="79" y="17"/>
                    </a:lnTo>
                    <a:lnTo>
                      <a:pt x="81" y="19"/>
                    </a:lnTo>
                    <a:lnTo>
                      <a:pt x="81" y="23"/>
                    </a:lnTo>
                    <a:lnTo>
                      <a:pt x="81" y="28"/>
                    </a:lnTo>
                    <a:lnTo>
                      <a:pt x="81" y="28"/>
                    </a:lnTo>
                    <a:lnTo>
                      <a:pt x="81" y="30"/>
                    </a:lnTo>
                    <a:lnTo>
                      <a:pt x="81" y="32"/>
                    </a:lnTo>
                    <a:lnTo>
                      <a:pt x="79" y="34"/>
                    </a:lnTo>
                    <a:lnTo>
                      <a:pt x="79" y="36"/>
                    </a:lnTo>
                    <a:lnTo>
                      <a:pt x="79" y="36"/>
                    </a:lnTo>
                    <a:lnTo>
                      <a:pt x="77" y="38"/>
                    </a:lnTo>
                    <a:lnTo>
                      <a:pt x="75" y="40"/>
                    </a:lnTo>
                    <a:lnTo>
                      <a:pt x="73" y="42"/>
                    </a:lnTo>
                    <a:lnTo>
                      <a:pt x="71" y="42"/>
                    </a:lnTo>
                    <a:lnTo>
                      <a:pt x="71" y="42"/>
                    </a:lnTo>
                    <a:lnTo>
                      <a:pt x="69" y="44"/>
                    </a:lnTo>
                    <a:lnTo>
                      <a:pt x="64" y="44"/>
                    </a:lnTo>
                    <a:lnTo>
                      <a:pt x="56" y="46"/>
                    </a:lnTo>
                    <a:lnTo>
                      <a:pt x="54" y="40"/>
                    </a:lnTo>
                    <a:lnTo>
                      <a:pt x="54" y="40"/>
                    </a:lnTo>
                    <a:lnTo>
                      <a:pt x="60" y="38"/>
                    </a:lnTo>
                    <a:lnTo>
                      <a:pt x="64" y="38"/>
                    </a:lnTo>
                    <a:lnTo>
                      <a:pt x="64" y="38"/>
                    </a:lnTo>
                    <a:lnTo>
                      <a:pt x="69" y="36"/>
                    </a:lnTo>
                    <a:lnTo>
                      <a:pt x="71" y="32"/>
                    </a:lnTo>
                    <a:lnTo>
                      <a:pt x="71" y="32"/>
                    </a:lnTo>
                    <a:lnTo>
                      <a:pt x="73" y="30"/>
                    </a:lnTo>
                    <a:lnTo>
                      <a:pt x="73" y="25"/>
                    </a:lnTo>
                    <a:lnTo>
                      <a:pt x="73" y="25"/>
                    </a:lnTo>
                    <a:lnTo>
                      <a:pt x="73" y="23"/>
                    </a:lnTo>
                    <a:lnTo>
                      <a:pt x="73" y="21"/>
                    </a:lnTo>
                    <a:lnTo>
                      <a:pt x="71" y="19"/>
                    </a:lnTo>
                    <a:lnTo>
                      <a:pt x="71" y="17"/>
                    </a:lnTo>
                    <a:lnTo>
                      <a:pt x="71" y="17"/>
                    </a:lnTo>
                    <a:lnTo>
                      <a:pt x="69" y="15"/>
                    </a:lnTo>
                    <a:lnTo>
                      <a:pt x="66" y="13"/>
                    </a:lnTo>
                    <a:lnTo>
                      <a:pt x="62" y="11"/>
                    </a:lnTo>
                    <a:lnTo>
                      <a:pt x="60" y="11"/>
                    </a:lnTo>
                    <a:lnTo>
                      <a:pt x="60" y="11"/>
                    </a:lnTo>
                    <a:lnTo>
                      <a:pt x="56" y="9"/>
                    </a:lnTo>
                    <a:lnTo>
                      <a:pt x="52" y="7"/>
                    </a:lnTo>
                    <a:lnTo>
                      <a:pt x="48" y="7"/>
                    </a:lnTo>
                    <a:lnTo>
                      <a:pt x="42" y="7"/>
                    </a:lnTo>
                    <a:lnTo>
                      <a:pt x="42" y="7"/>
                    </a:lnTo>
                    <a:lnTo>
                      <a:pt x="35" y="7"/>
                    </a:lnTo>
                    <a:lnTo>
                      <a:pt x="27" y="7"/>
                    </a:lnTo>
                    <a:lnTo>
                      <a:pt x="23" y="9"/>
                    </a:lnTo>
                    <a:lnTo>
                      <a:pt x="17" y="11"/>
                    </a:lnTo>
                    <a:lnTo>
                      <a:pt x="17" y="11"/>
                    </a:lnTo>
                    <a:lnTo>
                      <a:pt x="15" y="13"/>
                    </a:lnTo>
                    <a:lnTo>
                      <a:pt x="10" y="15"/>
                    </a:lnTo>
                    <a:lnTo>
                      <a:pt x="10" y="19"/>
                    </a:lnTo>
                    <a:lnTo>
                      <a:pt x="8" y="21"/>
                    </a:lnTo>
                    <a:lnTo>
                      <a:pt x="8" y="21"/>
                    </a:lnTo>
                    <a:lnTo>
                      <a:pt x="8" y="23"/>
                    </a:lnTo>
                    <a:lnTo>
                      <a:pt x="8" y="25"/>
                    </a:lnTo>
                    <a:lnTo>
                      <a:pt x="10" y="30"/>
                    </a:lnTo>
                    <a:lnTo>
                      <a:pt x="10" y="30"/>
                    </a:lnTo>
                    <a:lnTo>
                      <a:pt x="12" y="34"/>
                    </a:lnTo>
                    <a:lnTo>
                      <a:pt x="17" y="38"/>
                    </a:lnTo>
                    <a:lnTo>
                      <a:pt x="31" y="38"/>
                    </a:lnTo>
                    <a:lnTo>
                      <a:pt x="31" y="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99" name="íṧḻiḓé">
                <a:extLst>
                  <a:ext uri="{FF2B5EF4-FFF2-40B4-BE49-F238E27FC236}">
                    <a16:creationId xmlns:a16="http://schemas.microsoft.com/office/drawing/2014/main" id="{58F57E56-9F0E-7588-07E6-5205D0670EC8}"/>
                  </a:ext>
                </a:extLst>
              </p:cNvPr>
              <p:cNvSpPr/>
              <p:nvPr/>
            </p:nvSpPr>
            <p:spPr bwMode="auto">
              <a:xfrm>
                <a:off x="3354388" y="3549651"/>
                <a:ext cx="131763" cy="69850"/>
              </a:xfrm>
              <a:custGeom>
                <a:avLst/>
                <a:gdLst>
                  <a:gd name="T0" fmla="*/ 0 w 83"/>
                  <a:gd name="T1" fmla="*/ 2 h 44"/>
                  <a:gd name="T2" fmla="*/ 33 w 83"/>
                  <a:gd name="T3" fmla="*/ 8 h 44"/>
                  <a:gd name="T4" fmla="*/ 83 w 83"/>
                  <a:gd name="T5" fmla="*/ 0 h 44"/>
                  <a:gd name="T6" fmla="*/ 81 w 83"/>
                  <a:gd name="T7" fmla="*/ 8 h 44"/>
                  <a:gd name="T8" fmla="*/ 56 w 83"/>
                  <a:gd name="T9" fmla="*/ 13 h 44"/>
                  <a:gd name="T10" fmla="*/ 56 w 83"/>
                  <a:gd name="T11" fmla="*/ 13 h 44"/>
                  <a:gd name="T12" fmla="*/ 41 w 83"/>
                  <a:gd name="T13" fmla="*/ 15 h 44"/>
                  <a:gd name="T14" fmla="*/ 41 w 83"/>
                  <a:gd name="T15" fmla="*/ 15 h 44"/>
                  <a:gd name="T16" fmla="*/ 54 w 83"/>
                  <a:gd name="T17" fmla="*/ 23 h 44"/>
                  <a:gd name="T18" fmla="*/ 75 w 83"/>
                  <a:gd name="T19" fmla="*/ 38 h 44"/>
                  <a:gd name="T20" fmla="*/ 72 w 83"/>
                  <a:gd name="T21" fmla="*/ 44 h 44"/>
                  <a:gd name="T22" fmla="*/ 33 w 83"/>
                  <a:gd name="T23" fmla="*/ 15 h 44"/>
                  <a:gd name="T24" fmla="*/ 0 w 83"/>
                  <a:gd name="T25" fmla="*/ 8 h 44"/>
                  <a:gd name="T26" fmla="*/ 0 w 83"/>
                  <a:gd name="T27" fmla="*/ 2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3" h="44">
                    <a:moveTo>
                      <a:pt x="0" y="2"/>
                    </a:moveTo>
                    <a:lnTo>
                      <a:pt x="33" y="8"/>
                    </a:lnTo>
                    <a:lnTo>
                      <a:pt x="83" y="0"/>
                    </a:lnTo>
                    <a:lnTo>
                      <a:pt x="81" y="8"/>
                    </a:lnTo>
                    <a:lnTo>
                      <a:pt x="56" y="13"/>
                    </a:lnTo>
                    <a:lnTo>
                      <a:pt x="56" y="13"/>
                    </a:lnTo>
                    <a:lnTo>
                      <a:pt x="41" y="15"/>
                    </a:lnTo>
                    <a:lnTo>
                      <a:pt x="41" y="15"/>
                    </a:lnTo>
                    <a:lnTo>
                      <a:pt x="54" y="23"/>
                    </a:lnTo>
                    <a:lnTo>
                      <a:pt x="75" y="38"/>
                    </a:lnTo>
                    <a:lnTo>
                      <a:pt x="72" y="44"/>
                    </a:lnTo>
                    <a:lnTo>
                      <a:pt x="33" y="15"/>
                    </a:lnTo>
                    <a:lnTo>
                      <a:pt x="0" y="8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00" name="isḷîďè">
                <a:extLst>
                  <a:ext uri="{FF2B5EF4-FFF2-40B4-BE49-F238E27FC236}">
                    <a16:creationId xmlns:a16="http://schemas.microsoft.com/office/drawing/2014/main" id="{DBCFBC6B-2E72-23DA-CB2F-8FCCEBEFE554}"/>
                  </a:ext>
                </a:extLst>
              </p:cNvPr>
              <p:cNvSpPr/>
              <p:nvPr/>
            </p:nvSpPr>
            <p:spPr bwMode="auto">
              <a:xfrm>
                <a:off x="2651126" y="3582988"/>
                <a:ext cx="14288" cy="730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01" name="iSliḓe">
                <a:extLst>
                  <a:ext uri="{FF2B5EF4-FFF2-40B4-BE49-F238E27FC236}">
                    <a16:creationId xmlns:a16="http://schemas.microsoft.com/office/drawing/2014/main" id="{C388B51F-0AE2-F5B9-003D-5B2C72E1054A}"/>
                  </a:ext>
                </a:extLst>
              </p:cNvPr>
              <p:cNvSpPr/>
              <p:nvPr/>
            </p:nvSpPr>
            <p:spPr bwMode="auto">
              <a:xfrm>
                <a:off x="2690813" y="3582988"/>
                <a:ext cx="60325" cy="73025"/>
              </a:xfrm>
              <a:custGeom>
                <a:avLst/>
                <a:gdLst>
                  <a:gd name="T0" fmla="*/ 38 w 38"/>
                  <a:gd name="T1" fmla="*/ 19 h 46"/>
                  <a:gd name="T2" fmla="*/ 36 w 38"/>
                  <a:gd name="T3" fmla="*/ 10 h 46"/>
                  <a:gd name="T4" fmla="*/ 31 w 38"/>
                  <a:gd name="T5" fmla="*/ 4 h 46"/>
                  <a:gd name="T6" fmla="*/ 25 w 38"/>
                  <a:gd name="T7" fmla="*/ 0 h 46"/>
                  <a:gd name="T8" fmla="*/ 19 w 38"/>
                  <a:gd name="T9" fmla="*/ 0 h 46"/>
                  <a:gd name="T10" fmla="*/ 15 w 38"/>
                  <a:gd name="T11" fmla="*/ 0 h 46"/>
                  <a:gd name="T12" fmla="*/ 6 w 38"/>
                  <a:gd name="T13" fmla="*/ 2 h 46"/>
                  <a:gd name="T14" fmla="*/ 2 w 38"/>
                  <a:gd name="T15" fmla="*/ 8 h 46"/>
                  <a:gd name="T16" fmla="*/ 0 w 38"/>
                  <a:gd name="T17" fmla="*/ 15 h 46"/>
                  <a:gd name="T18" fmla="*/ 0 w 38"/>
                  <a:gd name="T19" fmla="*/ 19 h 46"/>
                  <a:gd name="T20" fmla="*/ 0 w 38"/>
                  <a:gd name="T21" fmla="*/ 25 h 46"/>
                  <a:gd name="T22" fmla="*/ 4 w 38"/>
                  <a:gd name="T23" fmla="*/ 31 h 46"/>
                  <a:gd name="T24" fmla="*/ 11 w 38"/>
                  <a:gd name="T25" fmla="*/ 35 h 46"/>
                  <a:gd name="T26" fmla="*/ 19 w 38"/>
                  <a:gd name="T27" fmla="*/ 35 h 46"/>
                  <a:gd name="T28" fmla="*/ 19 w 38"/>
                  <a:gd name="T29" fmla="*/ 35 h 46"/>
                  <a:gd name="T30" fmla="*/ 23 w 38"/>
                  <a:gd name="T31" fmla="*/ 46 h 46"/>
                  <a:gd name="T32" fmla="*/ 34 w 38"/>
                  <a:gd name="T33" fmla="*/ 29 h 46"/>
                  <a:gd name="T34" fmla="*/ 36 w 38"/>
                  <a:gd name="T35" fmla="*/ 23 h 46"/>
                  <a:gd name="T36" fmla="*/ 38 w 38"/>
                  <a:gd name="T37" fmla="*/ 19 h 46"/>
                  <a:gd name="T38" fmla="*/ 38 w 38"/>
                  <a:gd name="T39" fmla="*/ 19 h 46"/>
                  <a:gd name="T40" fmla="*/ 9 w 38"/>
                  <a:gd name="T41" fmla="*/ 19 h 46"/>
                  <a:gd name="T42" fmla="*/ 9 w 38"/>
                  <a:gd name="T43" fmla="*/ 15 h 46"/>
                  <a:gd name="T44" fmla="*/ 11 w 38"/>
                  <a:gd name="T45" fmla="*/ 10 h 46"/>
                  <a:gd name="T46" fmla="*/ 15 w 38"/>
                  <a:gd name="T47" fmla="*/ 8 h 46"/>
                  <a:gd name="T48" fmla="*/ 19 w 38"/>
                  <a:gd name="T49" fmla="*/ 8 h 46"/>
                  <a:gd name="T50" fmla="*/ 19 w 38"/>
                  <a:gd name="T51" fmla="*/ 8 h 46"/>
                  <a:gd name="T52" fmla="*/ 23 w 38"/>
                  <a:gd name="T53" fmla="*/ 10 h 46"/>
                  <a:gd name="T54" fmla="*/ 27 w 38"/>
                  <a:gd name="T55" fmla="*/ 12 h 46"/>
                  <a:gd name="T56" fmla="*/ 29 w 38"/>
                  <a:gd name="T57" fmla="*/ 15 h 46"/>
                  <a:gd name="T58" fmla="*/ 29 w 38"/>
                  <a:gd name="T59" fmla="*/ 19 h 46"/>
                  <a:gd name="T60" fmla="*/ 27 w 38"/>
                  <a:gd name="T61" fmla="*/ 21 h 46"/>
                  <a:gd name="T62" fmla="*/ 25 w 38"/>
                  <a:gd name="T63" fmla="*/ 25 h 46"/>
                  <a:gd name="T64" fmla="*/ 23 w 38"/>
                  <a:gd name="T65" fmla="*/ 27 h 46"/>
                  <a:gd name="T66" fmla="*/ 19 w 38"/>
                  <a:gd name="T67" fmla="*/ 27 h 46"/>
                  <a:gd name="T68" fmla="*/ 15 w 38"/>
                  <a:gd name="T69" fmla="*/ 27 h 46"/>
                  <a:gd name="T70" fmla="*/ 13 w 38"/>
                  <a:gd name="T71" fmla="*/ 27 h 46"/>
                  <a:gd name="T72" fmla="*/ 9 w 38"/>
                  <a:gd name="T73" fmla="*/ 23 h 46"/>
                  <a:gd name="T74" fmla="*/ 9 w 38"/>
                  <a:gd name="T75" fmla="*/ 21 h 46"/>
                  <a:gd name="T76" fmla="*/ 9 w 38"/>
                  <a:gd name="T77" fmla="*/ 19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38" h="46">
                    <a:moveTo>
                      <a:pt x="38" y="19"/>
                    </a:moveTo>
                    <a:lnTo>
                      <a:pt x="38" y="19"/>
                    </a:lnTo>
                    <a:lnTo>
                      <a:pt x="36" y="15"/>
                    </a:lnTo>
                    <a:lnTo>
                      <a:pt x="36" y="10"/>
                    </a:lnTo>
                    <a:lnTo>
                      <a:pt x="34" y="8"/>
                    </a:lnTo>
                    <a:lnTo>
                      <a:pt x="31" y="4"/>
                    </a:lnTo>
                    <a:lnTo>
                      <a:pt x="29" y="2"/>
                    </a:lnTo>
                    <a:lnTo>
                      <a:pt x="25" y="0"/>
                    </a:lnTo>
                    <a:lnTo>
                      <a:pt x="21" y="0"/>
                    </a:lnTo>
                    <a:lnTo>
                      <a:pt x="19" y="0"/>
                    </a:lnTo>
                    <a:lnTo>
                      <a:pt x="19" y="0"/>
                    </a:lnTo>
                    <a:lnTo>
                      <a:pt x="15" y="0"/>
                    </a:lnTo>
                    <a:lnTo>
                      <a:pt x="11" y="0"/>
                    </a:lnTo>
                    <a:lnTo>
                      <a:pt x="6" y="2"/>
                    </a:lnTo>
                    <a:lnTo>
                      <a:pt x="4" y="4"/>
                    </a:lnTo>
                    <a:lnTo>
                      <a:pt x="2" y="8"/>
                    </a:lnTo>
                    <a:lnTo>
                      <a:pt x="0" y="10"/>
                    </a:lnTo>
                    <a:lnTo>
                      <a:pt x="0" y="15"/>
                    </a:lnTo>
                    <a:lnTo>
                      <a:pt x="0" y="19"/>
                    </a:lnTo>
                    <a:lnTo>
                      <a:pt x="0" y="19"/>
                    </a:lnTo>
                    <a:lnTo>
                      <a:pt x="0" y="21"/>
                    </a:lnTo>
                    <a:lnTo>
                      <a:pt x="0" y="25"/>
                    </a:lnTo>
                    <a:lnTo>
                      <a:pt x="2" y="29"/>
                    </a:lnTo>
                    <a:lnTo>
                      <a:pt x="4" y="31"/>
                    </a:lnTo>
                    <a:lnTo>
                      <a:pt x="6" y="33"/>
                    </a:lnTo>
                    <a:lnTo>
                      <a:pt x="11" y="35"/>
                    </a:lnTo>
                    <a:lnTo>
                      <a:pt x="15" y="35"/>
                    </a:lnTo>
                    <a:lnTo>
                      <a:pt x="19" y="35"/>
                    </a:lnTo>
                    <a:lnTo>
                      <a:pt x="19" y="35"/>
                    </a:lnTo>
                    <a:lnTo>
                      <a:pt x="19" y="35"/>
                    </a:lnTo>
                    <a:lnTo>
                      <a:pt x="13" y="46"/>
                    </a:lnTo>
                    <a:lnTo>
                      <a:pt x="23" y="46"/>
                    </a:lnTo>
                    <a:lnTo>
                      <a:pt x="34" y="29"/>
                    </a:lnTo>
                    <a:lnTo>
                      <a:pt x="34" y="29"/>
                    </a:lnTo>
                    <a:lnTo>
                      <a:pt x="36" y="27"/>
                    </a:lnTo>
                    <a:lnTo>
                      <a:pt x="36" y="23"/>
                    </a:lnTo>
                    <a:lnTo>
                      <a:pt x="36" y="21"/>
                    </a:lnTo>
                    <a:lnTo>
                      <a:pt x="38" y="19"/>
                    </a:lnTo>
                    <a:lnTo>
                      <a:pt x="38" y="19"/>
                    </a:lnTo>
                    <a:lnTo>
                      <a:pt x="38" y="19"/>
                    </a:lnTo>
                    <a:close/>
                    <a:moveTo>
                      <a:pt x="9" y="19"/>
                    </a:moveTo>
                    <a:lnTo>
                      <a:pt x="9" y="19"/>
                    </a:lnTo>
                    <a:lnTo>
                      <a:pt x="9" y="15"/>
                    </a:lnTo>
                    <a:lnTo>
                      <a:pt x="9" y="15"/>
                    </a:lnTo>
                    <a:lnTo>
                      <a:pt x="9" y="12"/>
                    </a:lnTo>
                    <a:lnTo>
                      <a:pt x="11" y="10"/>
                    </a:lnTo>
                    <a:lnTo>
                      <a:pt x="13" y="10"/>
                    </a:lnTo>
                    <a:lnTo>
                      <a:pt x="15" y="8"/>
                    </a:lnTo>
                    <a:lnTo>
                      <a:pt x="15" y="8"/>
                    </a:lnTo>
                    <a:lnTo>
                      <a:pt x="19" y="8"/>
                    </a:lnTo>
                    <a:lnTo>
                      <a:pt x="19" y="8"/>
                    </a:lnTo>
                    <a:lnTo>
                      <a:pt x="19" y="8"/>
                    </a:lnTo>
                    <a:lnTo>
                      <a:pt x="23" y="8"/>
                    </a:lnTo>
                    <a:lnTo>
                      <a:pt x="23" y="10"/>
                    </a:lnTo>
                    <a:lnTo>
                      <a:pt x="25" y="10"/>
                    </a:lnTo>
                    <a:lnTo>
                      <a:pt x="27" y="12"/>
                    </a:lnTo>
                    <a:lnTo>
                      <a:pt x="27" y="15"/>
                    </a:lnTo>
                    <a:lnTo>
                      <a:pt x="29" y="15"/>
                    </a:lnTo>
                    <a:lnTo>
                      <a:pt x="29" y="19"/>
                    </a:lnTo>
                    <a:lnTo>
                      <a:pt x="29" y="19"/>
                    </a:lnTo>
                    <a:lnTo>
                      <a:pt x="29" y="21"/>
                    </a:lnTo>
                    <a:lnTo>
                      <a:pt x="27" y="21"/>
                    </a:lnTo>
                    <a:lnTo>
                      <a:pt x="27" y="23"/>
                    </a:lnTo>
                    <a:lnTo>
                      <a:pt x="25" y="25"/>
                    </a:lnTo>
                    <a:lnTo>
                      <a:pt x="23" y="27"/>
                    </a:lnTo>
                    <a:lnTo>
                      <a:pt x="23" y="27"/>
                    </a:lnTo>
                    <a:lnTo>
                      <a:pt x="19" y="27"/>
                    </a:lnTo>
                    <a:lnTo>
                      <a:pt x="19" y="27"/>
                    </a:lnTo>
                    <a:lnTo>
                      <a:pt x="19" y="27"/>
                    </a:lnTo>
                    <a:lnTo>
                      <a:pt x="15" y="27"/>
                    </a:lnTo>
                    <a:lnTo>
                      <a:pt x="15" y="27"/>
                    </a:lnTo>
                    <a:lnTo>
                      <a:pt x="13" y="27"/>
                    </a:lnTo>
                    <a:lnTo>
                      <a:pt x="11" y="25"/>
                    </a:lnTo>
                    <a:lnTo>
                      <a:pt x="9" y="23"/>
                    </a:lnTo>
                    <a:lnTo>
                      <a:pt x="9" y="21"/>
                    </a:lnTo>
                    <a:lnTo>
                      <a:pt x="9" y="21"/>
                    </a:lnTo>
                    <a:lnTo>
                      <a:pt x="9" y="19"/>
                    </a:lnTo>
                    <a:lnTo>
                      <a:pt x="9" y="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02" name="ïṧ1ïdè">
                <a:extLst>
                  <a:ext uri="{FF2B5EF4-FFF2-40B4-BE49-F238E27FC236}">
                    <a16:creationId xmlns:a16="http://schemas.microsoft.com/office/drawing/2014/main" id="{7E856154-8165-E0DA-89B2-F99C55DC35A2}"/>
                  </a:ext>
                </a:extLst>
              </p:cNvPr>
              <p:cNvSpPr/>
              <p:nvPr/>
            </p:nvSpPr>
            <p:spPr bwMode="auto">
              <a:xfrm>
                <a:off x="2833688" y="3582988"/>
                <a:ext cx="58738" cy="73025"/>
              </a:xfrm>
              <a:custGeom>
                <a:avLst/>
                <a:gdLst>
                  <a:gd name="T0" fmla="*/ 37 w 37"/>
                  <a:gd name="T1" fmla="*/ 19 h 46"/>
                  <a:gd name="T2" fmla="*/ 37 w 37"/>
                  <a:gd name="T3" fmla="*/ 10 h 46"/>
                  <a:gd name="T4" fmla="*/ 33 w 37"/>
                  <a:gd name="T5" fmla="*/ 4 h 46"/>
                  <a:gd name="T6" fmla="*/ 27 w 37"/>
                  <a:gd name="T7" fmla="*/ 0 h 46"/>
                  <a:gd name="T8" fmla="*/ 18 w 37"/>
                  <a:gd name="T9" fmla="*/ 0 h 46"/>
                  <a:gd name="T10" fmla="*/ 16 w 37"/>
                  <a:gd name="T11" fmla="*/ 0 h 46"/>
                  <a:gd name="T12" fmla="*/ 8 w 37"/>
                  <a:gd name="T13" fmla="*/ 2 h 46"/>
                  <a:gd name="T14" fmla="*/ 4 w 37"/>
                  <a:gd name="T15" fmla="*/ 8 h 46"/>
                  <a:gd name="T16" fmla="*/ 2 w 37"/>
                  <a:gd name="T17" fmla="*/ 15 h 46"/>
                  <a:gd name="T18" fmla="*/ 0 w 37"/>
                  <a:gd name="T19" fmla="*/ 19 h 46"/>
                  <a:gd name="T20" fmla="*/ 2 w 37"/>
                  <a:gd name="T21" fmla="*/ 25 h 46"/>
                  <a:gd name="T22" fmla="*/ 6 w 37"/>
                  <a:gd name="T23" fmla="*/ 31 h 46"/>
                  <a:gd name="T24" fmla="*/ 12 w 37"/>
                  <a:gd name="T25" fmla="*/ 35 h 46"/>
                  <a:gd name="T26" fmla="*/ 18 w 37"/>
                  <a:gd name="T27" fmla="*/ 35 h 46"/>
                  <a:gd name="T28" fmla="*/ 18 w 37"/>
                  <a:gd name="T29" fmla="*/ 35 h 46"/>
                  <a:gd name="T30" fmla="*/ 22 w 37"/>
                  <a:gd name="T31" fmla="*/ 46 h 46"/>
                  <a:gd name="T32" fmla="*/ 35 w 37"/>
                  <a:gd name="T33" fmla="*/ 29 h 46"/>
                  <a:gd name="T34" fmla="*/ 37 w 37"/>
                  <a:gd name="T35" fmla="*/ 23 h 46"/>
                  <a:gd name="T36" fmla="*/ 37 w 37"/>
                  <a:gd name="T37" fmla="*/ 19 h 46"/>
                  <a:gd name="T38" fmla="*/ 37 w 37"/>
                  <a:gd name="T39" fmla="*/ 19 h 46"/>
                  <a:gd name="T40" fmla="*/ 8 w 37"/>
                  <a:gd name="T41" fmla="*/ 19 h 46"/>
                  <a:gd name="T42" fmla="*/ 10 w 37"/>
                  <a:gd name="T43" fmla="*/ 15 h 46"/>
                  <a:gd name="T44" fmla="*/ 12 w 37"/>
                  <a:gd name="T45" fmla="*/ 10 h 46"/>
                  <a:gd name="T46" fmla="*/ 16 w 37"/>
                  <a:gd name="T47" fmla="*/ 8 h 46"/>
                  <a:gd name="T48" fmla="*/ 18 w 37"/>
                  <a:gd name="T49" fmla="*/ 8 h 46"/>
                  <a:gd name="T50" fmla="*/ 20 w 37"/>
                  <a:gd name="T51" fmla="*/ 8 h 46"/>
                  <a:gd name="T52" fmla="*/ 25 w 37"/>
                  <a:gd name="T53" fmla="*/ 10 h 46"/>
                  <a:gd name="T54" fmla="*/ 29 w 37"/>
                  <a:gd name="T55" fmla="*/ 12 h 46"/>
                  <a:gd name="T56" fmla="*/ 29 w 37"/>
                  <a:gd name="T57" fmla="*/ 15 h 46"/>
                  <a:gd name="T58" fmla="*/ 29 w 37"/>
                  <a:gd name="T59" fmla="*/ 19 h 46"/>
                  <a:gd name="T60" fmla="*/ 29 w 37"/>
                  <a:gd name="T61" fmla="*/ 21 h 46"/>
                  <a:gd name="T62" fmla="*/ 27 w 37"/>
                  <a:gd name="T63" fmla="*/ 25 h 46"/>
                  <a:gd name="T64" fmla="*/ 22 w 37"/>
                  <a:gd name="T65" fmla="*/ 27 h 46"/>
                  <a:gd name="T66" fmla="*/ 18 w 37"/>
                  <a:gd name="T67" fmla="*/ 27 h 46"/>
                  <a:gd name="T68" fmla="*/ 16 w 37"/>
                  <a:gd name="T69" fmla="*/ 27 h 46"/>
                  <a:gd name="T70" fmla="*/ 14 w 37"/>
                  <a:gd name="T71" fmla="*/ 27 h 46"/>
                  <a:gd name="T72" fmla="*/ 10 w 37"/>
                  <a:gd name="T73" fmla="*/ 23 h 46"/>
                  <a:gd name="T74" fmla="*/ 8 w 37"/>
                  <a:gd name="T75" fmla="*/ 21 h 46"/>
                  <a:gd name="T76" fmla="*/ 8 w 37"/>
                  <a:gd name="T77" fmla="*/ 19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37" h="46">
                    <a:moveTo>
                      <a:pt x="37" y="19"/>
                    </a:moveTo>
                    <a:lnTo>
                      <a:pt x="37" y="19"/>
                    </a:lnTo>
                    <a:lnTo>
                      <a:pt x="37" y="15"/>
                    </a:lnTo>
                    <a:lnTo>
                      <a:pt x="37" y="10"/>
                    </a:lnTo>
                    <a:lnTo>
                      <a:pt x="35" y="8"/>
                    </a:lnTo>
                    <a:lnTo>
                      <a:pt x="33" y="4"/>
                    </a:lnTo>
                    <a:lnTo>
                      <a:pt x="31" y="2"/>
                    </a:lnTo>
                    <a:lnTo>
                      <a:pt x="27" y="0"/>
                    </a:lnTo>
                    <a:lnTo>
                      <a:pt x="22" y="0"/>
                    </a:lnTo>
                    <a:lnTo>
                      <a:pt x="18" y="0"/>
                    </a:lnTo>
                    <a:lnTo>
                      <a:pt x="18" y="0"/>
                    </a:lnTo>
                    <a:lnTo>
                      <a:pt x="16" y="0"/>
                    </a:lnTo>
                    <a:lnTo>
                      <a:pt x="12" y="0"/>
                    </a:lnTo>
                    <a:lnTo>
                      <a:pt x="8" y="2"/>
                    </a:lnTo>
                    <a:lnTo>
                      <a:pt x="6" y="4"/>
                    </a:lnTo>
                    <a:lnTo>
                      <a:pt x="4" y="8"/>
                    </a:lnTo>
                    <a:lnTo>
                      <a:pt x="2" y="10"/>
                    </a:lnTo>
                    <a:lnTo>
                      <a:pt x="2" y="15"/>
                    </a:lnTo>
                    <a:lnTo>
                      <a:pt x="0" y="19"/>
                    </a:lnTo>
                    <a:lnTo>
                      <a:pt x="0" y="19"/>
                    </a:lnTo>
                    <a:lnTo>
                      <a:pt x="2" y="21"/>
                    </a:lnTo>
                    <a:lnTo>
                      <a:pt x="2" y="25"/>
                    </a:lnTo>
                    <a:lnTo>
                      <a:pt x="4" y="29"/>
                    </a:lnTo>
                    <a:lnTo>
                      <a:pt x="6" y="31"/>
                    </a:lnTo>
                    <a:lnTo>
                      <a:pt x="8" y="33"/>
                    </a:lnTo>
                    <a:lnTo>
                      <a:pt x="12" y="35"/>
                    </a:lnTo>
                    <a:lnTo>
                      <a:pt x="16" y="35"/>
                    </a:lnTo>
                    <a:lnTo>
                      <a:pt x="18" y="35"/>
                    </a:lnTo>
                    <a:lnTo>
                      <a:pt x="18" y="35"/>
                    </a:lnTo>
                    <a:lnTo>
                      <a:pt x="18" y="35"/>
                    </a:lnTo>
                    <a:lnTo>
                      <a:pt x="14" y="46"/>
                    </a:lnTo>
                    <a:lnTo>
                      <a:pt x="22" y="46"/>
                    </a:lnTo>
                    <a:lnTo>
                      <a:pt x="35" y="29"/>
                    </a:lnTo>
                    <a:lnTo>
                      <a:pt x="35" y="29"/>
                    </a:lnTo>
                    <a:lnTo>
                      <a:pt x="37" y="27"/>
                    </a:lnTo>
                    <a:lnTo>
                      <a:pt x="37" y="23"/>
                    </a:lnTo>
                    <a:lnTo>
                      <a:pt x="37" y="21"/>
                    </a:lnTo>
                    <a:lnTo>
                      <a:pt x="37" y="19"/>
                    </a:lnTo>
                    <a:lnTo>
                      <a:pt x="37" y="19"/>
                    </a:lnTo>
                    <a:lnTo>
                      <a:pt x="37" y="19"/>
                    </a:lnTo>
                    <a:close/>
                    <a:moveTo>
                      <a:pt x="8" y="19"/>
                    </a:moveTo>
                    <a:lnTo>
                      <a:pt x="8" y="19"/>
                    </a:lnTo>
                    <a:lnTo>
                      <a:pt x="8" y="15"/>
                    </a:lnTo>
                    <a:lnTo>
                      <a:pt x="10" y="15"/>
                    </a:lnTo>
                    <a:lnTo>
                      <a:pt x="10" y="12"/>
                    </a:lnTo>
                    <a:lnTo>
                      <a:pt x="12" y="10"/>
                    </a:lnTo>
                    <a:lnTo>
                      <a:pt x="14" y="10"/>
                    </a:lnTo>
                    <a:lnTo>
                      <a:pt x="16" y="8"/>
                    </a:lnTo>
                    <a:lnTo>
                      <a:pt x="16" y="8"/>
                    </a:lnTo>
                    <a:lnTo>
                      <a:pt x="18" y="8"/>
                    </a:lnTo>
                    <a:lnTo>
                      <a:pt x="18" y="8"/>
                    </a:lnTo>
                    <a:lnTo>
                      <a:pt x="20" y="8"/>
                    </a:lnTo>
                    <a:lnTo>
                      <a:pt x="22" y="8"/>
                    </a:lnTo>
                    <a:lnTo>
                      <a:pt x="25" y="10"/>
                    </a:lnTo>
                    <a:lnTo>
                      <a:pt x="27" y="10"/>
                    </a:lnTo>
                    <a:lnTo>
                      <a:pt x="29" y="12"/>
                    </a:lnTo>
                    <a:lnTo>
                      <a:pt x="29" y="15"/>
                    </a:lnTo>
                    <a:lnTo>
                      <a:pt x="29" y="15"/>
                    </a:lnTo>
                    <a:lnTo>
                      <a:pt x="29" y="19"/>
                    </a:lnTo>
                    <a:lnTo>
                      <a:pt x="29" y="19"/>
                    </a:lnTo>
                    <a:lnTo>
                      <a:pt x="29" y="21"/>
                    </a:lnTo>
                    <a:lnTo>
                      <a:pt x="29" y="21"/>
                    </a:lnTo>
                    <a:lnTo>
                      <a:pt x="29" y="23"/>
                    </a:lnTo>
                    <a:lnTo>
                      <a:pt x="27" y="25"/>
                    </a:lnTo>
                    <a:lnTo>
                      <a:pt x="25" y="27"/>
                    </a:lnTo>
                    <a:lnTo>
                      <a:pt x="22" y="27"/>
                    </a:lnTo>
                    <a:lnTo>
                      <a:pt x="20" y="27"/>
                    </a:lnTo>
                    <a:lnTo>
                      <a:pt x="18" y="27"/>
                    </a:lnTo>
                    <a:lnTo>
                      <a:pt x="18" y="27"/>
                    </a:lnTo>
                    <a:lnTo>
                      <a:pt x="16" y="27"/>
                    </a:lnTo>
                    <a:lnTo>
                      <a:pt x="16" y="27"/>
                    </a:lnTo>
                    <a:lnTo>
                      <a:pt x="14" y="27"/>
                    </a:lnTo>
                    <a:lnTo>
                      <a:pt x="12" y="25"/>
                    </a:lnTo>
                    <a:lnTo>
                      <a:pt x="10" y="23"/>
                    </a:lnTo>
                    <a:lnTo>
                      <a:pt x="10" y="21"/>
                    </a:lnTo>
                    <a:lnTo>
                      <a:pt x="8" y="21"/>
                    </a:lnTo>
                    <a:lnTo>
                      <a:pt x="8" y="19"/>
                    </a:lnTo>
                    <a:lnTo>
                      <a:pt x="8" y="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03" name="íś1íďè">
                <a:extLst>
                  <a:ext uri="{FF2B5EF4-FFF2-40B4-BE49-F238E27FC236}">
                    <a16:creationId xmlns:a16="http://schemas.microsoft.com/office/drawing/2014/main" id="{4CA6AD6D-5B1E-F2DF-27EF-6F7A31E6668A}"/>
                  </a:ext>
                </a:extLst>
              </p:cNvPr>
              <p:cNvSpPr/>
              <p:nvPr/>
            </p:nvSpPr>
            <p:spPr bwMode="auto">
              <a:xfrm>
                <a:off x="2754313" y="3579813"/>
                <a:ext cx="68263" cy="79375"/>
              </a:xfrm>
              <a:custGeom>
                <a:avLst/>
                <a:gdLst>
                  <a:gd name="T0" fmla="*/ 43 w 43"/>
                  <a:gd name="T1" fmla="*/ 29 h 50"/>
                  <a:gd name="T2" fmla="*/ 39 w 43"/>
                  <a:gd name="T3" fmla="*/ 29 h 50"/>
                  <a:gd name="T4" fmla="*/ 39 w 43"/>
                  <a:gd name="T5" fmla="*/ 14 h 50"/>
                  <a:gd name="T6" fmla="*/ 29 w 43"/>
                  <a:gd name="T7" fmla="*/ 14 h 50"/>
                  <a:gd name="T8" fmla="*/ 29 w 43"/>
                  <a:gd name="T9" fmla="*/ 29 h 50"/>
                  <a:gd name="T10" fmla="*/ 14 w 43"/>
                  <a:gd name="T11" fmla="*/ 29 h 50"/>
                  <a:gd name="T12" fmla="*/ 29 w 43"/>
                  <a:gd name="T13" fmla="*/ 0 h 50"/>
                  <a:gd name="T14" fmla="*/ 21 w 43"/>
                  <a:gd name="T15" fmla="*/ 0 h 50"/>
                  <a:gd name="T16" fmla="*/ 0 w 43"/>
                  <a:gd name="T17" fmla="*/ 39 h 50"/>
                  <a:gd name="T18" fmla="*/ 29 w 43"/>
                  <a:gd name="T19" fmla="*/ 39 h 50"/>
                  <a:gd name="T20" fmla="*/ 29 w 43"/>
                  <a:gd name="T21" fmla="*/ 50 h 50"/>
                  <a:gd name="T22" fmla="*/ 39 w 43"/>
                  <a:gd name="T23" fmla="*/ 50 h 50"/>
                  <a:gd name="T24" fmla="*/ 39 w 43"/>
                  <a:gd name="T25" fmla="*/ 39 h 50"/>
                  <a:gd name="T26" fmla="*/ 43 w 43"/>
                  <a:gd name="T27" fmla="*/ 39 h 50"/>
                  <a:gd name="T28" fmla="*/ 43 w 43"/>
                  <a:gd name="T29" fmla="*/ 29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3" h="50">
                    <a:moveTo>
                      <a:pt x="43" y="29"/>
                    </a:moveTo>
                    <a:lnTo>
                      <a:pt x="39" y="29"/>
                    </a:lnTo>
                    <a:lnTo>
                      <a:pt x="39" y="14"/>
                    </a:lnTo>
                    <a:lnTo>
                      <a:pt x="29" y="14"/>
                    </a:lnTo>
                    <a:lnTo>
                      <a:pt x="29" y="29"/>
                    </a:lnTo>
                    <a:lnTo>
                      <a:pt x="14" y="29"/>
                    </a:lnTo>
                    <a:lnTo>
                      <a:pt x="29" y="0"/>
                    </a:lnTo>
                    <a:lnTo>
                      <a:pt x="21" y="0"/>
                    </a:lnTo>
                    <a:lnTo>
                      <a:pt x="0" y="39"/>
                    </a:lnTo>
                    <a:lnTo>
                      <a:pt x="29" y="39"/>
                    </a:lnTo>
                    <a:lnTo>
                      <a:pt x="29" y="50"/>
                    </a:lnTo>
                    <a:lnTo>
                      <a:pt x="39" y="50"/>
                    </a:lnTo>
                    <a:lnTo>
                      <a:pt x="39" y="39"/>
                    </a:lnTo>
                    <a:lnTo>
                      <a:pt x="43" y="39"/>
                    </a:lnTo>
                    <a:lnTo>
                      <a:pt x="43" y="2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04" name="ísļîďê">
                <a:extLst>
                  <a:ext uri="{FF2B5EF4-FFF2-40B4-BE49-F238E27FC236}">
                    <a16:creationId xmlns:a16="http://schemas.microsoft.com/office/drawing/2014/main" id="{1AD8AC3F-8D17-59DC-2714-2CC5BF73E31D}"/>
                  </a:ext>
                </a:extLst>
              </p:cNvPr>
              <p:cNvSpPr/>
              <p:nvPr/>
            </p:nvSpPr>
            <p:spPr bwMode="auto">
              <a:xfrm>
                <a:off x="2576513" y="3235326"/>
                <a:ext cx="361950" cy="219075"/>
              </a:xfrm>
              <a:custGeom>
                <a:avLst/>
                <a:gdLst>
                  <a:gd name="T0" fmla="*/ 178 w 228"/>
                  <a:gd name="T1" fmla="*/ 61 h 138"/>
                  <a:gd name="T2" fmla="*/ 137 w 228"/>
                  <a:gd name="T3" fmla="*/ 106 h 138"/>
                  <a:gd name="T4" fmla="*/ 122 w 228"/>
                  <a:gd name="T5" fmla="*/ 106 h 138"/>
                  <a:gd name="T6" fmla="*/ 122 w 228"/>
                  <a:gd name="T7" fmla="*/ 94 h 138"/>
                  <a:gd name="T8" fmla="*/ 155 w 228"/>
                  <a:gd name="T9" fmla="*/ 46 h 138"/>
                  <a:gd name="T10" fmla="*/ 114 w 228"/>
                  <a:gd name="T11" fmla="*/ 0 h 138"/>
                  <a:gd name="T12" fmla="*/ 114 w 228"/>
                  <a:gd name="T13" fmla="*/ 0 h 138"/>
                  <a:gd name="T14" fmla="*/ 72 w 228"/>
                  <a:gd name="T15" fmla="*/ 46 h 138"/>
                  <a:gd name="T16" fmla="*/ 108 w 228"/>
                  <a:gd name="T17" fmla="*/ 94 h 138"/>
                  <a:gd name="T18" fmla="*/ 108 w 228"/>
                  <a:gd name="T19" fmla="*/ 106 h 138"/>
                  <a:gd name="T20" fmla="*/ 91 w 228"/>
                  <a:gd name="T21" fmla="*/ 106 h 138"/>
                  <a:gd name="T22" fmla="*/ 51 w 228"/>
                  <a:gd name="T23" fmla="*/ 61 h 138"/>
                  <a:gd name="T24" fmla="*/ 0 w 228"/>
                  <a:gd name="T25" fmla="*/ 73 h 138"/>
                  <a:gd name="T26" fmla="*/ 24 w 228"/>
                  <a:gd name="T27" fmla="*/ 113 h 138"/>
                  <a:gd name="T28" fmla="*/ 106 w 228"/>
                  <a:gd name="T29" fmla="*/ 113 h 138"/>
                  <a:gd name="T30" fmla="*/ 106 w 228"/>
                  <a:gd name="T31" fmla="*/ 138 h 138"/>
                  <a:gd name="T32" fmla="*/ 114 w 228"/>
                  <a:gd name="T33" fmla="*/ 138 h 138"/>
                  <a:gd name="T34" fmla="*/ 114 w 228"/>
                  <a:gd name="T35" fmla="*/ 138 h 138"/>
                  <a:gd name="T36" fmla="*/ 122 w 228"/>
                  <a:gd name="T37" fmla="*/ 138 h 138"/>
                  <a:gd name="T38" fmla="*/ 122 w 228"/>
                  <a:gd name="T39" fmla="*/ 113 h 138"/>
                  <a:gd name="T40" fmla="*/ 205 w 228"/>
                  <a:gd name="T41" fmla="*/ 113 h 138"/>
                  <a:gd name="T42" fmla="*/ 228 w 228"/>
                  <a:gd name="T43" fmla="*/ 73 h 138"/>
                  <a:gd name="T44" fmla="*/ 178 w 228"/>
                  <a:gd name="T45" fmla="*/ 61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28" h="138">
                    <a:moveTo>
                      <a:pt x="178" y="61"/>
                    </a:moveTo>
                    <a:lnTo>
                      <a:pt x="137" y="106"/>
                    </a:lnTo>
                    <a:lnTo>
                      <a:pt x="122" y="106"/>
                    </a:lnTo>
                    <a:lnTo>
                      <a:pt x="122" y="94"/>
                    </a:lnTo>
                    <a:lnTo>
                      <a:pt x="155" y="46"/>
                    </a:lnTo>
                    <a:lnTo>
                      <a:pt x="114" y="0"/>
                    </a:lnTo>
                    <a:lnTo>
                      <a:pt x="114" y="0"/>
                    </a:lnTo>
                    <a:lnTo>
                      <a:pt x="72" y="46"/>
                    </a:lnTo>
                    <a:lnTo>
                      <a:pt x="108" y="94"/>
                    </a:lnTo>
                    <a:lnTo>
                      <a:pt x="108" y="106"/>
                    </a:lnTo>
                    <a:lnTo>
                      <a:pt x="91" y="106"/>
                    </a:lnTo>
                    <a:lnTo>
                      <a:pt x="51" y="61"/>
                    </a:lnTo>
                    <a:lnTo>
                      <a:pt x="0" y="73"/>
                    </a:lnTo>
                    <a:lnTo>
                      <a:pt x="24" y="113"/>
                    </a:lnTo>
                    <a:lnTo>
                      <a:pt x="106" y="113"/>
                    </a:lnTo>
                    <a:lnTo>
                      <a:pt x="106" y="138"/>
                    </a:lnTo>
                    <a:lnTo>
                      <a:pt x="114" y="138"/>
                    </a:lnTo>
                    <a:lnTo>
                      <a:pt x="114" y="138"/>
                    </a:lnTo>
                    <a:lnTo>
                      <a:pt x="122" y="138"/>
                    </a:lnTo>
                    <a:lnTo>
                      <a:pt x="122" y="113"/>
                    </a:lnTo>
                    <a:lnTo>
                      <a:pt x="205" y="113"/>
                    </a:lnTo>
                    <a:lnTo>
                      <a:pt x="228" y="73"/>
                    </a:lnTo>
                    <a:lnTo>
                      <a:pt x="178" y="6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7" name="iṧļíḓe">
              <a:extLst>
                <a:ext uri="{FF2B5EF4-FFF2-40B4-BE49-F238E27FC236}">
                  <a16:creationId xmlns:a16="http://schemas.microsoft.com/office/drawing/2014/main" id="{1218A465-BC97-EA73-2C70-AB04AECC7BDA}"/>
                </a:ext>
              </a:extLst>
            </p:cNvPr>
            <p:cNvGrpSpPr/>
            <p:nvPr/>
          </p:nvGrpSpPr>
          <p:grpSpPr>
            <a:xfrm>
              <a:off x="3754483" y="2505078"/>
              <a:ext cx="6776314" cy="1393842"/>
              <a:chOff x="3884613" y="2554288"/>
              <a:chExt cx="6413500" cy="1319213"/>
            </a:xfrm>
            <a:solidFill>
              <a:srgbClr val="2270B6"/>
            </a:solidFill>
          </p:grpSpPr>
          <p:sp>
            <p:nvSpPr>
              <p:cNvPr id="18" name="íṩḷiḍê">
                <a:extLst>
                  <a:ext uri="{FF2B5EF4-FFF2-40B4-BE49-F238E27FC236}">
                    <a16:creationId xmlns:a16="http://schemas.microsoft.com/office/drawing/2014/main" id="{723FDEFE-717A-6CA0-04F4-4BC78CA8CFCD}"/>
                  </a:ext>
                </a:extLst>
              </p:cNvPr>
              <p:cNvSpPr/>
              <p:nvPr/>
            </p:nvSpPr>
            <p:spPr bwMode="auto">
              <a:xfrm>
                <a:off x="8135938" y="2643188"/>
                <a:ext cx="968375" cy="1125538"/>
              </a:xfrm>
              <a:custGeom>
                <a:avLst/>
                <a:gdLst>
                  <a:gd name="T0" fmla="*/ 60 w 294"/>
                  <a:gd name="T1" fmla="*/ 182 h 340"/>
                  <a:gd name="T2" fmla="*/ 101 w 294"/>
                  <a:gd name="T3" fmla="*/ 182 h 340"/>
                  <a:gd name="T4" fmla="*/ 106 w 294"/>
                  <a:gd name="T5" fmla="*/ 188 h 340"/>
                  <a:gd name="T6" fmla="*/ 103 w 294"/>
                  <a:gd name="T7" fmla="*/ 196 h 340"/>
                  <a:gd name="T8" fmla="*/ 101 w 294"/>
                  <a:gd name="T9" fmla="*/ 198 h 340"/>
                  <a:gd name="T10" fmla="*/ 23 w 294"/>
                  <a:gd name="T11" fmla="*/ 299 h 340"/>
                  <a:gd name="T12" fmla="*/ 41 w 294"/>
                  <a:gd name="T13" fmla="*/ 315 h 340"/>
                  <a:gd name="T14" fmla="*/ 120 w 294"/>
                  <a:gd name="T15" fmla="*/ 228 h 340"/>
                  <a:gd name="T16" fmla="*/ 137 w 294"/>
                  <a:gd name="T17" fmla="*/ 225 h 340"/>
                  <a:gd name="T18" fmla="*/ 199 w 294"/>
                  <a:gd name="T19" fmla="*/ 318 h 340"/>
                  <a:gd name="T20" fmla="*/ 234 w 294"/>
                  <a:gd name="T21" fmla="*/ 338 h 340"/>
                  <a:gd name="T22" fmla="*/ 289 w 294"/>
                  <a:gd name="T23" fmla="*/ 322 h 340"/>
                  <a:gd name="T24" fmla="*/ 294 w 294"/>
                  <a:gd name="T25" fmla="*/ 314 h 340"/>
                  <a:gd name="T26" fmla="*/ 263 w 294"/>
                  <a:gd name="T27" fmla="*/ 299 h 340"/>
                  <a:gd name="T28" fmla="*/ 148 w 294"/>
                  <a:gd name="T29" fmla="*/ 211 h 340"/>
                  <a:gd name="T30" fmla="*/ 134 w 294"/>
                  <a:gd name="T31" fmla="*/ 179 h 340"/>
                  <a:gd name="T32" fmla="*/ 156 w 294"/>
                  <a:gd name="T33" fmla="*/ 159 h 340"/>
                  <a:gd name="T34" fmla="*/ 201 w 294"/>
                  <a:gd name="T35" fmla="*/ 144 h 340"/>
                  <a:gd name="T36" fmla="*/ 215 w 294"/>
                  <a:gd name="T37" fmla="*/ 128 h 340"/>
                  <a:gd name="T38" fmla="*/ 201 w 294"/>
                  <a:gd name="T39" fmla="*/ 119 h 340"/>
                  <a:gd name="T40" fmla="*/ 155 w 294"/>
                  <a:gd name="T41" fmla="*/ 120 h 340"/>
                  <a:gd name="T42" fmla="*/ 155 w 294"/>
                  <a:gd name="T43" fmla="*/ 109 h 340"/>
                  <a:gd name="T44" fmla="*/ 166 w 294"/>
                  <a:gd name="T45" fmla="*/ 81 h 340"/>
                  <a:gd name="T46" fmla="*/ 176 w 294"/>
                  <a:gd name="T47" fmla="*/ 22 h 340"/>
                  <a:gd name="T48" fmla="*/ 148 w 294"/>
                  <a:gd name="T49" fmla="*/ 5 h 340"/>
                  <a:gd name="T50" fmla="*/ 133 w 294"/>
                  <a:gd name="T51" fmla="*/ 17 h 340"/>
                  <a:gd name="T52" fmla="*/ 141 w 294"/>
                  <a:gd name="T53" fmla="*/ 39 h 340"/>
                  <a:gd name="T54" fmla="*/ 136 w 294"/>
                  <a:gd name="T55" fmla="*/ 81 h 340"/>
                  <a:gd name="T56" fmla="*/ 103 w 294"/>
                  <a:gd name="T57" fmla="*/ 146 h 340"/>
                  <a:gd name="T58" fmla="*/ 60 w 294"/>
                  <a:gd name="T59" fmla="*/ 182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294" h="340">
                    <a:moveTo>
                      <a:pt x="60" y="182"/>
                    </a:moveTo>
                    <a:cubicBezTo>
                      <a:pt x="77" y="204"/>
                      <a:pt x="78" y="176"/>
                      <a:pt x="101" y="182"/>
                    </a:cubicBezTo>
                    <a:cubicBezTo>
                      <a:pt x="104" y="183"/>
                      <a:pt x="106" y="188"/>
                      <a:pt x="106" y="188"/>
                    </a:cubicBezTo>
                    <a:cubicBezTo>
                      <a:pt x="103" y="196"/>
                      <a:pt x="103" y="196"/>
                      <a:pt x="103" y="196"/>
                    </a:cubicBezTo>
                    <a:cubicBezTo>
                      <a:pt x="101" y="198"/>
                      <a:pt x="101" y="198"/>
                      <a:pt x="101" y="198"/>
                    </a:cubicBezTo>
                    <a:cubicBezTo>
                      <a:pt x="101" y="198"/>
                      <a:pt x="82" y="247"/>
                      <a:pt x="23" y="299"/>
                    </a:cubicBezTo>
                    <a:cubicBezTo>
                      <a:pt x="23" y="299"/>
                      <a:pt x="0" y="319"/>
                      <a:pt x="41" y="315"/>
                    </a:cubicBezTo>
                    <a:cubicBezTo>
                      <a:pt x="41" y="315"/>
                      <a:pt x="96" y="290"/>
                      <a:pt x="120" y="228"/>
                    </a:cubicBezTo>
                    <a:cubicBezTo>
                      <a:pt x="120" y="228"/>
                      <a:pt x="127" y="210"/>
                      <a:pt x="137" y="225"/>
                    </a:cubicBezTo>
                    <a:cubicBezTo>
                      <a:pt x="137" y="225"/>
                      <a:pt x="176" y="299"/>
                      <a:pt x="199" y="318"/>
                    </a:cubicBezTo>
                    <a:cubicBezTo>
                      <a:pt x="199" y="318"/>
                      <a:pt x="220" y="338"/>
                      <a:pt x="234" y="338"/>
                    </a:cubicBezTo>
                    <a:cubicBezTo>
                      <a:pt x="262" y="340"/>
                      <a:pt x="273" y="318"/>
                      <a:pt x="289" y="322"/>
                    </a:cubicBezTo>
                    <a:cubicBezTo>
                      <a:pt x="294" y="314"/>
                      <a:pt x="294" y="314"/>
                      <a:pt x="294" y="314"/>
                    </a:cubicBezTo>
                    <a:cubicBezTo>
                      <a:pt x="294" y="314"/>
                      <a:pt x="289" y="304"/>
                      <a:pt x="263" y="299"/>
                    </a:cubicBezTo>
                    <a:cubicBezTo>
                      <a:pt x="238" y="294"/>
                      <a:pt x="157" y="239"/>
                      <a:pt x="148" y="211"/>
                    </a:cubicBezTo>
                    <a:cubicBezTo>
                      <a:pt x="148" y="211"/>
                      <a:pt x="128" y="201"/>
                      <a:pt x="134" y="179"/>
                    </a:cubicBezTo>
                    <a:cubicBezTo>
                      <a:pt x="134" y="179"/>
                      <a:pt x="138" y="159"/>
                      <a:pt x="156" y="159"/>
                    </a:cubicBezTo>
                    <a:cubicBezTo>
                      <a:pt x="156" y="159"/>
                      <a:pt x="186" y="144"/>
                      <a:pt x="201" y="144"/>
                    </a:cubicBezTo>
                    <a:cubicBezTo>
                      <a:pt x="216" y="144"/>
                      <a:pt x="215" y="128"/>
                      <a:pt x="215" y="128"/>
                    </a:cubicBezTo>
                    <a:cubicBezTo>
                      <a:pt x="201" y="119"/>
                      <a:pt x="201" y="119"/>
                      <a:pt x="201" y="119"/>
                    </a:cubicBezTo>
                    <a:cubicBezTo>
                      <a:pt x="155" y="120"/>
                      <a:pt x="155" y="120"/>
                      <a:pt x="155" y="120"/>
                    </a:cubicBezTo>
                    <a:cubicBezTo>
                      <a:pt x="155" y="120"/>
                      <a:pt x="151" y="115"/>
                      <a:pt x="155" y="109"/>
                    </a:cubicBezTo>
                    <a:cubicBezTo>
                      <a:pt x="158" y="104"/>
                      <a:pt x="166" y="81"/>
                      <a:pt x="166" y="81"/>
                    </a:cubicBezTo>
                    <a:cubicBezTo>
                      <a:pt x="166" y="81"/>
                      <a:pt x="184" y="44"/>
                      <a:pt x="176" y="22"/>
                    </a:cubicBezTo>
                    <a:cubicBezTo>
                      <a:pt x="167" y="0"/>
                      <a:pt x="157" y="5"/>
                      <a:pt x="148" y="5"/>
                    </a:cubicBezTo>
                    <a:cubicBezTo>
                      <a:pt x="139" y="5"/>
                      <a:pt x="133" y="17"/>
                      <a:pt x="133" y="17"/>
                    </a:cubicBezTo>
                    <a:cubicBezTo>
                      <a:pt x="133" y="17"/>
                      <a:pt x="141" y="30"/>
                      <a:pt x="141" y="39"/>
                    </a:cubicBezTo>
                    <a:cubicBezTo>
                      <a:pt x="141" y="48"/>
                      <a:pt x="135" y="71"/>
                      <a:pt x="136" y="81"/>
                    </a:cubicBezTo>
                    <a:cubicBezTo>
                      <a:pt x="137" y="90"/>
                      <a:pt x="123" y="145"/>
                      <a:pt x="103" y="146"/>
                    </a:cubicBezTo>
                    <a:cubicBezTo>
                      <a:pt x="74" y="156"/>
                      <a:pt x="34" y="150"/>
                      <a:pt x="60" y="18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4" name="íšḻiḋè">
                <a:extLst>
                  <a:ext uri="{FF2B5EF4-FFF2-40B4-BE49-F238E27FC236}">
                    <a16:creationId xmlns:a16="http://schemas.microsoft.com/office/drawing/2014/main" id="{AF6854CE-960D-C6B4-DF28-210CC9A44727}"/>
                  </a:ext>
                </a:extLst>
              </p:cNvPr>
              <p:cNvSpPr/>
              <p:nvPr/>
            </p:nvSpPr>
            <p:spPr bwMode="auto">
              <a:xfrm>
                <a:off x="7288213" y="3009901"/>
                <a:ext cx="774700" cy="557213"/>
              </a:xfrm>
              <a:custGeom>
                <a:avLst/>
                <a:gdLst>
                  <a:gd name="T0" fmla="*/ 82 w 235"/>
                  <a:gd name="T1" fmla="*/ 63 h 168"/>
                  <a:gd name="T2" fmla="*/ 66 w 235"/>
                  <a:gd name="T3" fmla="*/ 48 h 168"/>
                  <a:gd name="T4" fmla="*/ 150 w 235"/>
                  <a:gd name="T5" fmla="*/ 5 h 168"/>
                  <a:gd name="T6" fmla="*/ 171 w 235"/>
                  <a:gd name="T7" fmla="*/ 49 h 168"/>
                  <a:gd name="T8" fmla="*/ 131 w 235"/>
                  <a:gd name="T9" fmla="*/ 86 h 168"/>
                  <a:gd name="T10" fmla="*/ 132 w 235"/>
                  <a:gd name="T11" fmla="*/ 92 h 168"/>
                  <a:gd name="T12" fmla="*/ 185 w 235"/>
                  <a:gd name="T13" fmla="*/ 96 h 168"/>
                  <a:gd name="T14" fmla="*/ 227 w 235"/>
                  <a:gd name="T15" fmla="*/ 106 h 168"/>
                  <a:gd name="T16" fmla="*/ 226 w 235"/>
                  <a:gd name="T17" fmla="*/ 133 h 168"/>
                  <a:gd name="T18" fmla="*/ 96 w 235"/>
                  <a:gd name="T19" fmla="*/ 144 h 168"/>
                  <a:gd name="T20" fmla="*/ 40 w 235"/>
                  <a:gd name="T21" fmla="*/ 162 h 168"/>
                  <a:gd name="T22" fmla="*/ 24 w 235"/>
                  <a:gd name="T23" fmla="*/ 168 h 168"/>
                  <a:gd name="T24" fmla="*/ 1 w 235"/>
                  <a:gd name="T25" fmla="*/ 153 h 168"/>
                  <a:gd name="T26" fmla="*/ 7 w 235"/>
                  <a:gd name="T27" fmla="*/ 129 h 168"/>
                  <a:gd name="T28" fmla="*/ 70 w 235"/>
                  <a:gd name="T29" fmla="*/ 108 h 168"/>
                  <a:gd name="T30" fmla="*/ 112 w 235"/>
                  <a:gd name="T31" fmla="*/ 87 h 168"/>
                  <a:gd name="T32" fmla="*/ 136 w 235"/>
                  <a:gd name="T33" fmla="*/ 60 h 168"/>
                  <a:gd name="T34" fmla="*/ 121 w 235"/>
                  <a:gd name="T35" fmla="*/ 48 h 168"/>
                  <a:gd name="T36" fmla="*/ 99 w 235"/>
                  <a:gd name="T37" fmla="*/ 61 h 168"/>
                  <a:gd name="T38" fmla="*/ 82 w 235"/>
                  <a:gd name="T39" fmla="*/ 63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235" h="168">
                    <a:moveTo>
                      <a:pt x="82" y="63"/>
                    </a:moveTo>
                    <a:cubicBezTo>
                      <a:pt x="82" y="63"/>
                      <a:pt x="57" y="60"/>
                      <a:pt x="66" y="48"/>
                    </a:cubicBezTo>
                    <a:cubicBezTo>
                      <a:pt x="75" y="36"/>
                      <a:pt x="81" y="0"/>
                      <a:pt x="150" y="5"/>
                    </a:cubicBezTo>
                    <a:cubicBezTo>
                      <a:pt x="150" y="5"/>
                      <a:pt x="182" y="10"/>
                      <a:pt x="171" y="49"/>
                    </a:cubicBezTo>
                    <a:cubicBezTo>
                      <a:pt x="131" y="86"/>
                      <a:pt x="131" y="86"/>
                      <a:pt x="131" y="86"/>
                    </a:cubicBezTo>
                    <a:cubicBezTo>
                      <a:pt x="128" y="89"/>
                      <a:pt x="128" y="90"/>
                      <a:pt x="132" y="92"/>
                    </a:cubicBezTo>
                    <a:cubicBezTo>
                      <a:pt x="141" y="94"/>
                      <a:pt x="167" y="94"/>
                      <a:pt x="185" y="96"/>
                    </a:cubicBezTo>
                    <a:cubicBezTo>
                      <a:pt x="211" y="99"/>
                      <a:pt x="227" y="106"/>
                      <a:pt x="227" y="106"/>
                    </a:cubicBezTo>
                    <a:cubicBezTo>
                      <a:pt x="227" y="106"/>
                      <a:pt x="235" y="127"/>
                      <a:pt x="226" y="133"/>
                    </a:cubicBezTo>
                    <a:cubicBezTo>
                      <a:pt x="217" y="139"/>
                      <a:pt x="108" y="136"/>
                      <a:pt x="96" y="144"/>
                    </a:cubicBezTo>
                    <a:cubicBezTo>
                      <a:pt x="84" y="151"/>
                      <a:pt x="40" y="162"/>
                      <a:pt x="40" y="162"/>
                    </a:cubicBezTo>
                    <a:cubicBezTo>
                      <a:pt x="24" y="168"/>
                      <a:pt x="24" y="168"/>
                      <a:pt x="24" y="168"/>
                    </a:cubicBezTo>
                    <a:cubicBezTo>
                      <a:pt x="24" y="168"/>
                      <a:pt x="3" y="168"/>
                      <a:pt x="1" y="153"/>
                    </a:cubicBezTo>
                    <a:cubicBezTo>
                      <a:pt x="0" y="138"/>
                      <a:pt x="7" y="129"/>
                      <a:pt x="7" y="129"/>
                    </a:cubicBezTo>
                    <a:cubicBezTo>
                      <a:pt x="7" y="129"/>
                      <a:pt x="45" y="109"/>
                      <a:pt x="70" y="108"/>
                    </a:cubicBezTo>
                    <a:cubicBezTo>
                      <a:pt x="96" y="106"/>
                      <a:pt x="112" y="87"/>
                      <a:pt x="112" y="87"/>
                    </a:cubicBezTo>
                    <a:cubicBezTo>
                      <a:pt x="136" y="60"/>
                      <a:pt x="136" y="60"/>
                      <a:pt x="136" y="60"/>
                    </a:cubicBezTo>
                    <a:cubicBezTo>
                      <a:pt x="136" y="60"/>
                      <a:pt x="132" y="46"/>
                      <a:pt x="121" y="48"/>
                    </a:cubicBezTo>
                    <a:cubicBezTo>
                      <a:pt x="111" y="49"/>
                      <a:pt x="99" y="61"/>
                      <a:pt x="99" y="61"/>
                    </a:cubicBezTo>
                    <a:lnTo>
                      <a:pt x="82" y="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1" name="iṥľiḓè">
                <a:extLst>
                  <a:ext uri="{FF2B5EF4-FFF2-40B4-BE49-F238E27FC236}">
                    <a16:creationId xmlns:a16="http://schemas.microsoft.com/office/drawing/2014/main" id="{5356466E-DE1E-40EC-56E7-968DE87CA045}"/>
                  </a:ext>
                </a:extLst>
              </p:cNvPr>
              <p:cNvSpPr/>
              <p:nvPr/>
            </p:nvSpPr>
            <p:spPr bwMode="auto">
              <a:xfrm>
                <a:off x="6107113" y="2652713"/>
                <a:ext cx="923925" cy="1022350"/>
              </a:xfrm>
              <a:custGeom>
                <a:avLst/>
                <a:gdLst>
                  <a:gd name="T0" fmla="*/ 171 w 280"/>
                  <a:gd name="T1" fmla="*/ 63 h 309"/>
                  <a:gd name="T2" fmla="*/ 245 w 280"/>
                  <a:gd name="T3" fmla="*/ 22 h 309"/>
                  <a:gd name="T4" fmla="*/ 228 w 280"/>
                  <a:gd name="T5" fmla="*/ 109 h 309"/>
                  <a:gd name="T6" fmla="*/ 213 w 280"/>
                  <a:gd name="T7" fmla="*/ 114 h 309"/>
                  <a:gd name="T8" fmla="*/ 224 w 280"/>
                  <a:gd name="T9" fmla="*/ 92 h 309"/>
                  <a:gd name="T10" fmla="*/ 225 w 280"/>
                  <a:gd name="T11" fmla="*/ 61 h 309"/>
                  <a:gd name="T12" fmla="*/ 201 w 280"/>
                  <a:gd name="T13" fmla="*/ 65 h 309"/>
                  <a:gd name="T14" fmla="*/ 185 w 280"/>
                  <a:gd name="T15" fmla="*/ 83 h 309"/>
                  <a:gd name="T16" fmla="*/ 169 w 280"/>
                  <a:gd name="T17" fmla="*/ 102 h 309"/>
                  <a:gd name="T18" fmla="*/ 190 w 280"/>
                  <a:gd name="T19" fmla="*/ 114 h 309"/>
                  <a:gd name="T20" fmla="*/ 185 w 280"/>
                  <a:gd name="T21" fmla="*/ 138 h 309"/>
                  <a:gd name="T22" fmla="*/ 156 w 280"/>
                  <a:gd name="T23" fmla="*/ 145 h 309"/>
                  <a:gd name="T24" fmla="*/ 134 w 280"/>
                  <a:gd name="T25" fmla="*/ 102 h 309"/>
                  <a:gd name="T26" fmla="*/ 130 w 280"/>
                  <a:gd name="T27" fmla="*/ 166 h 309"/>
                  <a:gd name="T28" fmla="*/ 179 w 280"/>
                  <a:gd name="T29" fmla="*/ 183 h 309"/>
                  <a:gd name="T30" fmla="*/ 172 w 280"/>
                  <a:gd name="T31" fmla="*/ 217 h 309"/>
                  <a:gd name="T32" fmla="*/ 154 w 280"/>
                  <a:gd name="T33" fmla="*/ 244 h 309"/>
                  <a:gd name="T34" fmla="*/ 174 w 280"/>
                  <a:gd name="T35" fmla="*/ 258 h 309"/>
                  <a:gd name="T36" fmla="*/ 121 w 280"/>
                  <a:gd name="T37" fmla="*/ 290 h 309"/>
                  <a:gd name="T38" fmla="*/ 157 w 280"/>
                  <a:gd name="T39" fmla="*/ 302 h 309"/>
                  <a:gd name="T40" fmla="*/ 272 w 280"/>
                  <a:gd name="T41" fmla="*/ 290 h 309"/>
                  <a:gd name="T42" fmla="*/ 203 w 280"/>
                  <a:gd name="T43" fmla="*/ 268 h 309"/>
                  <a:gd name="T44" fmla="*/ 193 w 280"/>
                  <a:gd name="T45" fmla="*/ 237 h 309"/>
                  <a:gd name="T46" fmla="*/ 228 w 280"/>
                  <a:gd name="T47" fmla="*/ 223 h 309"/>
                  <a:gd name="T48" fmla="*/ 199 w 280"/>
                  <a:gd name="T49" fmla="*/ 199 h 309"/>
                  <a:gd name="T50" fmla="*/ 214 w 280"/>
                  <a:gd name="T51" fmla="*/ 145 h 309"/>
                  <a:gd name="T52" fmla="*/ 269 w 280"/>
                  <a:gd name="T53" fmla="*/ 24 h 309"/>
                  <a:gd name="T54" fmla="*/ 157 w 280"/>
                  <a:gd name="T55" fmla="*/ 40 h 309"/>
                  <a:gd name="T56" fmla="*/ 111 w 280"/>
                  <a:gd name="T57" fmla="*/ 196 h 309"/>
                  <a:gd name="T58" fmla="*/ 122 w 280"/>
                  <a:gd name="T59" fmla="*/ 209 h 309"/>
                  <a:gd name="T60" fmla="*/ 61 w 280"/>
                  <a:gd name="T61" fmla="*/ 303 h 309"/>
                  <a:gd name="T62" fmla="*/ 41 w 280"/>
                  <a:gd name="T63" fmla="*/ 294 h 309"/>
                  <a:gd name="T64" fmla="*/ 111 w 280"/>
                  <a:gd name="T65" fmla="*/ 196 h 309"/>
                  <a:gd name="T66" fmla="*/ 32 w 280"/>
                  <a:gd name="T67" fmla="*/ 181 h 309"/>
                  <a:gd name="T68" fmla="*/ 52 w 280"/>
                  <a:gd name="T69" fmla="*/ 192 h 309"/>
                  <a:gd name="T70" fmla="*/ 29 w 280"/>
                  <a:gd name="T71" fmla="*/ 102 h 309"/>
                  <a:gd name="T72" fmla="*/ 86 w 280"/>
                  <a:gd name="T73" fmla="*/ 52 h 309"/>
                  <a:gd name="T74" fmla="*/ 107 w 280"/>
                  <a:gd name="T75" fmla="*/ 84 h 309"/>
                  <a:gd name="T76" fmla="*/ 78 w 280"/>
                  <a:gd name="T77" fmla="*/ 143 h 309"/>
                  <a:gd name="T78" fmla="*/ 77 w 280"/>
                  <a:gd name="T79" fmla="*/ 203 h 309"/>
                  <a:gd name="T80" fmla="*/ 32 w 280"/>
                  <a:gd name="T81" fmla="*/ 222 h 309"/>
                  <a:gd name="T82" fmla="*/ 11 w 280"/>
                  <a:gd name="T83" fmla="*/ 181 h 309"/>
                  <a:gd name="T84" fmla="*/ 66 w 280"/>
                  <a:gd name="T85" fmla="*/ 143 h 309"/>
                  <a:gd name="T86" fmla="*/ 63 w 280"/>
                  <a:gd name="T87" fmla="*/ 103 h 309"/>
                  <a:gd name="T88" fmla="*/ 35 w 280"/>
                  <a:gd name="T89" fmla="*/ 108 h 3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280" h="309">
                    <a:moveTo>
                      <a:pt x="150" y="60"/>
                    </a:moveTo>
                    <a:cubicBezTo>
                      <a:pt x="150" y="60"/>
                      <a:pt x="162" y="67"/>
                      <a:pt x="171" y="63"/>
                    </a:cubicBezTo>
                    <a:cubicBezTo>
                      <a:pt x="180" y="59"/>
                      <a:pt x="196" y="37"/>
                      <a:pt x="203" y="34"/>
                    </a:cubicBezTo>
                    <a:cubicBezTo>
                      <a:pt x="210" y="30"/>
                      <a:pt x="236" y="15"/>
                      <a:pt x="245" y="22"/>
                    </a:cubicBezTo>
                    <a:cubicBezTo>
                      <a:pt x="254" y="29"/>
                      <a:pt x="253" y="62"/>
                      <a:pt x="249" y="67"/>
                    </a:cubicBezTo>
                    <a:cubicBezTo>
                      <a:pt x="245" y="72"/>
                      <a:pt x="228" y="109"/>
                      <a:pt x="228" y="109"/>
                    </a:cubicBezTo>
                    <a:cubicBezTo>
                      <a:pt x="216" y="120"/>
                      <a:pt x="216" y="120"/>
                      <a:pt x="216" y="120"/>
                    </a:cubicBezTo>
                    <a:cubicBezTo>
                      <a:pt x="213" y="114"/>
                      <a:pt x="213" y="114"/>
                      <a:pt x="213" y="114"/>
                    </a:cubicBezTo>
                    <a:cubicBezTo>
                      <a:pt x="214" y="107"/>
                      <a:pt x="214" y="107"/>
                      <a:pt x="214" y="107"/>
                    </a:cubicBezTo>
                    <a:cubicBezTo>
                      <a:pt x="224" y="92"/>
                      <a:pt x="224" y="92"/>
                      <a:pt x="224" y="92"/>
                    </a:cubicBezTo>
                    <a:cubicBezTo>
                      <a:pt x="229" y="76"/>
                      <a:pt x="229" y="76"/>
                      <a:pt x="229" y="76"/>
                    </a:cubicBezTo>
                    <a:cubicBezTo>
                      <a:pt x="225" y="61"/>
                      <a:pt x="225" y="61"/>
                      <a:pt x="225" y="61"/>
                    </a:cubicBezTo>
                    <a:cubicBezTo>
                      <a:pt x="207" y="61"/>
                      <a:pt x="207" y="61"/>
                      <a:pt x="207" y="61"/>
                    </a:cubicBezTo>
                    <a:cubicBezTo>
                      <a:pt x="201" y="65"/>
                      <a:pt x="201" y="65"/>
                      <a:pt x="201" y="65"/>
                    </a:cubicBezTo>
                    <a:cubicBezTo>
                      <a:pt x="192" y="79"/>
                      <a:pt x="192" y="79"/>
                      <a:pt x="192" y="79"/>
                    </a:cubicBezTo>
                    <a:cubicBezTo>
                      <a:pt x="185" y="83"/>
                      <a:pt x="185" y="83"/>
                      <a:pt x="185" y="83"/>
                    </a:cubicBezTo>
                    <a:cubicBezTo>
                      <a:pt x="175" y="83"/>
                      <a:pt x="175" y="83"/>
                      <a:pt x="175" y="83"/>
                    </a:cubicBezTo>
                    <a:cubicBezTo>
                      <a:pt x="169" y="102"/>
                      <a:pt x="169" y="102"/>
                      <a:pt x="169" y="102"/>
                    </a:cubicBezTo>
                    <a:cubicBezTo>
                      <a:pt x="169" y="102"/>
                      <a:pt x="171" y="112"/>
                      <a:pt x="176" y="112"/>
                    </a:cubicBezTo>
                    <a:cubicBezTo>
                      <a:pt x="181" y="112"/>
                      <a:pt x="190" y="114"/>
                      <a:pt x="190" y="114"/>
                    </a:cubicBezTo>
                    <a:cubicBezTo>
                      <a:pt x="186" y="125"/>
                      <a:pt x="186" y="125"/>
                      <a:pt x="186" y="125"/>
                    </a:cubicBezTo>
                    <a:cubicBezTo>
                      <a:pt x="185" y="138"/>
                      <a:pt x="185" y="138"/>
                      <a:pt x="185" y="138"/>
                    </a:cubicBezTo>
                    <a:cubicBezTo>
                      <a:pt x="168" y="146"/>
                      <a:pt x="168" y="146"/>
                      <a:pt x="168" y="146"/>
                    </a:cubicBezTo>
                    <a:cubicBezTo>
                      <a:pt x="156" y="145"/>
                      <a:pt x="156" y="145"/>
                      <a:pt x="156" y="145"/>
                    </a:cubicBezTo>
                    <a:cubicBezTo>
                      <a:pt x="153" y="98"/>
                      <a:pt x="153" y="98"/>
                      <a:pt x="153" y="98"/>
                    </a:cubicBezTo>
                    <a:cubicBezTo>
                      <a:pt x="153" y="98"/>
                      <a:pt x="138" y="92"/>
                      <a:pt x="134" y="102"/>
                    </a:cubicBezTo>
                    <a:cubicBezTo>
                      <a:pt x="130" y="112"/>
                      <a:pt x="120" y="121"/>
                      <a:pt x="124" y="136"/>
                    </a:cubicBezTo>
                    <a:cubicBezTo>
                      <a:pt x="128" y="151"/>
                      <a:pt x="118" y="159"/>
                      <a:pt x="130" y="166"/>
                    </a:cubicBezTo>
                    <a:cubicBezTo>
                      <a:pt x="142" y="174"/>
                      <a:pt x="166" y="167"/>
                      <a:pt x="172" y="167"/>
                    </a:cubicBezTo>
                    <a:cubicBezTo>
                      <a:pt x="178" y="167"/>
                      <a:pt x="179" y="178"/>
                      <a:pt x="179" y="183"/>
                    </a:cubicBezTo>
                    <a:cubicBezTo>
                      <a:pt x="179" y="188"/>
                      <a:pt x="179" y="211"/>
                      <a:pt x="179" y="211"/>
                    </a:cubicBezTo>
                    <a:cubicBezTo>
                      <a:pt x="179" y="211"/>
                      <a:pt x="182" y="216"/>
                      <a:pt x="172" y="217"/>
                    </a:cubicBezTo>
                    <a:cubicBezTo>
                      <a:pt x="162" y="218"/>
                      <a:pt x="144" y="225"/>
                      <a:pt x="149" y="231"/>
                    </a:cubicBezTo>
                    <a:cubicBezTo>
                      <a:pt x="154" y="237"/>
                      <a:pt x="154" y="244"/>
                      <a:pt x="154" y="244"/>
                    </a:cubicBezTo>
                    <a:cubicBezTo>
                      <a:pt x="174" y="242"/>
                      <a:pt x="174" y="242"/>
                      <a:pt x="174" y="242"/>
                    </a:cubicBezTo>
                    <a:cubicBezTo>
                      <a:pt x="174" y="242"/>
                      <a:pt x="174" y="252"/>
                      <a:pt x="174" y="258"/>
                    </a:cubicBezTo>
                    <a:cubicBezTo>
                      <a:pt x="174" y="264"/>
                      <a:pt x="167" y="274"/>
                      <a:pt x="167" y="274"/>
                    </a:cubicBezTo>
                    <a:cubicBezTo>
                      <a:pt x="167" y="274"/>
                      <a:pt x="123" y="279"/>
                      <a:pt x="121" y="290"/>
                    </a:cubicBezTo>
                    <a:cubicBezTo>
                      <a:pt x="119" y="301"/>
                      <a:pt x="132" y="304"/>
                      <a:pt x="132" y="304"/>
                    </a:cubicBezTo>
                    <a:cubicBezTo>
                      <a:pt x="157" y="302"/>
                      <a:pt x="157" y="302"/>
                      <a:pt x="157" y="302"/>
                    </a:cubicBezTo>
                    <a:cubicBezTo>
                      <a:pt x="254" y="300"/>
                      <a:pt x="254" y="300"/>
                      <a:pt x="254" y="300"/>
                    </a:cubicBezTo>
                    <a:cubicBezTo>
                      <a:pt x="272" y="290"/>
                      <a:pt x="272" y="290"/>
                      <a:pt x="272" y="290"/>
                    </a:cubicBezTo>
                    <a:cubicBezTo>
                      <a:pt x="269" y="269"/>
                      <a:pt x="269" y="269"/>
                      <a:pt x="269" y="269"/>
                    </a:cubicBezTo>
                    <a:cubicBezTo>
                      <a:pt x="269" y="269"/>
                      <a:pt x="208" y="273"/>
                      <a:pt x="203" y="268"/>
                    </a:cubicBezTo>
                    <a:cubicBezTo>
                      <a:pt x="198" y="263"/>
                      <a:pt x="195" y="262"/>
                      <a:pt x="193" y="254"/>
                    </a:cubicBezTo>
                    <a:cubicBezTo>
                      <a:pt x="191" y="246"/>
                      <a:pt x="193" y="237"/>
                      <a:pt x="193" y="237"/>
                    </a:cubicBezTo>
                    <a:cubicBezTo>
                      <a:pt x="203" y="226"/>
                      <a:pt x="203" y="226"/>
                      <a:pt x="203" y="226"/>
                    </a:cubicBezTo>
                    <a:cubicBezTo>
                      <a:pt x="203" y="226"/>
                      <a:pt x="218" y="223"/>
                      <a:pt x="228" y="223"/>
                    </a:cubicBezTo>
                    <a:cubicBezTo>
                      <a:pt x="238" y="223"/>
                      <a:pt x="236" y="203"/>
                      <a:pt x="236" y="203"/>
                    </a:cubicBezTo>
                    <a:cubicBezTo>
                      <a:pt x="199" y="199"/>
                      <a:pt x="199" y="199"/>
                      <a:pt x="199" y="199"/>
                    </a:cubicBezTo>
                    <a:cubicBezTo>
                      <a:pt x="200" y="164"/>
                      <a:pt x="200" y="164"/>
                      <a:pt x="200" y="164"/>
                    </a:cubicBezTo>
                    <a:cubicBezTo>
                      <a:pt x="200" y="164"/>
                      <a:pt x="206" y="151"/>
                      <a:pt x="214" y="145"/>
                    </a:cubicBezTo>
                    <a:cubicBezTo>
                      <a:pt x="222" y="139"/>
                      <a:pt x="253" y="98"/>
                      <a:pt x="253" y="98"/>
                    </a:cubicBezTo>
                    <a:cubicBezTo>
                      <a:pt x="253" y="98"/>
                      <a:pt x="280" y="49"/>
                      <a:pt x="269" y="24"/>
                    </a:cubicBezTo>
                    <a:cubicBezTo>
                      <a:pt x="258" y="0"/>
                      <a:pt x="243" y="0"/>
                      <a:pt x="224" y="1"/>
                    </a:cubicBezTo>
                    <a:cubicBezTo>
                      <a:pt x="205" y="2"/>
                      <a:pt x="160" y="31"/>
                      <a:pt x="157" y="40"/>
                    </a:cubicBezTo>
                    <a:cubicBezTo>
                      <a:pt x="154" y="48"/>
                      <a:pt x="150" y="60"/>
                      <a:pt x="150" y="60"/>
                    </a:cubicBezTo>
                    <a:close/>
                    <a:moveTo>
                      <a:pt x="111" y="196"/>
                    </a:moveTo>
                    <a:cubicBezTo>
                      <a:pt x="120" y="194"/>
                      <a:pt x="120" y="194"/>
                      <a:pt x="120" y="194"/>
                    </a:cubicBezTo>
                    <a:cubicBezTo>
                      <a:pt x="122" y="209"/>
                      <a:pt x="122" y="209"/>
                      <a:pt x="122" y="209"/>
                    </a:cubicBezTo>
                    <a:cubicBezTo>
                      <a:pt x="122" y="209"/>
                      <a:pt x="92" y="257"/>
                      <a:pt x="87" y="263"/>
                    </a:cubicBezTo>
                    <a:cubicBezTo>
                      <a:pt x="82" y="269"/>
                      <a:pt x="66" y="299"/>
                      <a:pt x="61" y="303"/>
                    </a:cubicBezTo>
                    <a:cubicBezTo>
                      <a:pt x="56" y="307"/>
                      <a:pt x="50" y="309"/>
                      <a:pt x="41" y="306"/>
                    </a:cubicBezTo>
                    <a:cubicBezTo>
                      <a:pt x="32" y="303"/>
                      <a:pt x="41" y="294"/>
                      <a:pt x="41" y="294"/>
                    </a:cubicBezTo>
                    <a:cubicBezTo>
                      <a:pt x="41" y="294"/>
                      <a:pt x="70" y="258"/>
                      <a:pt x="82" y="241"/>
                    </a:cubicBezTo>
                    <a:cubicBezTo>
                      <a:pt x="94" y="224"/>
                      <a:pt x="111" y="196"/>
                      <a:pt x="111" y="196"/>
                    </a:cubicBezTo>
                    <a:close/>
                    <a:moveTo>
                      <a:pt x="49" y="170"/>
                    </a:moveTo>
                    <a:cubicBezTo>
                      <a:pt x="32" y="181"/>
                      <a:pt x="32" y="181"/>
                      <a:pt x="32" y="181"/>
                    </a:cubicBezTo>
                    <a:cubicBezTo>
                      <a:pt x="32" y="181"/>
                      <a:pt x="20" y="189"/>
                      <a:pt x="29" y="196"/>
                    </a:cubicBezTo>
                    <a:cubicBezTo>
                      <a:pt x="38" y="202"/>
                      <a:pt x="50" y="197"/>
                      <a:pt x="52" y="192"/>
                    </a:cubicBezTo>
                    <a:cubicBezTo>
                      <a:pt x="54" y="187"/>
                      <a:pt x="49" y="169"/>
                      <a:pt x="49" y="170"/>
                    </a:cubicBezTo>
                    <a:close/>
                    <a:moveTo>
                      <a:pt x="29" y="102"/>
                    </a:moveTo>
                    <a:cubicBezTo>
                      <a:pt x="27" y="97"/>
                      <a:pt x="28" y="89"/>
                      <a:pt x="31" y="84"/>
                    </a:cubicBezTo>
                    <a:cubicBezTo>
                      <a:pt x="34" y="79"/>
                      <a:pt x="78" y="57"/>
                      <a:pt x="86" y="52"/>
                    </a:cubicBezTo>
                    <a:cubicBezTo>
                      <a:pt x="94" y="47"/>
                      <a:pt x="106" y="51"/>
                      <a:pt x="112" y="56"/>
                    </a:cubicBezTo>
                    <a:cubicBezTo>
                      <a:pt x="118" y="61"/>
                      <a:pt x="113" y="77"/>
                      <a:pt x="107" y="84"/>
                    </a:cubicBezTo>
                    <a:cubicBezTo>
                      <a:pt x="101" y="91"/>
                      <a:pt x="97" y="95"/>
                      <a:pt x="90" y="113"/>
                    </a:cubicBezTo>
                    <a:cubicBezTo>
                      <a:pt x="83" y="131"/>
                      <a:pt x="82" y="126"/>
                      <a:pt x="78" y="143"/>
                    </a:cubicBezTo>
                    <a:cubicBezTo>
                      <a:pt x="74" y="160"/>
                      <a:pt x="77" y="165"/>
                      <a:pt x="76" y="176"/>
                    </a:cubicBezTo>
                    <a:cubicBezTo>
                      <a:pt x="75" y="186"/>
                      <a:pt x="83" y="189"/>
                      <a:pt x="77" y="203"/>
                    </a:cubicBezTo>
                    <a:cubicBezTo>
                      <a:pt x="71" y="217"/>
                      <a:pt x="67" y="220"/>
                      <a:pt x="67" y="220"/>
                    </a:cubicBezTo>
                    <a:cubicBezTo>
                      <a:pt x="67" y="220"/>
                      <a:pt x="39" y="223"/>
                      <a:pt x="32" y="222"/>
                    </a:cubicBezTo>
                    <a:cubicBezTo>
                      <a:pt x="25" y="221"/>
                      <a:pt x="22" y="213"/>
                      <a:pt x="11" y="204"/>
                    </a:cubicBezTo>
                    <a:cubicBezTo>
                      <a:pt x="0" y="195"/>
                      <a:pt x="11" y="181"/>
                      <a:pt x="11" y="181"/>
                    </a:cubicBezTo>
                    <a:cubicBezTo>
                      <a:pt x="11" y="181"/>
                      <a:pt x="29" y="158"/>
                      <a:pt x="37" y="156"/>
                    </a:cubicBezTo>
                    <a:cubicBezTo>
                      <a:pt x="45" y="154"/>
                      <a:pt x="66" y="143"/>
                      <a:pt x="66" y="143"/>
                    </a:cubicBezTo>
                    <a:cubicBezTo>
                      <a:pt x="66" y="143"/>
                      <a:pt x="67" y="122"/>
                      <a:pt x="70" y="111"/>
                    </a:cubicBezTo>
                    <a:cubicBezTo>
                      <a:pt x="73" y="100"/>
                      <a:pt x="63" y="103"/>
                      <a:pt x="63" y="103"/>
                    </a:cubicBezTo>
                    <a:cubicBezTo>
                      <a:pt x="52" y="103"/>
                      <a:pt x="52" y="103"/>
                      <a:pt x="52" y="103"/>
                    </a:cubicBezTo>
                    <a:cubicBezTo>
                      <a:pt x="35" y="108"/>
                      <a:pt x="35" y="108"/>
                      <a:pt x="35" y="108"/>
                    </a:cubicBezTo>
                    <a:lnTo>
                      <a:pt x="29" y="10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3" name="íṥḷîḓè">
                <a:extLst>
                  <a:ext uri="{FF2B5EF4-FFF2-40B4-BE49-F238E27FC236}">
                    <a16:creationId xmlns:a16="http://schemas.microsoft.com/office/drawing/2014/main" id="{85997535-BADF-5B34-4210-AD67ECF47613}"/>
                  </a:ext>
                </a:extLst>
              </p:cNvPr>
              <p:cNvSpPr/>
              <p:nvPr/>
            </p:nvSpPr>
            <p:spPr bwMode="auto">
              <a:xfrm>
                <a:off x="5013326" y="2557463"/>
                <a:ext cx="939800" cy="1239838"/>
              </a:xfrm>
              <a:custGeom>
                <a:avLst/>
                <a:gdLst>
                  <a:gd name="T0" fmla="*/ 71 w 285"/>
                  <a:gd name="T1" fmla="*/ 176 h 375"/>
                  <a:gd name="T2" fmla="*/ 42 w 285"/>
                  <a:gd name="T3" fmla="*/ 246 h 375"/>
                  <a:gd name="T4" fmla="*/ 132 w 285"/>
                  <a:gd name="T5" fmla="*/ 316 h 375"/>
                  <a:gd name="T6" fmla="*/ 163 w 285"/>
                  <a:gd name="T7" fmla="*/ 261 h 375"/>
                  <a:gd name="T8" fmla="*/ 104 w 285"/>
                  <a:gd name="T9" fmla="*/ 266 h 375"/>
                  <a:gd name="T10" fmla="*/ 168 w 285"/>
                  <a:gd name="T11" fmla="*/ 230 h 375"/>
                  <a:gd name="T12" fmla="*/ 152 w 285"/>
                  <a:gd name="T13" fmla="*/ 193 h 375"/>
                  <a:gd name="T14" fmla="*/ 109 w 285"/>
                  <a:gd name="T15" fmla="*/ 192 h 375"/>
                  <a:gd name="T16" fmla="*/ 133 w 285"/>
                  <a:gd name="T17" fmla="*/ 130 h 375"/>
                  <a:gd name="T18" fmla="*/ 109 w 285"/>
                  <a:gd name="T19" fmla="*/ 105 h 375"/>
                  <a:gd name="T20" fmla="*/ 103 w 285"/>
                  <a:gd name="T21" fmla="*/ 86 h 375"/>
                  <a:gd name="T22" fmla="*/ 170 w 285"/>
                  <a:gd name="T23" fmla="*/ 40 h 375"/>
                  <a:gd name="T24" fmla="*/ 199 w 285"/>
                  <a:gd name="T25" fmla="*/ 0 h 375"/>
                  <a:gd name="T26" fmla="*/ 208 w 285"/>
                  <a:gd name="T27" fmla="*/ 26 h 375"/>
                  <a:gd name="T28" fmla="*/ 248 w 285"/>
                  <a:gd name="T29" fmla="*/ 50 h 375"/>
                  <a:gd name="T30" fmla="*/ 189 w 285"/>
                  <a:gd name="T31" fmla="*/ 86 h 375"/>
                  <a:gd name="T32" fmla="*/ 151 w 285"/>
                  <a:gd name="T33" fmla="*/ 168 h 375"/>
                  <a:gd name="T34" fmla="*/ 180 w 285"/>
                  <a:gd name="T35" fmla="*/ 141 h 375"/>
                  <a:gd name="T36" fmla="*/ 204 w 285"/>
                  <a:gd name="T37" fmla="*/ 126 h 375"/>
                  <a:gd name="T38" fmla="*/ 211 w 285"/>
                  <a:gd name="T39" fmla="*/ 157 h 375"/>
                  <a:gd name="T40" fmla="*/ 191 w 285"/>
                  <a:gd name="T41" fmla="*/ 215 h 375"/>
                  <a:gd name="T42" fmla="*/ 204 w 285"/>
                  <a:gd name="T43" fmla="*/ 244 h 375"/>
                  <a:gd name="T44" fmla="*/ 186 w 285"/>
                  <a:gd name="T45" fmla="*/ 321 h 375"/>
                  <a:gd name="T46" fmla="*/ 267 w 285"/>
                  <a:gd name="T47" fmla="*/ 332 h 375"/>
                  <a:gd name="T48" fmla="*/ 275 w 285"/>
                  <a:gd name="T49" fmla="*/ 368 h 375"/>
                  <a:gd name="T50" fmla="*/ 110 w 285"/>
                  <a:gd name="T51" fmla="*/ 330 h 375"/>
                  <a:gd name="T52" fmla="*/ 13 w 285"/>
                  <a:gd name="T53" fmla="*/ 324 h 375"/>
                  <a:gd name="T54" fmla="*/ 30 w 285"/>
                  <a:gd name="T55" fmla="*/ 305 h 375"/>
                  <a:gd name="T56" fmla="*/ 21 w 285"/>
                  <a:gd name="T57" fmla="*/ 277 h 375"/>
                  <a:gd name="T58" fmla="*/ 31 w 285"/>
                  <a:gd name="T59" fmla="*/ 226 h 375"/>
                  <a:gd name="T60" fmla="*/ 37 w 285"/>
                  <a:gd name="T61" fmla="*/ 201 h 375"/>
                  <a:gd name="T62" fmla="*/ 28 w 285"/>
                  <a:gd name="T63" fmla="*/ 186 h 375"/>
                  <a:gd name="T64" fmla="*/ 46 w 285"/>
                  <a:gd name="T65" fmla="*/ 165 h 3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5" h="375">
                    <a:moveTo>
                      <a:pt x="46" y="165"/>
                    </a:moveTo>
                    <a:cubicBezTo>
                      <a:pt x="46" y="165"/>
                      <a:pt x="66" y="163"/>
                      <a:pt x="71" y="176"/>
                    </a:cubicBezTo>
                    <a:cubicBezTo>
                      <a:pt x="77" y="189"/>
                      <a:pt x="65" y="197"/>
                      <a:pt x="61" y="202"/>
                    </a:cubicBezTo>
                    <a:cubicBezTo>
                      <a:pt x="58" y="208"/>
                      <a:pt x="37" y="232"/>
                      <a:pt x="42" y="246"/>
                    </a:cubicBezTo>
                    <a:cubicBezTo>
                      <a:pt x="46" y="260"/>
                      <a:pt x="58" y="294"/>
                      <a:pt x="80" y="302"/>
                    </a:cubicBezTo>
                    <a:cubicBezTo>
                      <a:pt x="102" y="310"/>
                      <a:pt x="125" y="315"/>
                      <a:pt x="132" y="316"/>
                    </a:cubicBezTo>
                    <a:cubicBezTo>
                      <a:pt x="138" y="317"/>
                      <a:pt x="141" y="325"/>
                      <a:pt x="162" y="321"/>
                    </a:cubicBezTo>
                    <a:cubicBezTo>
                      <a:pt x="163" y="261"/>
                      <a:pt x="163" y="261"/>
                      <a:pt x="163" y="261"/>
                    </a:cubicBezTo>
                    <a:cubicBezTo>
                      <a:pt x="163" y="261"/>
                      <a:pt x="122" y="277"/>
                      <a:pt x="112" y="276"/>
                    </a:cubicBezTo>
                    <a:cubicBezTo>
                      <a:pt x="102" y="275"/>
                      <a:pt x="104" y="266"/>
                      <a:pt x="104" y="266"/>
                    </a:cubicBezTo>
                    <a:cubicBezTo>
                      <a:pt x="158" y="239"/>
                      <a:pt x="158" y="239"/>
                      <a:pt x="158" y="239"/>
                    </a:cubicBezTo>
                    <a:cubicBezTo>
                      <a:pt x="168" y="230"/>
                      <a:pt x="168" y="230"/>
                      <a:pt x="168" y="230"/>
                    </a:cubicBezTo>
                    <a:cubicBezTo>
                      <a:pt x="169" y="193"/>
                      <a:pt x="169" y="193"/>
                      <a:pt x="169" y="193"/>
                    </a:cubicBezTo>
                    <a:cubicBezTo>
                      <a:pt x="152" y="193"/>
                      <a:pt x="152" y="193"/>
                      <a:pt x="152" y="193"/>
                    </a:cubicBezTo>
                    <a:cubicBezTo>
                      <a:pt x="152" y="193"/>
                      <a:pt x="150" y="205"/>
                      <a:pt x="140" y="204"/>
                    </a:cubicBezTo>
                    <a:cubicBezTo>
                      <a:pt x="130" y="203"/>
                      <a:pt x="109" y="192"/>
                      <a:pt x="109" y="192"/>
                    </a:cubicBezTo>
                    <a:cubicBezTo>
                      <a:pt x="109" y="192"/>
                      <a:pt x="109" y="159"/>
                      <a:pt x="114" y="156"/>
                    </a:cubicBezTo>
                    <a:cubicBezTo>
                      <a:pt x="120" y="153"/>
                      <a:pt x="130" y="142"/>
                      <a:pt x="133" y="130"/>
                    </a:cubicBezTo>
                    <a:cubicBezTo>
                      <a:pt x="135" y="118"/>
                      <a:pt x="137" y="101"/>
                      <a:pt x="137" y="101"/>
                    </a:cubicBezTo>
                    <a:cubicBezTo>
                      <a:pt x="109" y="105"/>
                      <a:pt x="109" y="105"/>
                      <a:pt x="109" y="105"/>
                    </a:cubicBezTo>
                    <a:cubicBezTo>
                      <a:pt x="101" y="95"/>
                      <a:pt x="101" y="95"/>
                      <a:pt x="101" y="95"/>
                    </a:cubicBezTo>
                    <a:cubicBezTo>
                      <a:pt x="103" y="86"/>
                      <a:pt x="103" y="86"/>
                      <a:pt x="103" y="86"/>
                    </a:cubicBezTo>
                    <a:cubicBezTo>
                      <a:pt x="103" y="86"/>
                      <a:pt x="157" y="56"/>
                      <a:pt x="162" y="52"/>
                    </a:cubicBezTo>
                    <a:cubicBezTo>
                      <a:pt x="168" y="47"/>
                      <a:pt x="170" y="40"/>
                      <a:pt x="170" y="40"/>
                    </a:cubicBezTo>
                    <a:cubicBezTo>
                      <a:pt x="170" y="1"/>
                      <a:pt x="170" y="1"/>
                      <a:pt x="170" y="1"/>
                    </a:cubicBezTo>
                    <a:cubicBezTo>
                      <a:pt x="199" y="0"/>
                      <a:pt x="199" y="0"/>
                      <a:pt x="199" y="0"/>
                    </a:cubicBezTo>
                    <a:cubicBezTo>
                      <a:pt x="207" y="17"/>
                      <a:pt x="207" y="17"/>
                      <a:pt x="207" y="17"/>
                    </a:cubicBezTo>
                    <a:cubicBezTo>
                      <a:pt x="208" y="26"/>
                      <a:pt x="208" y="26"/>
                      <a:pt x="208" y="26"/>
                    </a:cubicBezTo>
                    <a:cubicBezTo>
                      <a:pt x="247" y="36"/>
                      <a:pt x="247" y="36"/>
                      <a:pt x="247" y="36"/>
                    </a:cubicBezTo>
                    <a:cubicBezTo>
                      <a:pt x="248" y="50"/>
                      <a:pt x="248" y="50"/>
                      <a:pt x="248" y="50"/>
                    </a:cubicBezTo>
                    <a:cubicBezTo>
                      <a:pt x="241" y="63"/>
                      <a:pt x="241" y="63"/>
                      <a:pt x="241" y="63"/>
                    </a:cubicBezTo>
                    <a:cubicBezTo>
                      <a:pt x="241" y="63"/>
                      <a:pt x="193" y="76"/>
                      <a:pt x="189" y="86"/>
                    </a:cubicBezTo>
                    <a:cubicBezTo>
                      <a:pt x="184" y="96"/>
                      <a:pt x="147" y="133"/>
                      <a:pt x="150" y="146"/>
                    </a:cubicBezTo>
                    <a:cubicBezTo>
                      <a:pt x="154" y="159"/>
                      <a:pt x="151" y="168"/>
                      <a:pt x="151" y="168"/>
                    </a:cubicBezTo>
                    <a:cubicBezTo>
                      <a:pt x="169" y="161"/>
                      <a:pt x="169" y="161"/>
                      <a:pt x="169" y="161"/>
                    </a:cubicBezTo>
                    <a:cubicBezTo>
                      <a:pt x="180" y="141"/>
                      <a:pt x="180" y="141"/>
                      <a:pt x="180" y="141"/>
                    </a:cubicBezTo>
                    <a:cubicBezTo>
                      <a:pt x="185" y="126"/>
                      <a:pt x="185" y="126"/>
                      <a:pt x="185" y="126"/>
                    </a:cubicBezTo>
                    <a:cubicBezTo>
                      <a:pt x="185" y="126"/>
                      <a:pt x="201" y="116"/>
                      <a:pt x="204" y="126"/>
                    </a:cubicBezTo>
                    <a:cubicBezTo>
                      <a:pt x="207" y="136"/>
                      <a:pt x="213" y="145"/>
                      <a:pt x="213" y="145"/>
                    </a:cubicBezTo>
                    <a:cubicBezTo>
                      <a:pt x="211" y="157"/>
                      <a:pt x="211" y="157"/>
                      <a:pt x="211" y="157"/>
                    </a:cubicBezTo>
                    <a:cubicBezTo>
                      <a:pt x="193" y="177"/>
                      <a:pt x="193" y="177"/>
                      <a:pt x="193" y="177"/>
                    </a:cubicBezTo>
                    <a:cubicBezTo>
                      <a:pt x="191" y="215"/>
                      <a:pt x="191" y="215"/>
                      <a:pt x="191" y="215"/>
                    </a:cubicBezTo>
                    <a:cubicBezTo>
                      <a:pt x="191" y="215"/>
                      <a:pt x="225" y="220"/>
                      <a:pt x="219" y="231"/>
                    </a:cubicBezTo>
                    <a:cubicBezTo>
                      <a:pt x="214" y="242"/>
                      <a:pt x="204" y="244"/>
                      <a:pt x="204" y="244"/>
                    </a:cubicBezTo>
                    <a:cubicBezTo>
                      <a:pt x="190" y="254"/>
                      <a:pt x="190" y="254"/>
                      <a:pt x="190" y="254"/>
                    </a:cubicBezTo>
                    <a:cubicBezTo>
                      <a:pt x="190" y="254"/>
                      <a:pt x="182" y="309"/>
                      <a:pt x="186" y="321"/>
                    </a:cubicBezTo>
                    <a:cubicBezTo>
                      <a:pt x="191" y="333"/>
                      <a:pt x="210" y="335"/>
                      <a:pt x="223" y="337"/>
                    </a:cubicBezTo>
                    <a:cubicBezTo>
                      <a:pt x="236" y="339"/>
                      <a:pt x="260" y="330"/>
                      <a:pt x="267" y="332"/>
                    </a:cubicBezTo>
                    <a:cubicBezTo>
                      <a:pt x="273" y="333"/>
                      <a:pt x="285" y="349"/>
                      <a:pt x="285" y="349"/>
                    </a:cubicBezTo>
                    <a:cubicBezTo>
                      <a:pt x="275" y="368"/>
                      <a:pt x="275" y="368"/>
                      <a:pt x="275" y="368"/>
                    </a:cubicBezTo>
                    <a:cubicBezTo>
                      <a:pt x="275" y="368"/>
                      <a:pt x="237" y="375"/>
                      <a:pt x="215" y="375"/>
                    </a:cubicBezTo>
                    <a:cubicBezTo>
                      <a:pt x="193" y="375"/>
                      <a:pt x="139" y="338"/>
                      <a:pt x="110" y="330"/>
                    </a:cubicBezTo>
                    <a:cubicBezTo>
                      <a:pt x="80" y="323"/>
                      <a:pt x="56" y="324"/>
                      <a:pt x="47" y="324"/>
                    </a:cubicBezTo>
                    <a:cubicBezTo>
                      <a:pt x="38" y="324"/>
                      <a:pt x="13" y="324"/>
                      <a:pt x="13" y="324"/>
                    </a:cubicBezTo>
                    <a:cubicBezTo>
                      <a:pt x="13" y="324"/>
                      <a:pt x="0" y="310"/>
                      <a:pt x="15" y="309"/>
                    </a:cubicBezTo>
                    <a:cubicBezTo>
                      <a:pt x="31" y="307"/>
                      <a:pt x="30" y="305"/>
                      <a:pt x="30" y="305"/>
                    </a:cubicBezTo>
                    <a:cubicBezTo>
                      <a:pt x="27" y="285"/>
                      <a:pt x="27" y="285"/>
                      <a:pt x="27" y="285"/>
                    </a:cubicBezTo>
                    <a:cubicBezTo>
                      <a:pt x="21" y="277"/>
                      <a:pt x="21" y="277"/>
                      <a:pt x="21" y="277"/>
                    </a:cubicBezTo>
                    <a:cubicBezTo>
                      <a:pt x="21" y="277"/>
                      <a:pt x="13" y="248"/>
                      <a:pt x="21" y="245"/>
                    </a:cubicBezTo>
                    <a:cubicBezTo>
                      <a:pt x="28" y="242"/>
                      <a:pt x="31" y="226"/>
                      <a:pt x="31" y="226"/>
                    </a:cubicBezTo>
                    <a:cubicBezTo>
                      <a:pt x="36" y="218"/>
                      <a:pt x="34" y="217"/>
                      <a:pt x="37" y="207"/>
                    </a:cubicBezTo>
                    <a:cubicBezTo>
                      <a:pt x="37" y="201"/>
                      <a:pt x="37" y="201"/>
                      <a:pt x="37" y="201"/>
                    </a:cubicBezTo>
                    <a:cubicBezTo>
                      <a:pt x="36" y="199"/>
                      <a:pt x="36" y="196"/>
                      <a:pt x="36" y="194"/>
                    </a:cubicBezTo>
                    <a:cubicBezTo>
                      <a:pt x="34" y="189"/>
                      <a:pt x="32" y="187"/>
                      <a:pt x="28" y="186"/>
                    </a:cubicBezTo>
                    <a:cubicBezTo>
                      <a:pt x="33" y="171"/>
                      <a:pt x="33" y="171"/>
                      <a:pt x="33" y="171"/>
                    </a:cubicBezTo>
                    <a:cubicBezTo>
                      <a:pt x="38" y="170"/>
                      <a:pt x="46" y="165"/>
                      <a:pt x="46" y="16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2" name="îṧlíḍé">
                <a:extLst>
                  <a:ext uri="{FF2B5EF4-FFF2-40B4-BE49-F238E27FC236}">
                    <a16:creationId xmlns:a16="http://schemas.microsoft.com/office/drawing/2014/main" id="{26632445-0D6F-8724-B440-8E89E0C52F2E}"/>
                  </a:ext>
                </a:extLst>
              </p:cNvPr>
              <p:cNvSpPr/>
              <p:nvPr/>
            </p:nvSpPr>
            <p:spPr bwMode="auto">
              <a:xfrm>
                <a:off x="3884613" y="2554288"/>
                <a:ext cx="884238" cy="1163638"/>
              </a:xfrm>
              <a:custGeom>
                <a:avLst/>
                <a:gdLst>
                  <a:gd name="T0" fmla="*/ 162 w 268"/>
                  <a:gd name="T1" fmla="*/ 106 h 352"/>
                  <a:gd name="T2" fmla="*/ 167 w 268"/>
                  <a:gd name="T3" fmla="*/ 10 h 352"/>
                  <a:gd name="T4" fmla="*/ 140 w 268"/>
                  <a:gd name="T5" fmla="*/ 12 h 352"/>
                  <a:gd name="T6" fmla="*/ 125 w 268"/>
                  <a:gd name="T7" fmla="*/ 111 h 352"/>
                  <a:gd name="T8" fmla="*/ 102 w 268"/>
                  <a:gd name="T9" fmla="*/ 133 h 352"/>
                  <a:gd name="T10" fmla="*/ 37 w 268"/>
                  <a:gd name="T11" fmla="*/ 168 h 352"/>
                  <a:gd name="T12" fmla="*/ 48 w 268"/>
                  <a:gd name="T13" fmla="*/ 190 h 352"/>
                  <a:gd name="T14" fmla="*/ 56 w 268"/>
                  <a:gd name="T15" fmla="*/ 189 h 352"/>
                  <a:gd name="T16" fmla="*/ 95 w 268"/>
                  <a:gd name="T17" fmla="*/ 189 h 352"/>
                  <a:gd name="T18" fmla="*/ 90 w 268"/>
                  <a:gd name="T19" fmla="*/ 216 h 352"/>
                  <a:gd name="T20" fmla="*/ 4 w 268"/>
                  <a:gd name="T21" fmla="*/ 339 h 352"/>
                  <a:gd name="T22" fmla="*/ 18 w 268"/>
                  <a:gd name="T23" fmla="*/ 347 h 352"/>
                  <a:gd name="T24" fmla="*/ 113 w 268"/>
                  <a:gd name="T25" fmla="*/ 243 h 352"/>
                  <a:gd name="T26" fmla="*/ 135 w 268"/>
                  <a:gd name="T27" fmla="*/ 248 h 352"/>
                  <a:gd name="T28" fmla="*/ 202 w 268"/>
                  <a:gd name="T29" fmla="*/ 341 h 352"/>
                  <a:gd name="T30" fmla="*/ 223 w 268"/>
                  <a:gd name="T31" fmla="*/ 349 h 352"/>
                  <a:gd name="T32" fmla="*/ 268 w 268"/>
                  <a:gd name="T33" fmla="*/ 344 h 352"/>
                  <a:gd name="T34" fmla="*/ 242 w 268"/>
                  <a:gd name="T35" fmla="*/ 317 h 352"/>
                  <a:gd name="T36" fmla="*/ 148 w 268"/>
                  <a:gd name="T37" fmla="*/ 232 h 352"/>
                  <a:gd name="T38" fmla="*/ 128 w 268"/>
                  <a:gd name="T39" fmla="*/ 219 h 352"/>
                  <a:gd name="T40" fmla="*/ 127 w 268"/>
                  <a:gd name="T41" fmla="*/ 204 h 352"/>
                  <a:gd name="T42" fmla="*/ 174 w 268"/>
                  <a:gd name="T43" fmla="*/ 144 h 352"/>
                  <a:gd name="T44" fmla="*/ 223 w 268"/>
                  <a:gd name="T45" fmla="*/ 121 h 352"/>
                  <a:gd name="T46" fmla="*/ 190 w 268"/>
                  <a:gd name="T47" fmla="*/ 102 h 352"/>
                  <a:gd name="T48" fmla="*/ 162 w 268"/>
                  <a:gd name="T49" fmla="*/ 106 h 3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68" h="352">
                    <a:moveTo>
                      <a:pt x="162" y="106"/>
                    </a:moveTo>
                    <a:cubicBezTo>
                      <a:pt x="162" y="106"/>
                      <a:pt x="173" y="10"/>
                      <a:pt x="167" y="10"/>
                    </a:cubicBezTo>
                    <a:cubicBezTo>
                      <a:pt x="170" y="4"/>
                      <a:pt x="145" y="0"/>
                      <a:pt x="140" y="12"/>
                    </a:cubicBezTo>
                    <a:cubicBezTo>
                      <a:pt x="136" y="24"/>
                      <a:pt x="125" y="33"/>
                      <a:pt x="125" y="111"/>
                    </a:cubicBezTo>
                    <a:cubicBezTo>
                      <a:pt x="125" y="111"/>
                      <a:pt x="108" y="132"/>
                      <a:pt x="102" y="133"/>
                    </a:cubicBezTo>
                    <a:cubicBezTo>
                      <a:pt x="95" y="134"/>
                      <a:pt x="37" y="168"/>
                      <a:pt x="37" y="168"/>
                    </a:cubicBezTo>
                    <a:cubicBezTo>
                      <a:pt x="37" y="168"/>
                      <a:pt x="27" y="187"/>
                      <a:pt x="48" y="190"/>
                    </a:cubicBezTo>
                    <a:cubicBezTo>
                      <a:pt x="52" y="191"/>
                      <a:pt x="52" y="190"/>
                      <a:pt x="56" y="189"/>
                    </a:cubicBezTo>
                    <a:cubicBezTo>
                      <a:pt x="95" y="189"/>
                      <a:pt x="95" y="189"/>
                      <a:pt x="95" y="189"/>
                    </a:cubicBezTo>
                    <a:cubicBezTo>
                      <a:pt x="95" y="189"/>
                      <a:pt x="95" y="199"/>
                      <a:pt x="90" y="216"/>
                    </a:cubicBezTo>
                    <a:cubicBezTo>
                      <a:pt x="86" y="233"/>
                      <a:pt x="51" y="312"/>
                      <a:pt x="4" y="339"/>
                    </a:cubicBezTo>
                    <a:cubicBezTo>
                      <a:pt x="4" y="339"/>
                      <a:pt x="0" y="352"/>
                      <a:pt x="18" y="347"/>
                    </a:cubicBezTo>
                    <a:cubicBezTo>
                      <a:pt x="18" y="347"/>
                      <a:pt x="92" y="317"/>
                      <a:pt x="113" y="243"/>
                    </a:cubicBezTo>
                    <a:cubicBezTo>
                      <a:pt x="113" y="243"/>
                      <a:pt x="120" y="226"/>
                      <a:pt x="135" y="248"/>
                    </a:cubicBezTo>
                    <a:cubicBezTo>
                      <a:pt x="202" y="341"/>
                      <a:pt x="202" y="341"/>
                      <a:pt x="202" y="341"/>
                    </a:cubicBezTo>
                    <a:cubicBezTo>
                      <a:pt x="202" y="341"/>
                      <a:pt x="204" y="349"/>
                      <a:pt x="223" y="349"/>
                    </a:cubicBezTo>
                    <a:cubicBezTo>
                      <a:pt x="223" y="349"/>
                      <a:pt x="264" y="352"/>
                      <a:pt x="268" y="344"/>
                    </a:cubicBezTo>
                    <a:cubicBezTo>
                      <a:pt x="268" y="344"/>
                      <a:pt x="256" y="321"/>
                      <a:pt x="242" y="317"/>
                    </a:cubicBezTo>
                    <a:cubicBezTo>
                      <a:pt x="227" y="312"/>
                      <a:pt x="155" y="252"/>
                      <a:pt x="148" y="232"/>
                    </a:cubicBezTo>
                    <a:cubicBezTo>
                      <a:pt x="128" y="219"/>
                      <a:pt x="128" y="219"/>
                      <a:pt x="128" y="219"/>
                    </a:cubicBezTo>
                    <a:cubicBezTo>
                      <a:pt x="127" y="204"/>
                      <a:pt x="127" y="204"/>
                      <a:pt x="127" y="204"/>
                    </a:cubicBezTo>
                    <a:cubicBezTo>
                      <a:pt x="127" y="204"/>
                      <a:pt x="131" y="157"/>
                      <a:pt x="174" y="144"/>
                    </a:cubicBezTo>
                    <a:cubicBezTo>
                      <a:pt x="174" y="144"/>
                      <a:pt x="222" y="138"/>
                      <a:pt x="223" y="121"/>
                    </a:cubicBezTo>
                    <a:cubicBezTo>
                      <a:pt x="223" y="121"/>
                      <a:pt x="228" y="102"/>
                      <a:pt x="190" y="102"/>
                    </a:cubicBezTo>
                    <a:lnTo>
                      <a:pt x="162" y="10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7" name="îś1íďe">
                <a:extLst>
                  <a:ext uri="{FF2B5EF4-FFF2-40B4-BE49-F238E27FC236}">
                    <a16:creationId xmlns:a16="http://schemas.microsoft.com/office/drawing/2014/main" id="{D8646245-CB0E-7C46-41F8-F0CE178928C9}"/>
                  </a:ext>
                </a:extLst>
              </p:cNvPr>
              <p:cNvSpPr/>
              <p:nvPr/>
            </p:nvSpPr>
            <p:spPr bwMode="auto">
              <a:xfrm>
                <a:off x="9517063" y="3195638"/>
                <a:ext cx="715963" cy="677863"/>
              </a:xfrm>
              <a:custGeom>
                <a:avLst/>
                <a:gdLst>
                  <a:gd name="T0" fmla="*/ 98 w 217"/>
                  <a:gd name="T1" fmla="*/ 18 h 205"/>
                  <a:gd name="T2" fmla="*/ 113 w 217"/>
                  <a:gd name="T3" fmla="*/ 28 h 205"/>
                  <a:gd name="T4" fmla="*/ 109 w 217"/>
                  <a:gd name="T5" fmla="*/ 48 h 205"/>
                  <a:gd name="T6" fmla="*/ 95 w 217"/>
                  <a:gd name="T7" fmla="*/ 54 h 205"/>
                  <a:gd name="T8" fmla="*/ 94 w 217"/>
                  <a:gd name="T9" fmla="*/ 65 h 205"/>
                  <a:gd name="T10" fmla="*/ 103 w 217"/>
                  <a:gd name="T11" fmla="*/ 85 h 205"/>
                  <a:gd name="T12" fmla="*/ 6 w 217"/>
                  <a:gd name="T13" fmla="*/ 115 h 205"/>
                  <a:gd name="T14" fmla="*/ 25 w 217"/>
                  <a:gd name="T15" fmla="*/ 124 h 205"/>
                  <a:gd name="T16" fmla="*/ 107 w 217"/>
                  <a:gd name="T17" fmla="*/ 114 h 205"/>
                  <a:gd name="T18" fmla="*/ 81 w 217"/>
                  <a:gd name="T19" fmla="*/ 171 h 205"/>
                  <a:gd name="T20" fmla="*/ 63 w 217"/>
                  <a:gd name="T21" fmla="*/ 178 h 205"/>
                  <a:gd name="T22" fmla="*/ 51 w 217"/>
                  <a:gd name="T23" fmla="*/ 171 h 205"/>
                  <a:gd name="T24" fmla="*/ 42 w 217"/>
                  <a:gd name="T25" fmla="*/ 177 h 205"/>
                  <a:gd name="T26" fmla="*/ 63 w 217"/>
                  <a:gd name="T27" fmla="*/ 203 h 205"/>
                  <a:gd name="T28" fmla="*/ 139 w 217"/>
                  <a:gd name="T29" fmla="*/ 113 h 205"/>
                  <a:gd name="T30" fmla="*/ 182 w 217"/>
                  <a:gd name="T31" fmla="*/ 111 h 205"/>
                  <a:gd name="T32" fmla="*/ 200 w 217"/>
                  <a:gd name="T33" fmla="*/ 113 h 205"/>
                  <a:gd name="T34" fmla="*/ 217 w 217"/>
                  <a:gd name="T35" fmla="*/ 98 h 205"/>
                  <a:gd name="T36" fmla="*/ 192 w 217"/>
                  <a:gd name="T37" fmla="*/ 80 h 205"/>
                  <a:gd name="T38" fmla="*/ 150 w 217"/>
                  <a:gd name="T39" fmla="*/ 78 h 205"/>
                  <a:gd name="T40" fmla="*/ 138 w 217"/>
                  <a:gd name="T41" fmla="*/ 76 h 205"/>
                  <a:gd name="T42" fmla="*/ 130 w 217"/>
                  <a:gd name="T43" fmla="*/ 66 h 205"/>
                  <a:gd name="T44" fmla="*/ 133 w 217"/>
                  <a:gd name="T45" fmla="*/ 53 h 205"/>
                  <a:gd name="T46" fmla="*/ 143 w 217"/>
                  <a:gd name="T47" fmla="*/ 42 h 205"/>
                  <a:gd name="T48" fmla="*/ 151 w 217"/>
                  <a:gd name="T49" fmla="*/ 23 h 205"/>
                  <a:gd name="T50" fmla="*/ 154 w 217"/>
                  <a:gd name="T51" fmla="*/ 10 h 205"/>
                  <a:gd name="T52" fmla="*/ 142 w 217"/>
                  <a:gd name="T53" fmla="*/ 0 h 205"/>
                  <a:gd name="T54" fmla="*/ 102 w 217"/>
                  <a:gd name="T55" fmla="*/ 8 h 205"/>
                  <a:gd name="T56" fmla="*/ 98 w 217"/>
                  <a:gd name="T57" fmla="*/ 18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217" h="205">
                    <a:moveTo>
                      <a:pt x="98" y="18"/>
                    </a:moveTo>
                    <a:cubicBezTo>
                      <a:pt x="98" y="18"/>
                      <a:pt x="106" y="26"/>
                      <a:pt x="113" y="28"/>
                    </a:cubicBezTo>
                    <a:cubicBezTo>
                      <a:pt x="120" y="29"/>
                      <a:pt x="115" y="47"/>
                      <a:pt x="109" y="48"/>
                    </a:cubicBezTo>
                    <a:cubicBezTo>
                      <a:pt x="103" y="49"/>
                      <a:pt x="95" y="54"/>
                      <a:pt x="95" y="54"/>
                    </a:cubicBezTo>
                    <a:cubicBezTo>
                      <a:pt x="95" y="54"/>
                      <a:pt x="80" y="62"/>
                      <a:pt x="94" y="65"/>
                    </a:cubicBezTo>
                    <a:cubicBezTo>
                      <a:pt x="107" y="67"/>
                      <a:pt x="103" y="85"/>
                      <a:pt x="103" y="85"/>
                    </a:cubicBezTo>
                    <a:cubicBezTo>
                      <a:pt x="103" y="85"/>
                      <a:pt x="17" y="94"/>
                      <a:pt x="6" y="115"/>
                    </a:cubicBezTo>
                    <a:cubicBezTo>
                      <a:pt x="6" y="115"/>
                      <a:pt x="0" y="125"/>
                      <a:pt x="25" y="124"/>
                    </a:cubicBezTo>
                    <a:cubicBezTo>
                      <a:pt x="25" y="124"/>
                      <a:pt x="96" y="101"/>
                      <a:pt x="107" y="114"/>
                    </a:cubicBezTo>
                    <a:cubicBezTo>
                      <a:pt x="107" y="114"/>
                      <a:pt x="107" y="162"/>
                      <a:pt x="81" y="171"/>
                    </a:cubicBezTo>
                    <a:cubicBezTo>
                      <a:pt x="63" y="178"/>
                      <a:pt x="63" y="178"/>
                      <a:pt x="63" y="178"/>
                    </a:cubicBezTo>
                    <a:cubicBezTo>
                      <a:pt x="51" y="171"/>
                      <a:pt x="51" y="171"/>
                      <a:pt x="51" y="171"/>
                    </a:cubicBezTo>
                    <a:cubicBezTo>
                      <a:pt x="42" y="177"/>
                      <a:pt x="42" y="177"/>
                      <a:pt x="42" y="177"/>
                    </a:cubicBezTo>
                    <a:cubicBezTo>
                      <a:pt x="42" y="177"/>
                      <a:pt x="54" y="203"/>
                      <a:pt x="63" y="203"/>
                    </a:cubicBezTo>
                    <a:cubicBezTo>
                      <a:pt x="63" y="203"/>
                      <a:pt x="112" y="205"/>
                      <a:pt x="139" y="113"/>
                    </a:cubicBezTo>
                    <a:cubicBezTo>
                      <a:pt x="182" y="111"/>
                      <a:pt x="182" y="111"/>
                      <a:pt x="182" y="111"/>
                    </a:cubicBezTo>
                    <a:cubicBezTo>
                      <a:pt x="182" y="111"/>
                      <a:pt x="194" y="117"/>
                      <a:pt x="200" y="113"/>
                    </a:cubicBezTo>
                    <a:cubicBezTo>
                      <a:pt x="207" y="109"/>
                      <a:pt x="217" y="98"/>
                      <a:pt x="217" y="98"/>
                    </a:cubicBezTo>
                    <a:cubicBezTo>
                      <a:pt x="217" y="98"/>
                      <a:pt x="203" y="80"/>
                      <a:pt x="192" y="80"/>
                    </a:cubicBezTo>
                    <a:cubicBezTo>
                      <a:pt x="181" y="80"/>
                      <a:pt x="150" y="78"/>
                      <a:pt x="150" y="78"/>
                    </a:cubicBezTo>
                    <a:cubicBezTo>
                      <a:pt x="138" y="76"/>
                      <a:pt x="138" y="76"/>
                      <a:pt x="138" y="76"/>
                    </a:cubicBezTo>
                    <a:cubicBezTo>
                      <a:pt x="130" y="66"/>
                      <a:pt x="130" y="66"/>
                      <a:pt x="130" y="66"/>
                    </a:cubicBezTo>
                    <a:cubicBezTo>
                      <a:pt x="133" y="53"/>
                      <a:pt x="133" y="53"/>
                      <a:pt x="133" y="53"/>
                    </a:cubicBezTo>
                    <a:cubicBezTo>
                      <a:pt x="143" y="42"/>
                      <a:pt x="143" y="42"/>
                      <a:pt x="143" y="42"/>
                    </a:cubicBezTo>
                    <a:cubicBezTo>
                      <a:pt x="151" y="23"/>
                      <a:pt x="151" y="23"/>
                      <a:pt x="151" y="23"/>
                    </a:cubicBezTo>
                    <a:cubicBezTo>
                      <a:pt x="154" y="10"/>
                      <a:pt x="154" y="10"/>
                      <a:pt x="154" y="10"/>
                    </a:cubicBezTo>
                    <a:cubicBezTo>
                      <a:pt x="154" y="10"/>
                      <a:pt x="151" y="0"/>
                      <a:pt x="142" y="0"/>
                    </a:cubicBezTo>
                    <a:cubicBezTo>
                      <a:pt x="132" y="0"/>
                      <a:pt x="102" y="8"/>
                      <a:pt x="102" y="8"/>
                    </a:cubicBezTo>
                    <a:lnTo>
                      <a:pt x="98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8" name="íṣľiḑe">
                <a:extLst>
                  <a:ext uri="{FF2B5EF4-FFF2-40B4-BE49-F238E27FC236}">
                    <a16:creationId xmlns:a16="http://schemas.microsoft.com/office/drawing/2014/main" id="{DA35F494-BF8E-BB8B-0F3F-8120DF52A27D}"/>
                  </a:ext>
                </a:extLst>
              </p:cNvPr>
              <p:cNvSpPr/>
              <p:nvPr/>
            </p:nvSpPr>
            <p:spPr bwMode="auto">
              <a:xfrm>
                <a:off x="9602788" y="2901951"/>
                <a:ext cx="695325" cy="311150"/>
              </a:xfrm>
              <a:custGeom>
                <a:avLst/>
                <a:gdLst>
                  <a:gd name="T0" fmla="*/ 4 w 211"/>
                  <a:gd name="T1" fmla="*/ 74 h 94"/>
                  <a:gd name="T2" fmla="*/ 0 w 211"/>
                  <a:gd name="T3" fmla="*/ 90 h 94"/>
                  <a:gd name="T4" fmla="*/ 40 w 211"/>
                  <a:gd name="T5" fmla="*/ 73 h 94"/>
                  <a:gd name="T6" fmla="*/ 94 w 211"/>
                  <a:gd name="T7" fmla="*/ 54 h 94"/>
                  <a:gd name="T8" fmla="*/ 148 w 211"/>
                  <a:gd name="T9" fmla="*/ 45 h 94"/>
                  <a:gd name="T10" fmla="*/ 178 w 211"/>
                  <a:gd name="T11" fmla="*/ 62 h 94"/>
                  <a:gd name="T12" fmla="*/ 154 w 211"/>
                  <a:gd name="T13" fmla="*/ 83 h 94"/>
                  <a:gd name="T14" fmla="*/ 144 w 211"/>
                  <a:gd name="T15" fmla="*/ 93 h 94"/>
                  <a:gd name="T16" fmla="*/ 164 w 211"/>
                  <a:gd name="T17" fmla="*/ 94 h 94"/>
                  <a:gd name="T18" fmla="*/ 192 w 211"/>
                  <a:gd name="T19" fmla="*/ 75 h 94"/>
                  <a:gd name="T20" fmla="*/ 205 w 211"/>
                  <a:gd name="T21" fmla="*/ 59 h 94"/>
                  <a:gd name="T22" fmla="*/ 192 w 211"/>
                  <a:gd name="T23" fmla="*/ 32 h 94"/>
                  <a:gd name="T24" fmla="*/ 4 w 211"/>
                  <a:gd name="T25" fmla="*/ 74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1" h="94">
                    <a:moveTo>
                      <a:pt x="4" y="74"/>
                    </a:moveTo>
                    <a:cubicBezTo>
                      <a:pt x="0" y="90"/>
                      <a:pt x="0" y="90"/>
                      <a:pt x="0" y="90"/>
                    </a:cubicBezTo>
                    <a:cubicBezTo>
                      <a:pt x="40" y="73"/>
                      <a:pt x="40" y="73"/>
                      <a:pt x="40" y="73"/>
                    </a:cubicBezTo>
                    <a:cubicBezTo>
                      <a:pt x="94" y="54"/>
                      <a:pt x="94" y="54"/>
                      <a:pt x="94" y="54"/>
                    </a:cubicBezTo>
                    <a:cubicBezTo>
                      <a:pt x="94" y="54"/>
                      <a:pt x="136" y="43"/>
                      <a:pt x="148" y="45"/>
                    </a:cubicBezTo>
                    <a:cubicBezTo>
                      <a:pt x="160" y="46"/>
                      <a:pt x="187" y="53"/>
                      <a:pt x="178" y="62"/>
                    </a:cubicBezTo>
                    <a:cubicBezTo>
                      <a:pt x="168" y="71"/>
                      <a:pt x="154" y="83"/>
                      <a:pt x="154" y="83"/>
                    </a:cubicBezTo>
                    <a:cubicBezTo>
                      <a:pt x="144" y="93"/>
                      <a:pt x="144" y="93"/>
                      <a:pt x="144" y="93"/>
                    </a:cubicBezTo>
                    <a:cubicBezTo>
                      <a:pt x="164" y="94"/>
                      <a:pt x="164" y="94"/>
                      <a:pt x="164" y="94"/>
                    </a:cubicBezTo>
                    <a:cubicBezTo>
                      <a:pt x="164" y="94"/>
                      <a:pt x="185" y="84"/>
                      <a:pt x="192" y="75"/>
                    </a:cubicBezTo>
                    <a:cubicBezTo>
                      <a:pt x="198" y="69"/>
                      <a:pt x="203" y="63"/>
                      <a:pt x="205" y="59"/>
                    </a:cubicBezTo>
                    <a:cubicBezTo>
                      <a:pt x="211" y="48"/>
                      <a:pt x="197" y="33"/>
                      <a:pt x="192" y="32"/>
                    </a:cubicBezTo>
                    <a:cubicBezTo>
                      <a:pt x="176" y="26"/>
                      <a:pt x="84" y="0"/>
                      <a:pt x="4" y="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9" name="í$ḻïdè">
                <a:extLst>
                  <a:ext uri="{FF2B5EF4-FFF2-40B4-BE49-F238E27FC236}">
                    <a16:creationId xmlns:a16="http://schemas.microsoft.com/office/drawing/2014/main" id="{2929C3F3-7E18-9F30-6FC5-92E4632A005E}"/>
                  </a:ext>
                </a:extLst>
              </p:cNvPr>
              <p:cNvSpPr/>
              <p:nvPr/>
            </p:nvSpPr>
            <p:spPr bwMode="auto">
              <a:xfrm>
                <a:off x="9355138" y="3195638"/>
                <a:ext cx="171450" cy="234950"/>
              </a:xfrm>
              <a:custGeom>
                <a:avLst/>
                <a:gdLst>
                  <a:gd name="T0" fmla="*/ 52 w 52"/>
                  <a:gd name="T1" fmla="*/ 2 h 71"/>
                  <a:gd name="T2" fmla="*/ 50 w 52"/>
                  <a:gd name="T3" fmla="*/ 41 h 71"/>
                  <a:gd name="T4" fmla="*/ 26 w 52"/>
                  <a:gd name="T5" fmla="*/ 69 h 71"/>
                  <a:gd name="T6" fmla="*/ 8 w 52"/>
                  <a:gd name="T7" fmla="*/ 49 h 71"/>
                  <a:gd name="T8" fmla="*/ 18 w 52"/>
                  <a:gd name="T9" fmla="*/ 17 h 71"/>
                  <a:gd name="T10" fmla="*/ 50 w 52"/>
                  <a:gd name="T11" fmla="*/ 1 h 71"/>
                  <a:gd name="T12" fmla="*/ 52 w 52"/>
                  <a:gd name="T13" fmla="*/ 2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2" h="71">
                    <a:moveTo>
                      <a:pt x="52" y="2"/>
                    </a:moveTo>
                    <a:cubicBezTo>
                      <a:pt x="51" y="10"/>
                      <a:pt x="52" y="29"/>
                      <a:pt x="50" y="41"/>
                    </a:cubicBezTo>
                    <a:cubicBezTo>
                      <a:pt x="47" y="57"/>
                      <a:pt x="32" y="71"/>
                      <a:pt x="26" y="69"/>
                    </a:cubicBezTo>
                    <a:cubicBezTo>
                      <a:pt x="19" y="68"/>
                      <a:pt x="0" y="59"/>
                      <a:pt x="8" y="49"/>
                    </a:cubicBezTo>
                    <a:cubicBezTo>
                      <a:pt x="16" y="40"/>
                      <a:pt x="18" y="17"/>
                      <a:pt x="18" y="17"/>
                    </a:cubicBezTo>
                    <a:cubicBezTo>
                      <a:pt x="18" y="17"/>
                      <a:pt x="40" y="7"/>
                      <a:pt x="50" y="1"/>
                    </a:cubicBezTo>
                    <a:cubicBezTo>
                      <a:pt x="51" y="0"/>
                      <a:pt x="52" y="0"/>
                      <a:pt x="52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0" name="ïṡliḍè">
                <a:extLst>
                  <a:ext uri="{FF2B5EF4-FFF2-40B4-BE49-F238E27FC236}">
                    <a16:creationId xmlns:a16="http://schemas.microsoft.com/office/drawing/2014/main" id="{73993C4A-85A1-A1EA-F1BC-E3E060DF48FD}"/>
                  </a:ext>
                </a:extLst>
              </p:cNvPr>
              <p:cNvSpPr/>
              <p:nvPr/>
            </p:nvSpPr>
            <p:spPr bwMode="auto">
              <a:xfrm>
                <a:off x="9758363" y="2587626"/>
                <a:ext cx="461963" cy="330200"/>
              </a:xfrm>
              <a:custGeom>
                <a:avLst/>
                <a:gdLst>
                  <a:gd name="T0" fmla="*/ 33 w 140"/>
                  <a:gd name="T1" fmla="*/ 32 h 100"/>
                  <a:gd name="T2" fmla="*/ 47 w 140"/>
                  <a:gd name="T3" fmla="*/ 45 h 100"/>
                  <a:gd name="T4" fmla="*/ 53 w 140"/>
                  <a:gd name="T5" fmla="*/ 68 h 100"/>
                  <a:gd name="T6" fmla="*/ 65 w 140"/>
                  <a:gd name="T7" fmla="*/ 61 h 100"/>
                  <a:gd name="T8" fmla="*/ 88 w 140"/>
                  <a:gd name="T9" fmla="*/ 24 h 100"/>
                  <a:gd name="T10" fmla="*/ 105 w 140"/>
                  <a:gd name="T11" fmla="*/ 0 h 100"/>
                  <a:gd name="T12" fmla="*/ 129 w 140"/>
                  <a:gd name="T13" fmla="*/ 2 h 100"/>
                  <a:gd name="T14" fmla="*/ 140 w 140"/>
                  <a:gd name="T15" fmla="*/ 29 h 100"/>
                  <a:gd name="T16" fmla="*/ 123 w 140"/>
                  <a:gd name="T17" fmla="*/ 61 h 100"/>
                  <a:gd name="T18" fmla="*/ 56 w 140"/>
                  <a:gd name="T19" fmla="*/ 100 h 100"/>
                  <a:gd name="T20" fmla="*/ 24 w 140"/>
                  <a:gd name="T21" fmla="*/ 96 h 100"/>
                  <a:gd name="T22" fmla="*/ 5 w 140"/>
                  <a:gd name="T23" fmla="*/ 65 h 100"/>
                  <a:gd name="T24" fmla="*/ 12 w 140"/>
                  <a:gd name="T25" fmla="*/ 29 h 100"/>
                  <a:gd name="T26" fmla="*/ 33 w 140"/>
                  <a:gd name="T27" fmla="*/ 32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0" h="100">
                    <a:moveTo>
                      <a:pt x="33" y="32"/>
                    </a:moveTo>
                    <a:cubicBezTo>
                      <a:pt x="47" y="45"/>
                      <a:pt x="47" y="45"/>
                      <a:pt x="47" y="45"/>
                    </a:cubicBezTo>
                    <a:cubicBezTo>
                      <a:pt x="53" y="68"/>
                      <a:pt x="53" y="68"/>
                      <a:pt x="53" y="68"/>
                    </a:cubicBezTo>
                    <a:cubicBezTo>
                      <a:pt x="65" y="61"/>
                      <a:pt x="65" y="61"/>
                      <a:pt x="65" y="61"/>
                    </a:cubicBezTo>
                    <a:cubicBezTo>
                      <a:pt x="88" y="24"/>
                      <a:pt x="88" y="24"/>
                      <a:pt x="88" y="24"/>
                    </a:cubicBezTo>
                    <a:cubicBezTo>
                      <a:pt x="105" y="0"/>
                      <a:pt x="105" y="0"/>
                      <a:pt x="105" y="0"/>
                    </a:cubicBezTo>
                    <a:cubicBezTo>
                      <a:pt x="129" y="2"/>
                      <a:pt x="129" y="2"/>
                      <a:pt x="129" y="2"/>
                    </a:cubicBezTo>
                    <a:cubicBezTo>
                      <a:pt x="140" y="29"/>
                      <a:pt x="140" y="29"/>
                      <a:pt x="140" y="29"/>
                    </a:cubicBezTo>
                    <a:cubicBezTo>
                      <a:pt x="123" y="61"/>
                      <a:pt x="123" y="61"/>
                      <a:pt x="123" y="61"/>
                    </a:cubicBezTo>
                    <a:cubicBezTo>
                      <a:pt x="123" y="61"/>
                      <a:pt x="67" y="100"/>
                      <a:pt x="56" y="100"/>
                    </a:cubicBezTo>
                    <a:cubicBezTo>
                      <a:pt x="45" y="100"/>
                      <a:pt x="24" y="96"/>
                      <a:pt x="24" y="96"/>
                    </a:cubicBezTo>
                    <a:cubicBezTo>
                      <a:pt x="24" y="96"/>
                      <a:pt x="4" y="77"/>
                      <a:pt x="5" y="65"/>
                    </a:cubicBezTo>
                    <a:cubicBezTo>
                      <a:pt x="7" y="53"/>
                      <a:pt x="0" y="25"/>
                      <a:pt x="12" y="29"/>
                    </a:cubicBezTo>
                    <a:cubicBezTo>
                      <a:pt x="24" y="33"/>
                      <a:pt x="33" y="32"/>
                      <a:pt x="33" y="3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1" name="iŝļíḑé">
                <a:extLst>
                  <a:ext uri="{FF2B5EF4-FFF2-40B4-BE49-F238E27FC236}">
                    <a16:creationId xmlns:a16="http://schemas.microsoft.com/office/drawing/2014/main" id="{39319132-A1E6-91E3-2B63-19E631DEBA00}"/>
                  </a:ext>
                </a:extLst>
              </p:cNvPr>
              <p:cNvSpPr/>
              <p:nvPr/>
            </p:nvSpPr>
            <p:spPr bwMode="auto">
              <a:xfrm>
                <a:off x="9580563" y="2746376"/>
                <a:ext cx="141288" cy="277813"/>
              </a:xfrm>
              <a:custGeom>
                <a:avLst/>
                <a:gdLst>
                  <a:gd name="T0" fmla="*/ 36 w 43"/>
                  <a:gd name="T1" fmla="*/ 0 h 84"/>
                  <a:gd name="T2" fmla="*/ 38 w 43"/>
                  <a:gd name="T3" fmla="*/ 69 h 84"/>
                  <a:gd name="T4" fmla="*/ 26 w 43"/>
                  <a:gd name="T5" fmla="*/ 80 h 84"/>
                  <a:gd name="T6" fmla="*/ 5 w 43"/>
                  <a:gd name="T7" fmla="*/ 61 h 84"/>
                  <a:gd name="T8" fmla="*/ 11 w 43"/>
                  <a:gd name="T9" fmla="*/ 15 h 84"/>
                  <a:gd name="T10" fmla="*/ 36 w 43"/>
                  <a:gd name="T11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3" h="84">
                    <a:moveTo>
                      <a:pt x="36" y="0"/>
                    </a:moveTo>
                    <a:cubicBezTo>
                      <a:pt x="38" y="69"/>
                      <a:pt x="38" y="69"/>
                      <a:pt x="38" y="69"/>
                    </a:cubicBezTo>
                    <a:cubicBezTo>
                      <a:pt x="38" y="69"/>
                      <a:pt x="43" y="84"/>
                      <a:pt x="26" y="80"/>
                    </a:cubicBezTo>
                    <a:cubicBezTo>
                      <a:pt x="10" y="77"/>
                      <a:pt x="6" y="75"/>
                      <a:pt x="5" y="61"/>
                    </a:cubicBezTo>
                    <a:cubicBezTo>
                      <a:pt x="3" y="46"/>
                      <a:pt x="0" y="23"/>
                      <a:pt x="11" y="15"/>
                    </a:cubicBezTo>
                    <a:cubicBezTo>
                      <a:pt x="23" y="6"/>
                      <a:pt x="36" y="0"/>
                      <a:pt x="3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05193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582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048583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BC2C75E-EF8A-44A7-B9EA-F6116D9C6C3B}" type="datetimeFigureOut">
              <a:rPr lang="zh-CN" altLang="en-US"/>
              <a:t>2026/3/10</a:t>
            </a:fld>
            <a:endParaRPr lang="zh-CN" altLang="en-US"/>
          </a:p>
        </p:txBody>
      </p:sp>
      <p:sp>
        <p:nvSpPr>
          <p:cNvPr id="104858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04858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0A0B3A0-3C62-4426-88E2-D133EF3CC60E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89157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1005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hyperlink" Target="https://github.com/moonlight1639/xiaoY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矩形 5"/>
          <p:cNvSpPr/>
          <p:nvPr/>
        </p:nvSpPr>
        <p:spPr>
          <a:xfrm>
            <a:off x="-1" y="2428875"/>
            <a:ext cx="12192001" cy="2016125"/>
          </a:xfrm>
          <a:prstGeom prst="rect">
            <a:avLst/>
          </a:prstGeom>
          <a:solidFill>
            <a:srgbClr val="0644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 sz="32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48588" name="文本框 8"/>
          <p:cNvSpPr txBox="1"/>
          <p:nvPr/>
        </p:nvSpPr>
        <p:spPr>
          <a:xfrm>
            <a:off x="1698374" y="2980368"/>
            <a:ext cx="8439150" cy="886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ct val="130000"/>
              </a:lnSpc>
              <a:defRPr sz="4800" b="1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sz="4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中期答辩</a:t>
            </a:r>
            <a:r>
              <a:rPr kumimoji="1" lang="en-US" altLang="zh-CN" sz="4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kumimoji="1" lang="zh-CN" altLang="en-US" sz="4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科大小</a:t>
            </a:r>
            <a:r>
              <a:rPr kumimoji="1" lang="en-US" altLang="zh-CN" sz="4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y</a:t>
            </a:r>
            <a:endParaRPr kumimoji="1" lang="zh-CN" altLang="en-US" sz="54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powerpoint template design by DAJU_PPT正版来源小红书大橘PPT微信DAJU_PPT请勿抄袭搬运！盗版必究！-2">
            <a:extLst>
              <a:ext uri="{FF2B5EF4-FFF2-40B4-BE49-F238E27FC236}">
                <a16:creationId xmlns:a16="http://schemas.microsoft.com/office/drawing/2014/main" id="{C333936A-FA97-B3CC-0AE1-7E5F58FC58DA}"/>
              </a:ext>
            </a:extLst>
          </p:cNvPr>
          <p:cNvSpPr txBox="1"/>
          <p:nvPr/>
        </p:nvSpPr>
        <p:spPr>
          <a:xfrm>
            <a:off x="3983589" y="4881012"/>
            <a:ext cx="4397360" cy="499574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2"/>
            </a:solidFill>
          </a:ln>
        </p:spPr>
        <p:txBody>
          <a:bodyPr wrap="square" lIns="0" tIns="0" rIns="0" bIns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b="1" dirty="0">
                <a:latin typeface="+mn-ea"/>
              </a:rPr>
              <a:t>小组成员</a:t>
            </a:r>
            <a:r>
              <a:rPr lang="zh-CN" altLang="en-US" sz="1800" b="1" dirty="0">
                <a:latin typeface="+mn-ea"/>
              </a:rPr>
              <a:t>：</a:t>
            </a:r>
            <a:r>
              <a:rPr lang="zh-CN" altLang="en-US" b="1" dirty="0">
                <a:latin typeface="+mn-ea"/>
              </a:rPr>
              <a:t>卢岳、李想、刘乐鹏、朱艺杭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E96D767-97F1-D176-D9F5-43CFA5EB90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6016" y="895350"/>
            <a:ext cx="5483866" cy="1239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398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文本框 40">
            <a:extLst>
              <a:ext uri="{FF2B5EF4-FFF2-40B4-BE49-F238E27FC236}">
                <a16:creationId xmlns:a16="http://schemas.microsoft.com/office/drawing/2014/main" id="{7BF053A3-057E-FB9C-0517-5B3C5A4D4CB5}"/>
              </a:ext>
            </a:extLst>
          </p:cNvPr>
          <p:cNvSpPr txBox="1">
            <a:spLocks/>
          </p:cNvSpPr>
          <p:nvPr/>
        </p:nvSpPr>
        <p:spPr>
          <a:xfrm>
            <a:off x="5643752" y="2156405"/>
            <a:ext cx="63468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kumimoji="1" lang="en-US" altLang="zh-CN" sz="2800" b="1" spc="300" dirty="0">
                <a:solidFill>
                  <a:srgbClr val="06449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 </a:t>
            </a:r>
            <a:r>
              <a:rPr kumimoji="1" lang="zh-CN" altLang="en-US" sz="2800" b="1" spc="300" dirty="0">
                <a:solidFill>
                  <a:srgbClr val="06449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需求分析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BE2F0CFC-4A0D-B4DC-BEF1-E885C339A761}"/>
              </a:ext>
            </a:extLst>
          </p:cNvPr>
          <p:cNvSpPr txBox="1">
            <a:spLocks/>
          </p:cNvSpPr>
          <p:nvPr/>
        </p:nvSpPr>
        <p:spPr>
          <a:xfrm>
            <a:off x="5643752" y="3056396"/>
            <a:ext cx="4853176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kumimoji="1" lang="en-US" altLang="zh-CN" sz="2800" b="1" spc="300" dirty="0">
                <a:solidFill>
                  <a:srgbClr val="06449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 </a:t>
            </a:r>
            <a:r>
              <a:rPr kumimoji="1" lang="zh-CN" altLang="en-US" sz="2800" b="1" spc="300" dirty="0">
                <a:solidFill>
                  <a:srgbClr val="06449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系统设计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231140C1-588E-D337-2DA2-4DAC54816E57}"/>
              </a:ext>
            </a:extLst>
          </p:cNvPr>
          <p:cNvSpPr txBox="1">
            <a:spLocks/>
          </p:cNvSpPr>
          <p:nvPr/>
        </p:nvSpPr>
        <p:spPr>
          <a:xfrm>
            <a:off x="5643752" y="3956387"/>
            <a:ext cx="4853176" cy="95410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kumimoji="1" sz="2400" b="1" spc="300">
                <a:solidFill>
                  <a:srgbClr val="0D30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en-US" altLang="zh-CN" sz="2800" dirty="0">
                <a:solidFill>
                  <a:srgbClr val="06449A"/>
                </a:solidFill>
              </a:rPr>
              <a:t>03 </a:t>
            </a:r>
            <a:r>
              <a:rPr lang="zh-CN" altLang="en-US" sz="2800" dirty="0">
                <a:solidFill>
                  <a:srgbClr val="06449A"/>
                </a:solidFill>
              </a:rPr>
              <a:t>接口与数据需求</a:t>
            </a:r>
          </a:p>
          <a:p>
            <a:endParaRPr lang="zh-CN" altLang="en-US" sz="2800" dirty="0">
              <a:solidFill>
                <a:srgbClr val="06449A"/>
              </a:solidFill>
            </a:endParaRPr>
          </a:p>
        </p:txBody>
      </p:sp>
      <p:grpSp>
        <p:nvGrpSpPr>
          <p:cNvPr id="103" name="组合 102">
            <a:extLst>
              <a:ext uri="{FF2B5EF4-FFF2-40B4-BE49-F238E27FC236}">
                <a16:creationId xmlns:a16="http://schemas.microsoft.com/office/drawing/2014/main" id="{652D7ECE-F2ED-7087-33E2-458A5F63E8F5}"/>
              </a:ext>
            </a:extLst>
          </p:cNvPr>
          <p:cNvGrpSpPr/>
          <p:nvPr/>
        </p:nvGrpSpPr>
        <p:grpSpPr>
          <a:xfrm>
            <a:off x="0" y="2418015"/>
            <a:ext cx="3845097" cy="2021965"/>
            <a:chOff x="0" y="2418015"/>
            <a:chExt cx="3845097" cy="2021965"/>
          </a:xfrm>
          <a:solidFill>
            <a:srgbClr val="06449A"/>
          </a:solidFill>
        </p:grpSpPr>
        <p:sp>
          <p:nvSpPr>
            <p:cNvPr id="102" name="矩形 101">
              <a:extLst>
                <a:ext uri="{FF2B5EF4-FFF2-40B4-BE49-F238E27FC236}">
                  <a16:creationId xmlns:a16="http://schemas.microsoft.com/office/drawing/2014/main" id="{8A295B32-41BB-3FF9-C03E-345FFD0C0A08}"/>
                </a:ext>
              </a:extLst>
            </p:cNvPr>
            <p:cNvSpPr/>
            <p:nvPr/>
          </p:nvSpPr>
          <p:spPr>
            <a:xfrm>
              <a:off x="0" y="2418015"/>
              <a:ext cx="3845097" cy="202196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01" name="组合 100">
              <a:extLst>
                <a:ext uri="{FF2B5EF4-FFF2-40B4-BE49-F238E27FC236}">
                  <a16:creationId xmlns:a16="http://schemas.microsoft.com/office/drawing/2014/main" id="{9D500D5C-02B1-6485-2EAA-6EFBEB0628F4}"/>
                </a:ext>
              </a:extLst>
            </p:cNvPr>
            <p:cNvGrpSpPr/>
            <p:nvPr/>
          </p:nvGrpSpPr>
          <p:grpSpPr>
            <a:xfrm>
              <a:off x="201448" y="2589493"/>
              <a:ext cx="3442200" cy="1679008"/>
              <a:chOff x="-312171" y="2117127"/>
              <a:chExt cx="3442200" cy="1679008"/>
            </a:xfrm>
            <a:grpFill/>
          </p:grpSpPr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CCAA0271-E69E-DF37-6326-CDBE64F1129E}"/>
                  </a:ext>
                </a:extLst>
              </p:cNvPr>
              <p:cNvSpPr txBox="1"/>
              <p:nvPr/>
            </p:nvSpPr>
            <p:spPr>
              <a:xfrm>
                <a:off x="1558400" y="3026694"/>
                <a:ext cx="1571629" cy="769441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4400" b="1" spc="300" dirty="0">
                    <a:solidFill>
                      <a:schemeClr val="bg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目录</a:t>
                </a:r>
              </a:p>
            </p:txBody>
          </p:sp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14D60E2A-4FCC-2D02-B465-AD5FE57DC4C2}"/>
                  </a:ext>
                </a:extLst>
              </p:cNvPr>
              <p:cNvSpPr txBox="1"/>
              <p:nvPr/>
            </p:nvSpPr>
            <p:spPr>
              <a:xfrm>
                <a:off x="-312171" y="2117127"/>
                <a:ext cx="3442200" cy="923330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5400" b="1" spc="-150" dirty="0">
                    <a:solidFill>
                      <a:schemeClr val="bg1"/>
                    </a:solidFill>
                    <a:latin typeface="Arial Narrow" panose="020B0604020202020204" pitchFamily="34" charset="0"/>
                    <a:ea typeface="黑体" panose="02010609060101010101" pitchFamily="49" charset="-122"/>
                    <a:cs typeface="Arial Narrow" panose="020B0604020202020204" pitchFamily="34" charset="0"/>
                  </a:rPr>
                  <a:t>CONTENTS</a:t>
                </a:r>
                <a:endParaRPr lang="zh-CN" altLang="en-US" sz="7200" b="1" spc="-150" dirty="0">
                  <a:solidFill>
                    <a:schemeClr val="bg1"/>
                  </a:solidFill>
                  <a:latin typeface="Arial Narrow" panose="020B0604020202020204" pitchFamily="34" charset="0"/>
                  <a:ea typeface="黑体" panose="02010609060101010101" pitchFamily="49" charset="-122"/>
                  <a:cs typeface="Arial Narrow" panose="020B0604020202020204" pitchFamily="34" charset="0"/>
                </a:endParaRPr>
              </a:p>
            </p:txBody>
          </p:sp>
        </p:grp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6228B82D-F1EE-2E53-8D3E-4B93E57AE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5219" y="90643"/>
            <a:ext cx="2953162" cy="104789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9886D8C-5849-08B7-A2DD-CB1033AF1F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3486" y="42414"/>
            <a:ext cx="884895" cy="905839"/>
          </a:xfrm>
          <a:prstGeom prst="rect">
            <a:avLst/>
          </a:prstGeom>
        </p:spPr>
      </p:pic>
      <p:cxnSp>
        <p:nvCxnSpPr>
          <p:cNvPr id="7" name="直线连接符 22">
            <a:extLst>
              <a:ext uri="{FF2B5EF4-FFF2-40B4-BE49-F238E27FC236}">
                <a16:creationId xmlns:a16="http://schemas.microsoft.com/office/drawing/2014/main" id="{85002C15-8C32-12EE-4B87-A01F03989CF8}"/>
              </a:ext>
            </a:extLst>
          </p:cNvPr>
          <p:cNvCxnSpPr>
            <a:cxnSpLocks/>
          </p:cNvCxnSpPr>
          <p:nvPr/>
        </p:nvCxnSpPr>
        <p:spPr>
          <a:xfrm>
            <a:off x="0" y="1010143"/>
            <a:ext cx="12192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9C865BAE-02A1-4600-F0B8-EB89AE467566}"/>
              </a:ext>
            </a:extLst>
          </p:cNvPr>
          <p:cNvSpPr txBox="1">
            <a:spLocks/>
          </p:cNvSpPr>
          <p:nvPr/>
        </p:nvSpPr>
        <p:spPr>
          <a:xfrm>
            <a:off x="5643752" y="4847212"/>
            <a:ext cx="4853176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kumimoji="1" sz="2400" b="1" spc="300">
                <a:solidFill>
                  <a:srgbClr val="0D30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en-US" altLang="zh-CN" sz="2800" dirty="0">
                <a:solidFill>
                  <a:srgbClr val="06449A"/>
                </a:solidFill>
              </a:rPr>
              <a:t>03 </a:t>
            </a:r>
            <a:r>
              <a:rPr lang="zh-CN" altLang="en-US" sz="2800" dirty="0">
                <a:solidFill>
                  <a:srgbClr val="06449A"/>
                </a:solidFill>
              </a:rPr>
              <a:t>小组合作</a:t>
            </a:r>
          </a:p>
        </p:txBody>
      </p:sp>
    </p:spTree>
    <p:extLst>
      <p:ext uri="{BB962C8B-B14F-4D97-AF65-F5344CB8AC3E}">
        <p14:creationId xmlns:p14="http://schemas.microsoft.com/office/powerpoint/2010/main" val="624883425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729C5-E520-54FA-AC00-6CEE3C908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7">
            <a:extLst>
              <a:ext uri="{FF2B5EF4-FFF2-40B4-BE49-F238E27FC236}">
                <a16:creationId xmlns:a16="http://schemas.microsoft.com/office/drawing/2014/main" id="{4DE2FE65-0A38-E1D5-6003-EFC973981CD4}"/>
              </a:ext>
            </a:extLst>
          </p:cNvPr>
          <p:cNvSpPr txBox="1"/>
          <p:nvPr/>
        </p:nvSpPr>
        <p:spPr>
          <a:xfrm>
            <a:off x="3547590" y="2419435"/>
            <a:ext cx="3691459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800" b="1" dirty="0">
                <a:solidFill>
                  <a:srgbClr val="054487"/>
                </a:solidFill>
                <a:latin typeface="方正公文小标宋" panose="02000500000000000000" charset="-122"/>
                <a:ea typeface="方正公文小标宋" panose="02000500000000000000" charset="-122"/>
              </a:rPr>
              <a:t>Part 1</a:t>
            </a:r>
          </a:p>
        </p:txBody>
      </p:sp>
      <p:sp>
        <p:nvSpPr>
          <p:cNvPr id="4" name="Rectangle 22">
            <a:extLst>
              <a:ext uri="{FF2B5EF4-FFF2-40B4-BE49-F238E27FC236}">
                <a16:creationId xmlns:a16="http://schemas.microsoft.com/office/drawing/2014/main" id="{0054A252-0215-417D-209B-C1629F5C76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9051" y="3605137"/>
            <a:ext cx="6123073" cy="63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l" eaLnBrk="1" fontAlgn="base" hangingPunct="1">
              <a:lnSpc>
                <a:spcPct val="120000"/>
              </a:lnSpc>
              <a:buClrTx/>
              <a:buSzTx/>
            </a:pPr>
            <a:r>
              <a:rPr lang="zh-CN" altLang="en-US" sz="3200" b="1" dirty="0">
                <a:solidFill>
                  <a:srgbClr val="0544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需求分析</a:t>
            </a:r>
            <a:endParaRPr lang="zh-CN" sz="3200" b="1" dirty="0">
              <a:solidFill>
                <a:srgbClr val="05448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8BF819C6-189F-09EF-A3C7-DE1878C7014F}"/>
              </a:ext>
            </a:extLst>
          </p:cNvPr>
          <p:cNvCxnSpPr/>
          <p:nvPr/>
        </p:nvCxnSpPr>
        <p:spPr>
          <a:xfrm>
            <a:off x="3166954" y="3605138"/>
            <a:ext cx="3980798" cy="0"/>
          </a:xfrm>
          <a:prstGeom prst="line">
            <a:avLst/>
          </a:prstGeom>
          <a:ln w="12700">
            <a:solidFill>
              <a:srgbClr val="0544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椭圆 10">
            <a:extLst>
              <a:ext uri="{FF2B5EF4-FFF2-40B4-BE49-F238E27FC236}">
                <a16:creationId xmlns:a16="http://schemas.microsoft.com/office/drawing/2014/main" id="{8F1535CA-6E73-09FF-93F0-410E20B7ABBB}"/>
              </a:ext>
            </a:extLst>
          </p:cNvPr>
          <p:cNvSpPr/>
          <p:nvPr/>
        </p:nvSpPr>
        <p:spPr>
          <a:xfrm>
            <a:off x="1245253" y="2419912"/>
            <a:ext cx="1785621" cy="1786507"/>
          </a:xfrm>
          <a:prstGeom prst="ellipse">
            <a:avLst/>
          </a:prstGeom>
          <a:solidFill>
            <a:srgbClr val="06449A"/>
          </a:solidFill>
          <a:ln>
            <a:solidFill>
              <a:srgbClr val="06449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18C0B8D-6A5C-907E-FA9C-3A786BF9E7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5219" y="90643"/>
            <a:ext cx="2953162" cy="104789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9516E52-E27A-4751-9ACE-4ADCEFA642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3486" y="42414"/>
            <a:ext cx="884895" cy="905839"/>
          </a:xfrm>
          <a:prstGeom prst="rect">
            <a:avLst/>
          </a:prstGeom>
        </p:spPr>
      </p:pic>
      <p:cxnSp>
        <p:nvCxnSpPr>
          <p:cNvPr id="10" name="直线连接符 22">
            <a:extLst>
              <a:ext uri="{FF2B5EF4-FFF2-40B4-BE49-F238E27FC236}">
                <a16:creationId xmlns:a16="http://schemas.microsoft.com/office/drawing/2014/main" id="{474D0900-9D0B-0415-5643-3CADAAD20B9D}"/>
              </a:ext>
            </a:extLst>
          </p:cNvPr>
          <p:cNvCxnSpPr>
            <a:cxnSpLocks/>
          </p:cNvCxnSpPr>
          <p:nvPr/>
        </p:nvCxnSpPr>
        <p:spPr>
          <a:xfrm>
            <a:off x="0" y="1010143"/>
            <a:ext cx="12192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3800201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067D7-3EED-9EF5-D902-6ACB6EC5C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直线连接符 22">
            <a:extLst>
              <a:ext uri="{FF2B5EF4-FFF2-40B4-BE49-F238E27FC236}">
                <a16:creationId xmlns:a16="http://schemas.microsoft.com/office/drawing/2014/main" id="{B23AA1AC-A823-2F7E-6BE1-FD1024799FD5}"/>
              </a:ext>
            </a:extLst>
          </p:cNvPr>
          <p:cNvCxnSpPr>
            <a:cxnSpLocks/>
          </p:cNvCxnSpPr>
          <p:nvPr/>
        </p:nvCxnSpPr>
        <p:spPr>
          <a:xfrm>
            <a:off x="0" y="1010143"/>
            <a:ext cx="12192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99946E54-6B84-21AF-0591-6317E3EBC1DE}"/>
              </a:ext>
            </a:extLst>
          </p:cNvPr>
          <p:cNvSpPr txBox="1"/>
          <p:nvPr/>
        </p:nvSpPr>
        <p:spPr>
          <a:xfrm>
            <a:off x="802093" y="245183"/>
            <a:ext cx="4665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 spc="300" dirty="0">
                <a:solidFill>
                  <a:srgbClr val="06449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 </a:t>
            </a:r>
            <a:r>
              <a:rPr kumimoji="1" lang="zh-CN" altLang="en-US" sz="2800" b="1" spc="300" dirty="0">
                <a:solidFill>
                  <a:srgbClr val="06449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需求分析</a:t>
            </a:r>
            <a:endParaRPr kumimoji="1" lang="en-US" altLang="zh-CN" sz="2400" b="1" spc="300" dirty="0">
              <a:solidFill>
                <a:srgbClr val="06449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1BD36CC5-E59F-37BA-2E11-3D7B647BD484}"/>
              </a:ext>
            </a:extLst>
          </p:cNvPr>
          <p:cNvSpPr/>
          <p:nvPr/>
        </p:nvSpPr>
        <p:spPr>
          <a:xfrm>
            <a:off x="421100" y="364783"/>
            <a:ext cx="284020" cy="284020"/>
          </a:xfrm>
          <a:prstGeom prst="ellipse">
            <a:avLst/>
          </a:prstGeom>
          <a:solidFill>
            <a:srgbClr val="0644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rgbClr val="06449A"/>
              </a:solidFill>
            </a:endParaRPr>
          </a:p>
        </p:txBody>
      </p:sp>
      <p:sp>
        <p:nvSpPr>
          <p:cNvPr id="96" name="单圆角矩形 3">
            <a:extLst>
              <a:ext uri="{FF2B5EF4-FFF2-40B4-BE49-F238E27FC236}">
                <a16:creationId xmlns:a16="http://schemas.microsoft.com/office/drawing/2014/main" id="{0C08D2D1-07AB-3932-6A7A-EB4AE4BF2AD3}"/>
              </a:ext>
            </a:extLst>
          </p:cNvPr>
          <p:cNvSpPr/>
          <p:nvPr/>
        </p:nvSpPr>
        <p:spPr>
          <a:xfrm flipV="1">
            <a:off x="124216" y="1734320"/>
            <a:ext cx="1298832" cy="607871"/>
          </a:xfrm>
          <a:prstGeom prst="round1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bg1"/>
              </a:solidFill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2FBA1A7E-4849-5F6C-44AB-106998618649}"/>
              </a:ext>
            </a:extLst>
          </p:cNvPr>
          <p:cNvSpPr txBox="1"/>
          <p:nvPr/>
        </p:nvSpPr>
        <p:spPr>
          <a:xfrm>
            <a:off x="124216" y="6145096"/>
            <a:ext cx="1228449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kumimoji="1" lang="zh-CN" altLang="en-US" sz="1600" b="1" spc="3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参考文献</a:t>
            </a:r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6C680841-CDF4-2B56-33C4-692ED53E0A5B}"/>
              </a:ext>
            </a:extLst>
          </p:cNvPr>
          <p:cNvSpPr txBox="1"/>
          <p:nvPr/>
        </p:nvSpPr>
        <p:spPr>
          <a:xfrm>
            <a:off x="113043" y="2704889"/>
            <a:ext cx="1228449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kumimoji="1" lang="zh-CN" altLang="en-US" sz="1600" b="1" spc="3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国内外研究概况</a:t>
            </a: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80F7AFAD-713C-09CF-2999-C3340AB18299}"/>
              </a:ext>
            </a:extLst>
          </p:cNvPr>
          <p:cNvSpPr txBox="1"/>
          <p:nvPr/>
        </p:nvSpPr>
        <p:spPr>
          <a:xfrm>
            <a:off x="113043" y="3568337"/>
            <a:ext cx="1268709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 algn="ctr">
              <a:defRPr kumimoji="1" sz="1400" b="1" spc="3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sz="1600" dirty="0"/>
              <a:t>主要研究内容</a:t>
            </a: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04C7C7F6-A3D7-FE87-0D93-73588A7EE9CD}"/>
              </a:ext>
            </a:extLst>
          </p:cNvPr>
          <p:cNvSpPr txBox="1"/>
          <p:nvPr/>
        </p:nvSpPr>
        <p:spPr>
          <a:xfrm>
            <a:off x="124216" y="5263082"/>
            <a:ext cx="1228449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 algn="ctr">
              <a:defRPr kumimoji="1" sz="1400" b="1" spc="3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sz="1600" dirty="0"/>
              <a:t>计划与进度安排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EF49B74-CFFA-9FDF-309E-84BD07314A74}"/>
              </a:ext>
            </a:extLst>
          </p:cNvPr>
          <p:cNvSpPr txBox="1"/>
          <p:nvPr/>
        </p:nvSpPr>
        <p:spPr>
          <a:xfrm>
            <a:off x="153303" y="4471861"/>
            <a:ext cx="1228449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 algn="ctr">
              <a:defRPr kumimoji="1" sz="1400" b="1" spc="3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sz="1600" dirty="0"/>
              <a:t>研究进展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1E52557-0E3D-3E63-A914-4BCBAEE984CC}"/>
              </a:ext>
            </a:extLst>
          </p:cNvPr>
          <p:cNvSpPr txBox="1"/>
          <p:nvPr/>
        </p:nvSpPr>
        <p:spPr>
          <a:xfrm>
            <a:off x="308848" y="1263968"/>
            <a:ext cx="5099796" cy="112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4330" marR="0" lvl="0" indent="-354330" algn="l" defTabSz="914400" rtl="0" eaLnBrk="1" fontAlgn="base" latinLnBrk="0" hangingPunct="1">
              <a:lnSpc>
                <a:spcPct val="100000"/>
              </a:lnSpc>
              <a:spcBef>
                <a:spcPct val="45000"/>
              </a:spcBef>
              <a:spcAft>
                <a:spcPct val="0"/>
              </a:spcAft>
              <a:buClr>
                <a:srgbClr val="FBB030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6449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项目背景</a:t>
            </a:r>
          </a:p>
          <a:p>
            <a:pPr marL="338455" lvl="1" fontAlgn="base">
              <a:spcBef>
                <a:spcPct val="45000"/>
              </a:spcBef>
              <a:spcAft>
                <a:spcPct val="0"/>
              </a:spcAft>
              <a:buClr>
                <a:srgbClr val="FBB030"/>
              </a:buClr>
              <a:defRPr/>
            </a:pPr>
            <a:endParaRPr lang="en-US" altLang="zh-CN" sz="2400" b="1" kern="0" dirty="0">
              <a:solidFill>
                <a:srgbClr val="EEECE1">
                  <a:lumMod val="1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68EB1ED-8B3E-DC88-7819-E5AB2AF850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7644" y="0"/>
            <a:ext cx="2724356" cy="96670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C4FBC489-563B-9547-3F38-88C2EE964E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2401" y="82788"/>
            <a:ext cx="884895" cy="905839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B161C61D-2473-3686-3CEC-DBE0D56CC8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314" y="1967487"/>
            <a:ext cx="10682714" cy="3894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26960" rIns="0" bIns="12696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Open Sans" panose="020B0606030504020204" pitchFamily="34" charset="0"/>
              </a:rPr>
              <a:t>校园场景中的信息通常存在以下问题：</a:t>
            </a: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Open Sans" panose="020B0606030504020204" pitchFamily="34" charset="0"/>
              </a:rPr>
              <a:t>信息分散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Open Sans" panose="020B0606030504020204" pitchFamily="34" charset="0"/>
              </a:rPr>
              <a:t>：课程、食堂、菜品、评价、个人资料等信息散落在不同系统或非结构化渠道中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Open Sans" panose="020B0606030504020204" pitchFamily="34" charset="0"/>
              </a:rPr>
              <a:t>查询成本高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Open Sans" panose="020B0606030504020204" pitchFamily="34" charset="0"/>
              </a:rPr>
              <a:t>：学生需要在多个页面或群消息中反复查找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Open Sans" panose="020B0606030504020204" pitchFamily="34" charset="0"/>
              </a:rPr>
              <a:t>信息更新不统一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Open Sans" panose="020B0606030504020204" pitchFamily="34" charset="0"/>
              </a:rPr>
              <a:t>：缺乏统一维护机制，内容容易过期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Open Sans" panose="020B0606030504020204" pitchFamily="34" charset="0"/>
              </a:rPr>
              <a:t>交互方式单一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Open Sans" panose="020B0606030504020204" pitchFamily="34" charset="0"/>
              </a:rPr>
              <a:t>：传统系统以列表查询为主，缺少智能问答能力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Open Sans" panose="020B0606030504020204" pitchFamily="34" charset="0"/>
              </a:rPr>
              <a:t>运维管理薄弱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Open Sans" panose="020B0606030504020204" pitchFamily="34" charset="0"/>
              </a:rPr>
              <a:t>：缺少统一后台对课程、评论、地点、菜品等内容进行维护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Open Sans" panose="020B0606030504020204" pitchFamily="34" charset="0"/>
              </a:rPr>
              <a:t>基于以上背景，需要建设一个面向校园服务的一体化平台，将学习与生活信息集中管理，并通过AI能力提升使用体验。</a:t>
            </a:r>
            <a:endParaRPr kumimoji="0" lang="zh-CN" altLang="zh-CN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2125920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E314-2C85-DC56-5E3E-7689423A4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直线连接符 22">
            <a:extLst>
              <a:ext uri="{FF2B5EF4-FFF2-40B4-BE49-F238E27FC236}">
                <a16:creationId xmlns:a16="http://schemas.microsoft.com/office/drawing/2014/main" id="{BE9014D2-C0D7-1F43-6B78-9990F13C7CC6}"/>
              </a:ext>
            </a:extLst>
          </p:cNvPr>
          <p:cNvCxnSpPr>
            <a:cxnSpLocks/>
          </p:cNvCxnSpPr>
          <p:nvPr/>
        </p:nvCxnSpPr>
        <p:spPr>
          <a:xfrm>
            <a:off x="0" y="1017599"/>
            <a:ext cx="12192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5729EAD6-2072-98B4-A7BC-7B4893576573}"/>
              </a:ext>
            </a:extLst>
          </p:cNvPr>
          <p:cNvSpPr txBox="1"/>
          <p:nvPr/>
        </p:nvSpPr>
        <p:spPr>
          <a:xfrm>
            <a:off x="802093" y="245183"/>
            <a:ext cx="4665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 spc="300" dirty="0">
                <a:solidFill>
                  <a:srgbClr val="06449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 </a:t>
            </a:r>
            <a:r>
              <a:rPr kumimoji="1" lang="zh-CN" altLang="en-US" sz="2800" b="1" spc="300" dirty="0">
                <a:solidFill>
                  <a:srgbClr val="06449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需求分析</a:t>
            </a:r>
            <a:endParaRPr kumimoji="1" lang="en-US" altLang="zh-CN" sz="2400" b="1" spc="300" dirty="0">
              <a:solidFill>
                <a:srgbClr val="06449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57E21FCA-3697-B0CB-1E0F-5E1984853553}"/>
              </a:ext>
            </a:extLst>
          </p:cNvPr>
          <p:cNvSpPr/>
          <p:nvPr/>
        </p:nvSpPr>
        <p:spPr>
          <a:xfrm>
            <a:off x="421100" y="364783"/>
            <a:ext cx="284020" cy="284020"/>
          </a:xfrm>
          <a:prstGeom prst="ellipse">
            <a:avLst/>
          </a:prstGeom>
          <a:solidFill>
            <a:srgbClr val="0644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rgbClr val="06449A"/>
              </a:solidFill>
            </a:endParaRPr>
          </a:p>
        </p:txBody>
      </p:sp>
      <p:sp>
        <p:nvSpPr>
          <p:cNvPr id="96" name="单圆角矩形 3">
            <a:extLst>
              <a:ext uri="{FF2B5EF4-FFF2-40B4-BE49-F238E27FC236}">
                <a16:creationId xmlns:a16="http://schemas.microsoft.com/office/drawing/2014/main" id="{69651B32-B7FA-2106-BDCE-672583277CA8}"/>
              </a:ext>
            </a:extLst>
          </p:cNvPr>
          <p:cNvSpPr/>
          <p:nvPr/>
        </p:nvSpPr>
        <p:spPr>
          <a:xfrm flipV="1">
            <a:off x="124216" y="1734320"/>
            <a:ext cx="1298832" cy="607871"/>
          </a:xfrm>
          <a:prstGeom prst="round1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bg1"/>
              </a:solidFill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F09CC3DD-778B-B66B-D3FD-68917247866F}"/>
              </a:ext>
            </a:extLst>
          </p:cNvPr>
          <p:cNvSpPr txBox="1"/>
          <p:nvPr/>
        </p:nvSpPr>
        <p:spPr>
          <a:xfrm>
            <a:off x="124216" y="6145096"/>
            <a:ext cx="1228449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kumimoji="1" lang="zh-CN" altLang="en-US" sz="1600" b="1" spc="3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参考文献</a:t>
            </a:r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B38ECED4-5A0D-4D90-8EF4-497AD2210128}"/>
              </a:ext>
            </a:extLst>
          </p:cNvPr>
          <p:cNvSpPr txBox="1"/>
          <p:nvPr/>
        </p:nvSpPr>
        <p:spPr>
          <a:xfrm>
            <a:off x="113043" y="2704889"/>
            <a:ext cx="1228449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kumimoji="1" lang="zh-CN" altLang="en-US" sz="1600" b="1" spc="3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国内外研究概况</a:t>
            </a: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53FAE57F-2795-1C06-2988-44E04F7117E7}"/>
              </a:ext>
            </a:extLst>
          </p:cNvPr>
          <p:cNvSpPr txBox="1"/>
          <p:nvPr/>
        </p:nvSpPr>
        <p:spPr>
          <a:xfrm>
            <a:off x="113043" y="3568337"/>
            <a:ext cx="1268709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 algn="ctr">
              <a:defRPr kumimoji="1" sz="1400" b="1" spc="3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sz="1600" dirty="0"/>
              <a:t>主要研究内容</a:t>
            </a: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95A2ECAB-5496-6EE8-670F-3819A0E8B6BD}"/>
              </a:ext>
            </a:extLst>
          </p:cNvPr>
          <p:cNvSpPr txBox="1"/>
          <p:nvPr/>
        </p:nvSpPr>
        <p:spPr>
          <a:xfrm>
            <a:off x="124216" y="5263082"/>
            <a:ext cx="1228449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 algn="ctr">
              <a:defRPr kumimoji="1" sz="1400" b="1" spc="3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sz="1600" dirty="0"/>
              <a:t>计划与进度安排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F80D279-1AF2-BE64-BF7C-18CB0512289F}"/>
              </a:ext>
            </a:extLst>
          </p:cNvPr>
          <p:cNvSpPr txBox="1"/>
          <p:nvPr/>
        </p:nvSpPr>
        <p:spPr>
          <a:xfrm>
            <a:off x="153303" y="4471861"/>
            <a:ext cx="1228449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 algn="ctr">
              <a:defRPr kumimoji="1" sz="1400" b="1" spc="3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sz="1600" dirty="0"/>
              <a:t>研究进展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7652D43-7838-F195-8879-EF9F983E7DE8}"/>
              </a:ext>
            </a:extLst>
          </p:cNvPr>
          <p:cNvSpPr txBox="1"/>
          <p:nvPr/>
        </p:nvSpPr>
        <p:spPr>
          <a:xfrm>
            <a:off x="260349" y="1261275"/>
            <a:ext cx="5099796" cy="112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4330" marR="0" lvl="0" indent="-354330" algn="l" defTabSz="914400" rtl="0" eaLnBrk="1" fontAlgn="base" latinLnBrk="0" hangingPunct="1">
              <a:lnSpc>
                <a:spcPct val="100000"/>
              </a:lnSpc>
              <a:spcBef>
                <a:spcPct val="45000"/>
              </a:spcBef>
              <a:spcAft>
                <a:spcPct val="0"/>
              </a:spcAft>
              <a:buClr>
                <a:srgbClr val="FBB030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3200" b="1" kern="0" dirty="0">
                <a:solidFill>
                  <a:srgbClr val="06449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建设目标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6449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38455" lvl="1" fontAlgn="base">
              <a:spcBef>
                <a:spcPct val="45000"/>
              </a:spcBef>
              <a:spcAft>
                <a:spcPct val="0"/>
              </a:spcAft>
              <a:buClr>
                <a:srgbClr val="FBB030"/>
              </a:buClr>
              <a:defRPr/>
            </a:pPr>
            <a:endParaRPr lang="en-US" altLang="zh-CN" sz="2400" b="1" kern="0" dirty="0">
              <a:solidFill>
                <a:srgbClr val="EEECE1">
                  <a:lumMod val="1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F1BD58A-FBAC-DEC7-1957-FDA8D01BC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7644" y="0"/>
            <a:ext cx="2724356" cy="96670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30EF13FC-B94A-754B-AB8F-AB00BFBE12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2401" y="82788"/>
            <a:ext cx="884895" cy="905839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6DC9262B-770C-8826-D289-0CD51FB449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411" y="1828074"/>
            <a:ext cx="5156620" cy="42733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26960" rIns="0" bIns="12696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Open Sans" panose="020B0606030504020204" pitchFamily="34" charset="0"/>
              </a:rPr>
              <a:t>总体目标</a:t>
            </a:r>
            <a:endParaRPr kumimoji="0" lang="en-US" altLang="zh-CN" sz="1600" b="1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ea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Open Sans" panose="020B0606030504020204" pitchFamily="34" charset="0"/>
              </a:rPr>
              <a:t>建设一个“可查询、可管理、可交互、可扩展”的校园智能服务平台。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ea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600" b="1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ea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600" b="1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ea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Open Sans" panose="020B0606030504020204" pitchFamily="34" charset="0"/>
              </a:rPr>
              <a:t>用户服务目标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Open Sans" panose="020B0606030504020204" pitchFamily="34" charset="0"/>
              </a:rPr>
              <a:t>-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Open Sans" panose="020B0606030504020204" pitchFamily="34" charset="0"/>
              </a:rPr>
              <a:t>支持用户注册、登录和个人信息管理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zh-CN" sz="1600" dirty="0">
                <a:solidFill>
                  <a:srgbClr val="333333"/>
                </a:solidFill>
                <a:ea typeface="Open Sans" panose="020B0606030504020204" pitchFamily="34" charset="0"/>
              </a:rPr>
              <a:t>-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Open Sans" panose="020B0606030504020204" pitchFamily="34" charset="0"/>
              </a:rPr>
              <a:t>支持课程、食堂、菜品、评价等信息查询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Open Sans" panose="020B0606030504020204" pitchFamily="34" charset="0"/>
              </a:rPr>
              <a:t>-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Open Sans" panose="020B0606030504020204" pitchFamily="34" charset="0"/>
              </a:rPr>
              <a:t>支持校园生活信息浏览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Open Sans" panose="020B0606030504020204" pitchFamily="34" charset="0"/>
              </a:rPr>
              <a:t>-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Open Sans" panose="020B0606030504020204" pitchFamily="34" charset="0"/>
              </a:rPr>
              <a:t>支持通过自然语言向AI提问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D64C251-CB35-DFEE-D2A5-B46D3B277DDA}"/>
              </a:ext>
            </a:extLst>
          </p:cNvPr>
          <p:cNvSpPr txBox="1"/>
          <p:nvPr/>
        </p:nvSpPr>
        <p:spPr>
          <a:xfrm>
            <a:off x="6255757" y="1824831"/>
            <a:ext cx="5007372" cy="3741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1600" b="1" dirty="0">
                <a:solidFill>
                  <a:srgbClr val="333333"/>
                </a:solidFill>
                <a:latin typeface="Arial" panose="020B0604020202020204" pitchFamily="34" charset="0"/>
                <a:ea typeface="Open Sans" panose="020B0606030504020204" pitchFamily="34" charset="0"/>
              </a:rPr>
              <a:t>管理目标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rgbClr val="333333"/>
                </a:solidFill>
                <a:latin typeface="Arial" panose="020B0604020202020204" pitchFamily="34" charset="0"/>
                <a:ea typeface="Open Sans" panose="020B0606030504020204" pitchFamily="34" charset="0"/>
              </a:rPr>
              <a:t>- </a:t>
            </a:r>
            <a:r>
              <a:rPr lang="zh-CN" altLang="zh-CN" sz="1600" dirty="0">
                <a:solidFill>
                  <a:srgbClr val="333333"/>
                </a:solidFill>
                <a:latin typeface="Arial" panose="020B0604020202020204" pitchFamily="34" charset="0"/>
                <a:ea typeface="Open Sans" panose="020B0606030504020204" pitchFamily="34" charset="0"/>
              </a:rPr>
              <a:t>支持管理员维护核心业务数据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rgbClr val="333333"/>
                </a:solidFill>
                <a:latin typeface="Arial" panose="020B0604020202020204" pitchFamily="34" charset="0"/>
                <a:ea typeface="Open Sans" panose="020B0606030504020204" pitchFamily="34" charset="0"/>
              </a:rPr>
              <a:t>- </a:t>
            </a:r>
            <a:r>
              <a:rPr lang="zh-CN" altLang="zh-CN" sz="1600" dirty="0">
                <a:solidFill>
                  <a:srgbClr val="333333"/>
                </a:solidFill>
                <a:latin typeface="Arial" panose="020B0604020202020204" pitchFamily="34" charset="0"/>
                <a:ea typeface="Open Sans" panose="020B0606030504020204" pitchFamily="34" charset="0"/>
              </a:rPr>
              <a:t>支持对课程、菜品、地点、评论、用户进行统一管理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rgbClr val="333333"/>
                </a:solidFill>
                <a:latin typeface="Arial" panose="020B0604020202020204" pitchFamily="34" charset="0"/>
                <a:ea typeface="Open Sans" panose="020B0606030504020204" pitchFamily="34" charset="0"/>
              </a:rPr>
              <a:t>- </a:t>
            </a:r>
            <a:r>
              <a:rPr lang="zh-CN" altLang="zh-CN" sz="1600" dirty="0">
                <a:solidFill>
                  <a:srgbClr val="333333"/>
                </a:solidFill>
                <a:latin typeface="Arial" panose="020B0604020202020204" pitchFamily="34" charset="0"/>
                <a:ea typeface="Open Sans" panose="020B0606030504020204" pitchFamily="34" charset="0"/>
              </a:rPr>
              <a:t>降低数据维护的</a:t>
            </a:r>
            <a:r>
              <a:rPr lang="zh-CN" altLang="zh-CN" sz="1600" b="1" dirty="0">
                <a:solidFill>
                  <a:srgbClr val="333333"/>
                </a:solidFill>
                <a:latin typeface="Arial" panose="020B0604020202020204" pitchFamily="34" charset="0"/>
              </a:rPr>
              <a:t>人工</a:t>
            </a:r>
            <a:r>
              <a:rPr lang="zh-CN" altLang="zh-CN" sz="1600" dirty="0">
                <a:solidFill>
                  <a:srgbClr val="333333"/>
                </a:solidFill>
                <a:latin typeface="Arial" panose="020B0604020202020204" pitchFamily="34" charset="0"/>
                <a:ea typeface="Open Sans" panose="020B0606030504020204" pitchFamily="34" charset="0"/>
              </a:rPr>
              <a:t>成本</a:t>
            </a:r>
            <a:endParaRPr lang="en-US" altLang="zh-CN" sz="1600" dirty="0">
              <a:solidFill>
                <a:srgbClr val="333333"/>
              </a:solidFill>
              <a:latin typeface="Arial" panose="020B0604020202020204" pitchFamily="34" charset="0"/>
              <a:ea typeface="Open Sans" panose="020B0606030504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zh-CN" altLang="zh-CN" sz="1600" dirty="0">
              <a:solidFill>
                <a:srgbClr val="333333"/>
              </a:solidFill>
              <a:latin typeface="Arial" panose="020B0604020202020204" pitchFamily="34" charset="0"/>
              <a:ea typeface="Open Sans" panose="020B0606030504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1600" b="1" dirty="0">
                <a:solidFill>
                  <a:srgbClr val="333333"/>
                </a:solidFill>
                <a:latin typeface="Arial" panose="020B0604020202020204" pitchFamily="34" charset="0"/>
                <a:ea typeface="Open Sans" panose="020B0606030504020204" pitchFamily="34" charset="0"/>
              </a:rPr>
              <a:t>技术目标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rgbClr val="333333"/>
                </a:solidFill>
                <a:latin typeface="Arial" panose="020B0604020202020204" pitchFamily="34" charset="0"/>
                <a:ea typeface="Open Sans" panose="020B0606030504020204" pitchFamily="34" charset="0"/>
              </a:rPr>
              <a:t>- </a:t>
            </a:r>
            <a:r>
              <a:rPr lang="zh-CN" altLang="zh-CN" sz="1600" dirty="0">
                <a:solidFill>
                  <a:srgbClr val="333333"/>
                </a:solidFill>
                <a:latin typeface="Arial" panose="020B0604020202020204" pitchFamily="34" charset="0"/>
                <a:ea typeface="Open Sans" panose="020B0606030504020204" pitchFamily="34" charset="0"/>
              </a:rPr>
              <a:t>建立前后端分离系统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rgbClr val="333333"/>
                </a:solidFill>
                <a:latin typeface="Arial" panose="020B0604020202020204" pitchFamily="34" charset="0"/>
                <a:ea typeface="Open Sans" panose="020B0606030504020204" pitchFamily="34" charset="0"/>
              </a:rPr>
              <a:t>- </a:t>
            </a:r>
            <a:r>
              <a:rPr lang="zh-CN" altLang="zh-CN" sz="1600" dirty="0">
                <a:solidFill>
                  <a:srgbClr val="333333"/>
                </a:solidFill>
                <a:latin typeface="Arial" panose="020B0604020202020204" pitchFamily="34" charset="0"/>
                <a:ea typeface="Open Sans" panose="020B0606030504020204" pitchFamily="34" charset="0"/>
              </a:rPr>
              <a:t>提供清晰接口边界和可维护数据结构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rgbClr val="333333"/>
                </a:solidFill>
                <a:latin typeface="Arial" panose="020B0604020202020204" pitchFamily="34" charset="0"/>
                <a:ea typeface="Open Sans" panose="020B0606030504020204" pitchFamily="34" charset="0"/>
              </a:rPr>
              <a:t>- </a:t>
            </a:r>
            <a:r>
              <a:rPr lang="zh-CN" altLang="zh-CN" sz="1600" dirty="0">
                <a:solidFill>
                  <a:srgbClr val="333333"/>
                </a:solidFill>
                <a:latin typeface="Arial" panose="020B0604020202020204" pitchFamily="34" charset="0"/>
                <a:ea typeface="Open Sans" panose="020B0606030504020204" pitchFamily="34" charset="0"/>
              </a:rPr>
              <a:t>支持流式AI对话、文件上传和基础鉴权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rgbClr val="333333"/>
                </a:solidFill>
                <a:latin typeface="Arial" panose="020B0604020202020204" pitchFamily="34" charset="0"/>
                <a:ea typeface="Open Sans" panose="020B0606030504020204" pitchFamily="34" charset="0"/>
              </a:rPr>
              <a:t>- </a:t>
            </a:r>
            <a:r>
              <a:rPr lang="zh-CN" altLang="zh-CN" sz="1600" dirty="0">
                <a:solidFill>
                  <a:srgbClr val="333333"/>
                </a:solidFill>
                <a:latin typeface="Arial" panose="020B0604020202020204" pitchFamily="34" charset="0"/>
                <a:ea typeface="Open Sans" panose="020B0606030504020204" pitchFamily="34" charset="0"/>
              </a:rPr>
              <a:t>便于后续继续拓展推荐、知识库、移动端等能力</a:t>
            </a:r>
          </a:p>
        </p:txBody>
      </p:sp>
    </p:spTree>
    <p:extLst>
      <p:ext uri="{BB962C8B-B14F-4D97-AF65-F5344CB8AC3E}">
        <p14:creationId xmlns:p14="http://schemas.microsoft.com/office/powerpoint/2010/main" val="436328729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FF697-F674-4FD0-78AB-686F7270B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直线连接符 22">
            <a:extLst>
              <a:ext uri="{FF2B5EF4-FFF2-40B4-BE49-F238E27FC236}">
                <a16:creationId xmlns:a16="http://schemas.microsoft.com/office/drawing/2014/main" id="{70163AB1-B2A6-6829-8C15-424CC2845185}"/>
              </a:ext>
            </a:extLst>
          </p:cNvPr>
          <p:cNvCxnSpPr>
            <a:cxnSpLocks/>
          </p:cNvCxnSpPr>
          <p:nvPr/>
        </p:nvCxnSpPr>
        <p:spPr>
          <a:xfrm>
            <a:off x="0" y="1010143"/>
            <a:ext cx="12192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21FCD5F0-386B-ED51-4511-644B92858316}"/>
              </a:ext>
            </a:extLst>
          </p:cNvPr>
          <p:cNvSpPr txBox="1"/>
          <p:nvPr/>
        </p:nvSpPr>
        <p:spPr>
          <a:xfrm>
            <a:off x="802093" y="245183"/>
            <a:ext cx="4665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 spc="300" dirty="0">
                <a:solidFill>
                  <a:srgbClr val="06449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 </a:t>
            </a:r>
            <a:r>
              <a:rPr kumimoji="1" lang="zh-CN" altLang="en-US" sz="2800" b="1" spc="300" dirty="0">
                <a:solidFill>
                  <a:srgbClr val="06449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需求分析</a:t>
            </a:r>
            <a:endParaRPr kumimoji="1" lang="en-US" altLang="zh-CN" sz="2400" b="1" spc="300" dirty="0">
              <a:solidFill>
                <a:srgbClr val="06449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5DE5B41E-0B63-76C8-E525-4CFCDD8ED548}"/>
              </a:ext>
            </a:extLst>
          </p:cNvPr>
          <p:cNvSpPr/>
          <p:nvPr/>
        </p:nvSpPr>
        <p:spPr>
          <a:xfrm>
            <a:off x="421100" y="364783"/>
            <a:ext cx="284020" cy="284020"/>
          </a:xfrm>
          <a:prstGeom prst="ellipse">
            <a:avLst/>
          </a:prstGeom>
          <a:solidFill>
            <a:srgbClr val="0644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rgbClr val="06449A"/>
              </a:solidFill>
            </a:endParaRPr>
          </a:p>
        </p:txBody>
      </p:sp>
      <p:sp>
        <p:nvSpPr>
          <p:cNvPr id="96" name="单圆角矩形 3">
            <a:extLst>
              <a:ext uri="{FF2B5EF4-FFF2-40B4-BE49-F238E27FC236}">
                <a16:creationId xmlns:a16="http://schemas.microsoft.com/office/drawing/2014/main" id="{19DA0131-70FF-2331-FDC5-7C072FB36351}"/>
              </a:ext>
            </a:extLst>
          </p:cNvPr>
          <p:cNvSpPr/>
          <p:nvPr/>
        </p:nvSpPr>
        <p:spPr>
          <a:xfrm flipV="1">
            <a:off x="124216" y="1734320"/>
            <a:ext cx="1298832" cy="607871"/>
          </a:xfrm>
          <a:prstGeom prst="round1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bg1"/>
              </a:solidFill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B0080BF2-A27E-6000-B79D-BF29B2615916}"/>
              </a:ext>
            </a:extLst>
          </p:cNvPr>
          <p:cNvSpPr txBox="1"/>
          <p:nvPr/>
        </p:nvSpPr>
        <p:spPr>
          <a:xfrm>
            <a:off x="124216" y="6145096"/>
            <a:ext cx="1228449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kumimoji="1" lang="zh-CN" altLang="en-US" sz="1600" b="1" spc="3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参考文献</a:t>
            </a:r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93B696FA-A595-5885-C707-7C7A1E9E2473}"/>
              </a:ext>
            </a:extLst>
          </p:cNvPr>
          <p:cNvSpPr txBox="1"/>
          <p:nvPr/>
        </p:nvSpPr>
        <p:spPr>
          <a:xfrm>
            <a:off x="113043" y="2704889"/>
            <a:ext cx="1228449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kumimoji="1" lang="zh-CN" altLang="en-US" sz="1600" b="1" spc="3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国内外研究概况</a:t>
            </a: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8038C936-868B-CD4C-6119-7350003AD7AC}"/>
              </a:ext>
            </a:extLst>
          </p:cNvPr>
          <p:cNvSpPr txBox="1"/>
          <p:nvPr/>
        </p:nvSpPr>
        <p:spPr>
          <a:xfrm>
            <a:off x="113043" y="3568337"/>
            <a:ext cx="1268709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 algn="ctr">
              <a:defRPr kumimoji="1" sz="1400" b="1" spc="3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sz="1600" dirty="0"/>
              <a:t>主要研究内容</a:t>
            </a: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2BA8EEA5-0703-72B0-2F0A-E893ABCC7E85}"/>
              </a:ext>
            </a:extLst>
          </p:cNvPr>
          <p:cNvSpPr txBox="1"/>
          <p:nvPr/>
        </p:nvSpPr>
        <p:spPr>
          <a:xfrm>
            <a:off x="124216" y="5263082"/>
            <a:ext cx="1228449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 algn="ctr">
              <a:defRPr kumimoji="1" sz="1400" b="1" spc="3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sz="1600" dirty="0"/>
              <a:t>计划与进度安排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6C4D5C1-52AA-8EF4-4D89-9C23F966E5B2}"/>
              </a:ext>
            </a:extLst>
          </p:cNvPr>
          <p:cNvSpPr txBox="1"/>
          <p:nvPr/>
        </p:nvSpPr>
        <p:spPr>
          <a:xfrm>
            <a:off x="153303" y="4471861"/>
            <a:ext cx="1228449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 algn="ctr">
              <a:defRPr kumimoji="1" sz="1400" b="1" spc="3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sz="1600" dirty="0"/>
              <a:t>研究进展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BF7970B-2305-FF9C-7DE9-6DC7AC620DB2}"/>
              </a:ext>
            </a:extLst>
          </p:cNvPr>
          <p:cNvSpPr txBox="1"/>
          <p:nvPr/>
        </p:nvSpPr>
        <p:spPr>
          <a:xfrm>
            <a:off x="301584" y="1337021"/>
            <a:ext cx="509979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4330" marR="0" lvl="0" indent="-354330" algn="l" defTabSz="914400" rtl="0" eaLnBrk="1" fontAlgn="base" latinLnBrk="0" hangingPunct="1">
              <a:lnSpc>
                <a:spcPct val="100000"/>
              </a:lnSpc>
              <a:spcBef>
                <a:spcPct val="45000"/>
              </a:spcBef>
              <a:spcAft>
                <a:spcPct val="0"/>
              </a:spcAft>
              <a:buClr>
                <a:srgbClr val="FBB030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6449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功能需求</a:t>
            </a:r>
            <a:endParaRPr lang="en-US" altLang="zh-CN" sz="2400" b="1" kern="0" dirty="0">
              <a:solidFill>
                <a:srgbClr val="EEECE1">
                  <a:lumMod val="1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555FCF9-E903-6DF9-FF6A-4DBE68A697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7644" y="0"/>
            <a:ext cx="2724356" cy="96670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C2607AB6-AAD0-ADD7-3E67-152BCED80A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2401" y="82788"/>
            <a:ext cx="884895" cy="905839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135326AB-1E5C-5E01-1FCC-D32CEBC8AA6B}"/>
              </a:ext>
            </a:extLst>
          </p:cNvPr>
          <p:cNvSpPr txBox="1"/>
          <p:nvPr/>
        </p:nvSpPr>
        <p:spPr>
          <a:xfrm>
            <a:off x="421100" y="2076814"/>
            <a:ext cx="10952024" cy="4805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1</a:t>
            </a:r>
            <a:r>
              <a:rPr lang="zh-CN" altLang="en-US" sz="2000" b="1" dirty="0"/>
              <a:t>、资料查询功能：</a:t>
            </a:r>
            <a:endParaRPr lang="en-US" altLang="zh-CN" sz="2000" b="1" dirty="0"/>
          </a:p>
          <a:p>
            <a:pPr>
              <a:lnSpc>
                <a:spcPct val="150000"/>
              </a:lnSpc>
            </a:pPr>
            <a:r>
              <a:rPr lang="zh-CN" altLang="en-US" sz="1600" b="1" dirty="0"/>
              <a:t>（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）生活资料查询</a:t>
            </a:r>
            <a:r>
              <a:rPr lang="zh-CN" altLang="en-US" sz="1600" dirty="0"/>
              <a:t>：涵盖校园设施使用指南（如体育馆、图书馆开放时间与使用规则）。</a:t>
            </a:r>
          </a:p>
          <a:p>
            <a:pPr>
              <a:lnSpc>
                <a:spcPct val="150000"/>
              </a:lnSpc>
            </a:pPr>
            <a:r>
              <a:rPr lang="zh-CN" altLang="en-US" sz="1600" b="1" dirty="0"/>
              <a:t>（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）学习资料查询</a:t>
            </a:r>
            <a:r>
              <a:rPr lang="zh-CN" altLang="en-US" sz="1600" dirty="0"/>
              <a:t>：提供课程相关资料，包括课程评价、课后作业参考答案、课程拓展阅读材料。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/>
              <a:t>2</a:t>
            </a:r>
            <a:r>
              <a:rPr lang="zh-CN" altLang="en-US" sz="2000" b="1" dirty="0"/>
              <a:t>、智能交互功能</a:t>
            </a:r>
            <a:endParaRPr lang="en-US" altLang="zh-CN" sz="1600" b="1" dirty="0"/>
          </a:p>
          <a:p>
            <a:pPr>
              <a:lnSpc>
                <a:spcPct val="150000"/>
              </a:lnSpc>
            </a:pPr>
            <a:r>
              <a:rPr lang="zh-CN" altLang="en-US" sz="1600" b="1" dirty="0"/>
              <a:t>智能问答：</a:t>
            </a:r>
            <a:r>
              <a:rPr lang="zh-CN" altLang="en-US" sz="1600" dirty="0"/>
              <a:t>针对用户查询，不仅能直接提供准确答案，还能以通俗易懂、简洁明了的语言进行解释和说明。对于复杂问题，可进行多轮对话，引导用户明确需求。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/>
              <a:t>3</a:t>
            </a:r>
            <a:r>
              <a:rPr lang="zh-CN" altLang="en-US" sz="2000" b="1" dirty="0"/>
              <a:t>、资料管理功能</a:t>
            </a:r>
            <a:endParaRPr lang="zh-CN" altLang="en-US" sz="2000" dirty="0"/>
          </a:p>
          <a:p>
            <a:pPr>
              <a:lnSpc>
                <a:spcPct val="150000"/>
              </a:lnSpc>
            </a:pPr>
            <a:r>
              <a:rPr lang="zh-CN" altLang="en-US" sz="1600" b="1" dirty="0"/>
              <a:t>（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）资料上传与审核</a:t>
            </a:r>
            <a:r>
              <a:rPr lang="zh-CN" altLang="en-US" sz="1600" dirty="0"/>
              <a:t>：教师或学校相关管理人员可上传各类学习资料、规章制度等信息，上传后需经过审核流程，确保资料的准确性和合规性。</a:t>
            </a:r>
          </a:p>
          <a:p>
            <a:pPr>
              <a:lnSpc>
                <a:spcPct val="150000"/>
              </a:lnSpc>
            </a:pPr>
            <a:r>
              <a:rPr lang="zh-CN" altLang="en-US" sz="1600" b="1" dirty="0"/>
              <a:t>（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）资料更新与维护</a:t>
            </a:r>
            <a:r>
              <a:rPr lang="zh-CN" altLang="en-US" sz="1600" dirty="0"/>
              <a:t>：能够及时更新知识库中的资料，保证信息的时效性。对于过期或错误的信息可进行删除或修正操作。</a:t>
            </a:r>
          </a:p>
          <a:p>
            <a:pPr>
              <a:lnSpc>
                <a:spcPct val="150000"/>
              </a:lnSpc>
            </a:pPr>
            <a:endParaRPr lang="en-US" altLang="zh-CN" b="1" dirty="0"/>
          </a:p>
        </p:txBody>
      </p:sp>
    </p:spTree>
    <p:extLst>
      <p:ext uri="{BB962C8B-B14F-4D97-AF65-F5344CB8AC3E}">
        <p14:creationId xmlns:p14="http://schemas.microsoft.com/office/powerpoint/2010/main" val="3534308442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7DFFF-71F3-6642-2E06-F2BD7EF0E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直线连接符 22">
            <a:extLst>
              <a:ext uri="{FF2B5EF4-FFF2-40B4-BE49-F238E27FC236}">
                <a16:creationId xmlns:a16="http://schemas.microsoft.com/office/drawing/2014/main" id="{C73EE298-E330-36B1-C5DC-90408680CA92}"/>
              </a:ext>
            </a:extLst>
          </p:cNvPr>
          <p:cNvCxnSpPr>
            <a:cxnSpLocks/>
          </p:cNvCxnSpPr>
          <p:nvPr/>
        </p:nvCxnSpPr>
        <p:spPr>
          <a:xfrm>
            <a:off x="0" y="1010143"/>
            <a:ext cx="12192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6B6FD29C-476E-8E34-23D4-2D703BCCBEEC}"/>
              </a:ext>
            </a:extLst>
          </p:cNvPr>
          <p:cNvSpPr txBox="1"/>
          <p:nvPr/>
        </p:nvSpPr>
        <p:spPr>
          <a:xfrm>
            <a:off x="802093" y="245183"/>
            <a:ext cx="4665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 spc="300" dirty="0">
                <a:solidFill>
                  <a:srgbClr val="06449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 </a:t>
            </a:r>
            <a:r>
              <a:rPr kumimoji="1" lang="zh-CN" altLang="en-US" sz="2800" b="1" spc="300" dirty="0">
                <a:solidFill>
                  <a:srgbClr val="06449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需求分析</a:t>
            </a:r>
            <a:endParaRPr kumimoji="1" lang="en-US" altLang="zh-CN" sz="2400" b="1" spc="300" dirty="0">
              <a:solidFill>
                <a:srgbClr val="06449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816FBC25-4B62-27C8-C5A4-DBF74EC35654}"/>
              </a:ext>
            </a:extLst>
          </p:cNvPr>
          <p:cNvSpPr/>
          <p:nvPr/>
        </p:nvSpPr>
        <p:spPr>
          <a:xfrm>
            <a:off x="421100" y="364783"/>
            <a:ext cx="284020" cy="284020"/>
          </a:xfrm>
          <a:prstGeom prst="ellipse">
            <a:avLst/>
          </a:prstGeom>
          <a:solidFill>
            <a:srgbClr val="0644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rgbClr val="06449A"/>
              </a:solidFill>
            </a:endParaRPr>
          </a:p>
        </p:txBody>
      </p:sp>
      <p:sp>
        <p:nvSpPr>
          <p:cNvPr id="96" name="单圆角矩形 3">
            <a:extLst>
              <a:ext uri="{FF2B5EF4-FFF2-40B4-BE49-F238E27FC236}">
                <a16:creationId xmlns:a16="http://schemas.microsoft.com/office/drawing/2014/main" id="{B58287A7-9D7F-49B0-DD8B-1B98F329B907}"/>
              </a:ext>
            </a:extLst>
          </p:cNvPr>
          <p:cNvSpPr/>
          <p:nvPr/>
        </p:nvSpPr>
        <p:spPr>
          <a:xfrm flipV="1">
            <a:off x="124216" y="1734320"/>
            <a:ext cx="1298832" cy="607871"/>
          </a:xfrm>
          <a:prstGeom prst="round1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bg1"/>
              </a:solidFill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99C55B35-50B4-1164-A9C6-F601E80C812F}"/>
              </a:ext>
            </a:extLst>
          </p:cNvPr>
          <p:cNvSpPr txBox="1"/>
          <p:nvPr/>
        </p:nvSpPr>
        <p:spPr>
          <a:xfrm>
            <a:off x="124216" y="6145096"/>
            <a:ext cx="1228449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kumimoji="1" lang="zh-CN" altLang="en-US" sz="1600" b="1" spc="3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参考文献</a:t>
            </a:r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5C25EB6E-A883-9518-E376-2DE9443BE455}"/>
              </a:ext>
            </a:extLst>
          </p:cNvPr>
          <p:cNvSpPr txBox="1"/>
          <p:nvPr/>
        </p:nvSpPr>
        <p:spPr>
          <a:xfrm>
            <a:off x="113043" y="2704889"/>
            <a:ext cx="1228449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kumimoji="1" lang="zh-CN" altLang="en-US" sz="1600" b="1" spc="3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国内外研究概况</a:t>
            </a: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9E0D293F-B147-F6DC-E8BB-1403EB3AEFE1}"/>
              </a:ext>
            </a:extLst>
          </p:cNvPr>
          <p:cNvSpPr txBox="1"/>
          <p:nvPr/>
        </p:nvSpPr>
        <p:spPr>
          <a:xfrm>
            <a:off x="113043" y="3568337"/>
            <a:ext cx="1268709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 algn="ctr">
              <a:defRPr kumimoji="1" sz="1400" b="1" spc="3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sz="1600" dirty="0"/>
              <a:t>主要研究内容</a:t>
            </a: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9302C258-5B26-28B3-ABA3-5DB09058788F}"/>
              </a:ext>
            </a:extLst>
          </p:cNvPr>
          <p:cNvSpPr txBox="1"/>
          <p:nvPr/>
        </p:nvSpPr>
        <p:spPr>
          <a:xfrm>
            <a:off x="124216" y="5263082"/>
            <a:ext cx="1228449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 algn="ctr">
              <a:defRPr kumimoji="1" sz="1400" b="1" spc="3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sz="1600" dirty="0"/>
              <a:t>计划与进度安排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CF3BD29-1841-1A34-493F-BD28D92A1111}"/>
              </a:ext>
            </a:extLst>
          </p:cNvPr>
          <p:cNvSpPr txBox="1"/>
          <p:nvPr/>
        </p:nvSpPr>
        <p:spPr>
          <a:xfrm>
            <a:off x="153303" y="4471861"/>
            <a:ext cx="1228449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 algn="ctr">
              <a:defRPr kumimoji="1" sz="1400" b="1" spc="3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sz="1600" dirty="0"/>
              <a:t>研究进展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FFBEFE7-10D8-FB1A-506F-E7278C9409A7}"/>
              </a:ext>
            </a:extLst>
          </p:cNvPr>
          <p:cNvSpPr txBox="1"/>
          <p:nvPr/>
        </p:nvSpPr>
        <p:spPr>
          <a:xfrm>
            <a:off x="301584" y="1251884"/>
            <a:ext cx="509979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4330" marR="0" lvl="0" indent="-354330" algn="l" defTabSz="914400" rtl="0" eaLnBrk="1" fontAlgn="base" latinLnBrk="0" hangingPunct="1">
              <a:lnSpc>
                <a:spcPct val="100000"/>
              </a:lnSpc>
              <a:spcBef>
                <a:spcPct val="45000"/>
              </a:spcBef>
              <a:spcAft>
                <a:spcPct val="0"/>
              </a:spcAft>
              <a:buClr>
                <a:srgbClr val="FBB030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6449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非功能需求</a:t>
            </a:r>
            <a:endParaRPr lang="en-US" altLang="zh-CN" sz="2400" b="1" kern="0" dirty="0">
              <a:solidFill>
                <a:srgbClr val="EEECE1">
                  <a:lumMod val="1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CE0A612-215F-6C09-2B2C-C61174844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7644" y="0"/>
            <a:ext cx="2724356" cy="96670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99FDFE90-EFC8-076F-A3E5-A95D0375F9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2401" y="82788"/>
            <a:ext cx="884895" cy="905839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319764AC-25A2-1D76-6DF6-63B46132CD1B}"/>
              </a:ext>
            </a:extLst>
          </p:cNvPr>
          <p:cNvSpPr txBox="1"/>
          <p:nvPr/>
        </p:nvSpPr>
        <p:spPr>
          <a:xfrm>
            <a:off x="452073" y="1836659"/>
            <a:ext cx="5643927" cy="4856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/>
              <a:t>1</a:t>
            </a:r>
            <a:r>
              <a:rPr lang="zh-CN" altLang="en-US" sz="1600" b="1" dirty="0"/>
              <a:t>、前端性能</a:t>
            </a:r>
            <a:endParaRPr lang="zh-CN" altLang="en-US" sz="1600" dirty="0"/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/>
              <a:t>-</a:t>
            </a:r>
            <a:r>
              <a:rPr lang="zh-CN" altLang="zh-CN" sz="1600" dirty="0"/>
              <a:t>常规页面应在可接受时间内完成首屏渲染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/>
              <a:t>-</a:t>
            </a:r>
            <a:r>
              <a:rPr lang="zh-CN" altLang="zh-CN" sz="1600" dirty="0"/>
              <a:t>普通列表页数据加载应尽量控制在 3 秒内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/>
              <a:t>-</a:t>
            </a:r>
            <a:r>
              <a:rPr lang="zh-CN" altLang="zh-CN" sz="1600" dirty="0"/>
              <a:t>聊天页面切换会话时应避免明显卡顿</a:t>
            </a:r>
            <a:endParaRPr lang="en-US" altLang="zh-CN" sz="1600" dirty="0"/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/>
              <a:t>2</a:t>
            </a:r>
            <a:r>
              <a:rPr lang="zh-CN" altLang="en-US" sz="1600" b="1" dirty="0"/>
              <a:t>、后端性能</a:t>
            </a:r>
            <a:endParaRPr lang="en-US" altLang="zh-CN" sz="1600" b="1" dirty="0"/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/>
              <a:t>- </a:t>
            </a:r>
            <a:r>
              <a:rPr lang="zh-CN" altLang="zh-CN" sz="1600" dirty="0"/>
              <a:t>常规查询接口应保持稳定响应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/>
              <a:t>- </a:t>
            </a:r>
            <a:r>
              <a:rPr lang="zh-CN" altLang="zh-CN" sz="1600" dirty="0"/>
              <a:t>分页查询应支持基础性能优化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/>
              <a:t>- </a:t>
            </a:r>
            <a:r>
              <a:rPr lang="zh-CN" altLang="zh-CN" sz="1600" dirty="0"/>
              <a:t>流式聊天接口应尽快返回首段内容，减少等待感</a:t>
            </a:r>
          </a:p>
          <a:p>
            <a:pPr>
              <a:lnSpc>
                <a:spcPct val="150000"/>
              </a:lnSpc>
            </a:pPr>
            <a:r>
              <a:rPr lang="en-US" altLang="zh-CN" sz="1600" b="1" dirty="0"/>
              <a:t>3</a:t>
            </a:r>
            <a:r>
              <a:rPr lang="zh-CN" altLang="en-US" sz="1600" b="1" dirty="0"/>
              <a:t>、可靠性需求</a:t>
            </a:r>
            <a:endParaRPr lang="zh-CN" altLang="en-US" sz="1600" dirty="0"/>
          </a:p>
          <a:p>
            <a:pPr>
              <a:lnSpc>
                <a:spcPct val="150000"/>
              </a:lnSpc>
            </a:pPr>
            <a:r>
              <a:rPr lang="zh-CN" altLang="en-US" sz="1600" dirty="0"/>
              <a:t>定期对知识库中的数据进行备份，防止数据丢失。在出现系统故障或数据损坏时，能够快速恢复数据，保证服务的连续性。当用户输入错误信息或不合理请求时，智能体应能友好提示用户纠正，而不是出现错误界面或系统异常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71DE594-24EB-4009-8E73-F2AF903E0E29}"/>
              </a:ext>
            </a:extLst>
          </p:cNvPr>
          <p:cNvSpPr txBox="1"/>
          <p:nvPr/>
        </p:nvSpPr>
        <p:spPr>
          <a:xfrm>
            <a:off x="6196914" y="1384413"/>
            <a:ext cx="5387935" cy="6513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/>
              <a:t>4</a:t>
            </a:r>
            <a:r>
              <a:rPr lang="zh-CN" altLang="en-US" b="1" dirty="0"/>
              <a:t>、易用性需求</a:t>
            </a:r>
            <a:endParaRPr lang="zh-CN" altLang="en-US" dirty="0"/>
          </a:p>
          <a:p>
            <a:pPr>
              <a:lnSpc>
                <a:spcPct val="150000"/>
              </a:lnSpc>
            </a:pPr>
            <a:r>
              <a:rPr lang="zh-CN" altLang="en-US" dirty="0"/>
              <a:t>交互界面应简洁直观，操作流程简单易懂，便于师生快速上手使用。提供清晰的导航栏和搜索框，方便用户查找所需功能。</a:t>
            </a:r>
            <a:endParaRPr lang="en-US" altLang="zh-CN" b="1" dirty="0"/>
          </a:p>
          <a:p>
            <a:pPr>
              <a:lnSpc>
                <a:spcPct val="150000"/>
              </a:lnSpc>
            </a:pPr>
            <a:r>
              <a:rPr lang="en-US" altLang="zh-CN" b="1" dirty="0"/>
              <a:t>5</a:t>
            </a:r>
            <a:r>
              <a:rPr lang="zh-CN" altLang="en-US" b="1" dirty="0"/>
              <a:t>、安全性需求</a:t>
            </a:r>
            <a:endParaRPr lang="zh-CN" altLang="en-US" dirty="0"/>
          </a:p>
          <a:p>
            <a:pPr>
              <a:lnSpc>
                <a:spcPct val="150000"/>
              </a:lnSpc>
            </a:pPr>
            <a:r>
              <a:rPr lang="zh-CN" altLang="en-US" dirty="0"/>
              <a:t>师生需通过学校统一身份认证系统登录智能体，确保用户身份合法。不同用户角色（学生、教师、管理员）拥有不同的操作权限，防止信息泄露和非法操作。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b="1" dirty="0"/>
              <a:t>6</a:t>
            </a:r>
            <a:r>
              <a:rPr lang="zh-CN" altLang="en-US" b="1" dirty="0"/>
              <a:t>、文件处理需求</a:t>
            </a:r>
            <a:endParaRPr lang="zh-CN" altLang="zh-CN" sz="2800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dirty="0"/>
              <a:t>- </a:t>
            </a:r>
            <a:r>
              <a:rPr lang="zh-CN" altLang="zh-CN" dirty="0"/>
              <a:t>文件上传应支持中等体量文件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dirty="0"/>
              <a:t>- </a:t>
            </a:r>
            <a:r>
              <a:rPr lang="zh-CN" altLang="zh-CN" dirty="0"/>
              <a:t>上传过程失败时应及时返回错误信息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zh-CN" sz="2800" dirty="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/>
              <a:t>。</a:t>
            </a:r>
          </a:p>
          <a:p>
            <a:pPr>
              <a:lnSpc>
                <a:spcPct val="150000"/>
              </a:lnSpc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13281394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20072-66FC-F203-7E68-FC4824B12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直线连接符 22">
            <a:extLst>
              <a:ext uri="{FF2B5EF4-FFF2-40B4-BE49-F238E27FC236}">
                <a16:creationId xmlns:a16="http://schemas.microsoft.com/office/drawing/2014/main" id="{D315F33D-4887-FBAE-6D36-44507921A7C9}"/>
              </a:ext>
            </a:extLst>
          </p:cNvPr>
          <p:cNvCxnSpPr>
            <a:cxnSpLocks/>
          </p:cNvCxnSpPr>
          <p:nvPr/>
        </p:nvCxnSpPr>
        <p:spPr>
          <a:xfrm>
            <a:off x="0" y="1010143"/>
            <a:ext cx="12192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AB760513-9633-1034-C3B0-AD2F9CF76945}"/>
              </a:ext>
            </a:extLst>
          </p:cNvPr>
          <p:cNvSpPr txBox="1"/>
          <p:nvPr/>
        </p:nvSpPr>
        <p:spPr>
          <a:xfrm>
            <a:off x="802093" y="245183"/>
            <a:ext cx="4665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 spc="300" dirty="0">
                <a:solidFill>
                  <a:srgbClr val="06449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 </a:t>
            </a:r>
            <a:r>
              <a:rPr kumimoji="1" lang="zh-CN" altLang="en-US" sz="2800" b="1" spc="300" dirty="0">
                <a:solidFill>
                  <a:srgbClr val="06449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需求分析</a:t>
            </a:r>
            <a:endParaRPr kumimoji="1" lang="en-US" altLang="zh-CN" sz="2400" b="1" spc="300" dirty="0">
              <a:solidFill>
                <a:srgbClr val="06449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665F6CC0-832B-25AF-4EBB-81619198E45F}"/>
              </a:ext>
            </a:extLst>
          </p:cNvPr>
          <p:cNvSpPr/>
          <p:nvPr/>
        </p:nvSpPr>
        <p:spPr>
          <a:xfrm>
            <a:off x="421100" y="364783"/>
            <a:ext cx="284020" cy="284020"/>
          </a:xfrm>
          <a:prstGeom prst="ellipse">
            <a:avLst/>
          </a:prstGeom>
          <a:solidFill>
            <a:srgbClr val="0644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rgbClr val="06449A"/>
              </a:solidFill>
            </a:endParaRPr>
          </a:p>
        </p:txBody>
      </p:sp>
      <p:sp>
        <p:nvSpPr>
          <p:cNvPr id="96" name="单圆角矩形 3">
            <a:extLst>
              <a:ext uri="{FF2B5EF4-FFF2-40B4-BE49-F238E27FC236}">
                <a16:creationId xmlns:a16="http://schemas.microsoft.com/office/drawing/2014/main" id="{C45FD934-B19E-1FC5-DE9D-B054AFA192F8}"/>
              </a:ext>
            </a:extLst>
          </p:cNvPr>
          <p:cNvSpPr/>
          <p:nvPr/>
        </p:nvSpPr>
        <p:spPr>
          <a:xfrm flipV="1">
            <a:off x="124216" y="1734320"/>
            <a:ext cx="1298832" cy="607871"/>
          </a:xfrm>
          <a:prstGeom prst="round1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bg1"/>
              </a:solidFill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FF77B214-E628-5D55-8007-57B52C79C565}"/>
              </a:ext>
            </a:extLst>
          </p:cNvPr>
          <p:cNvSpPr txBox="1"/>
          <p:nvPr/>
        </p:nvSpPr>
        <p:spPr>
          <a:xfrm>
            <a:off x="124216" y="6145096"/>
            <a:ext cx="1228449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kumimoji="1" lang="zh-CN" altLang="en-US" sz="1600" b="1" spc="3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参考文献</a:t>
            </a:r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F4D071D8-FC1C-A816-2503-8DDE3C564169}"/>
              </a:ext>
            </a:extLst>
          </p:cNvPr>
          <p:cNvSpPr txBox="1"/>
          <p:nvPr/>
        </p:nvSpPr>
        <p:spPr>
          <a:xfrm>
            <a:off x="113043" y="2704889"/>
            <a:ext cx="1228449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kumimoji="1" lang="zh-CN" altLang="en-US" sz="1600" b="1" spc="3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国内外研究概况</a:t>
            </a: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D3C42B05-DDA6-6226-90A7-BC9FA59EDE35}"/>
              </a:ext>
            </a:extLst>
          </p:cNvPr>
          <p:cNvSpPr txBox="1"/>
          <p:nvPr/>
        </p:nvSpPr>
        <p:spPr>
          <a:xfrm>
            <a:off x="113043" y="3568337"/>
            <a:ext cx="1268709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 algn="ctr">
              <a:defRPr kumimoji="1" sz="1400" b="1" spc="3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sz="1600" dirty="0"/>
              <a:t>主要研究内容</a:t>
            </a: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7F1DF102-3B1C-82C0-1F41-5959D7139687}"/>
              </a:ext>
            </a:extLst>
          </p:cNvPr>
          <p:cNvSpPr txBox="1"/>
          <p:nvPr/>
        </p:nvSpPr>
        <p:spPr>
          <a:xfrm>
            <a:off x="124216" y="5263082"/>
            <a:ext cx="1228449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 algn="ctr">
              <a:defRPr kumimoji="1" sz="1400" b="1" spc="3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sz="1600" dirty="0"/>
              <a:t>计划与进度安排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8BB0E6E-56E6-81BF-F8F7-C4087DBE87D2}"/>
              </a:ext>
            </a:extLst>
          </p:cNvPr>
          <p:cNvSpPr txBox="1"/>
          <p:nvPr/>
        </p:nvSpPr>
        <p:spPr>
          <a:xfrm>
            <a:off x="153303" y="4471861"/>
            <a:ext cx="1228449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 algn="ctr">
              <a:defRPr kumimoji="1" sz="1400" b="1" spc="3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sz="1600" dirty="0"/>
              <a:t>研究进展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FE81BBA-E751-A9A6-84F7-D0062AFFE15E}"/>
              </a:ext>
            </a:extLst>
          </p:cNvPr>
          <p:cNvSpPr txBox="1"/>
          <p:nvPr/>
        </p:nvSpPr>
        <p:spPr>
          <a:xfrm>
            <a:off x="301584" y="1108760"/>
            <a:ext cx="509979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4330" marR="0" lvl="0" indent="-354330" algn="l" defTabSz="914400" rtl="0" eaLnBrk="1" fontAlgn="base" latinLnBrk="0" hangingPunct="1">
              <a:lnSpc>
                <a:spcPct val="100000"/>
              </a:lnSpc>
              <a:spcBef>
                <a:spcPct val="45000"/>
              </a:spcBef>
              <a:spcAft>
                <a:spcPct val="0"/>
              </a:spcAft>
              <a:buClr>
                <a:srgbClr val="FBB030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6449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可行性分析</a:t>
            </a:r>
            <a:endParaRPr lang="en-US" altLang="zh-CN" sz="2400" b="1" kern="0" dirty="0">
              <a:solidFill>
                <a:srgbClr val="EEECE1">
                  <a:lumMod val="1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CA2B393-50EC-1AEB-36B2-00108C1AE6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7644" y="0"/>
            <a:ext cx="2724356" cy="96670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9E28507B-2476-06B4-BCC5-CAAE9781E8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2401" y="82788"/>
            <a:ext cx="884895" cy="905839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EB54F1C2-4DA8-3759-CF08-9985233748E4}"/>
              </a:ext>
            </a:extLst>
          </p:cNvPr>
          <p:cNvSpPr txBox="1"/>
          <p:nvPr/>
        </p:nvSpPr>
        <p:spPr>
          <a:xfrm>
            <a:off x="421100" y="1792700"/>
            <a:ext cx="11221810" cy="47350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350" b="1" dirty="0"/>
              <a:t>1</a:t>
            </a:r>
            <a:r>
              <a:rPr lang="zh-CN" altLang="en-US" sz="1350" b="1" dirty="0"/>
              <a:t>、技术可行性</a:t>
            </a:r>
          </a:p>
          <a:p>
            <a:pPr>
              <a:lnSpc>
                <a:spcPct val="150000"/>
              </a:lnSpc>
            </a:pPr>
            <a:r>
              <a:rPr lang="zh-CN" altLang="en-US" sz="1350" b="1" dirty="0"/>
              <a:t>（</a:t>
            </a:r>
            <a:r>
              <a:rPr lang="en-US" altLang="zh-CN" sz="1350" b="1" dirty="0"/>
              <a:t>1</a:t>
            </a:r>
            <a:r>
              <a:rPr lang="zh-CN" altLang="en-US" sz="1350" b="1" dirty="0"/>
              <a:t>）</a:t>
            </a:r>
            <a:r>
              <a:rPr lang="en-US" altLang="zh-CN" sz="1350" b="1" dirty="0"/>
              <a:t>Agent </a:t>
            </a:r>
            <a:r>
              <a:rPr lang="zh-CN" altLang="en-US" sz="1350" b="1" dirty="0"/>
              <a:t>架构落地</a:t>
            </a:r>
            <a:r>
              <a:rPr lang="zh-CN" altLang="en-US" sz="1350" dirty="0"/>
              <a:t>：</a:t>
            </a:r>
          </a:p>
          <a:p>
            <a:pPr>
              <a:lnSpc>
                <a:spcPct val="150000"/>
              </a:lnSpc>
            </a:pPr>
            <a:r>
              <a:rPr lang="zh-CN" altLang="en-US" sz="1350" dirty="0"/>
              <a:t>采用 “感知 </a:t>
            </a:r>
            <a:r>
              <a:rPr lang="en-US" altLang="zh-CN" sz="1350" dirty="0"/>
              <a:t>- </a:t>
            </a:r>
            <a:r>
              <a:rPr lang="zh-CN" altLang="en-US" sz="1350" dirty="0"/>
              <a:t>规划 </a:t>
            </a:r>
            <a:r>
              <a:rPr lang="en-US" altLang="zh-CN" sz="1350" dirty="0"/>
              <a:t>- </a:t>
            </a:r>
            <a:r>
              <a:rPr lang="zh-CN" altLang="en-US" sz="1350" dirty="0"/>
              <a:t>执行 </a:t>
            </a:r>
            <a:r>
              <a:rPr lang="en-US" altLang="zh-CN" sz="1350" dirty="0"/>
              <a:t>- </a:t>
            </a:r>
            <a:r>
              <a:rPr lang="zh-CN" altLang="en-US" sz="1350" dirty="0"/>
              <a:t>反馈” 的 </a:t>
            </a:r>
            <a:r>
              <a:rPr lang="en-US" altLang="zh-CN" sz="1350" dirty="0"/>
              <a:t>Agent </a:t>
            </a:r>
            <a:r>
              <a:rPr lang="zh-CN" altLang="en-US" sz="1350" dirty="0"/>
              <a:t>闭环，可基于 </a:t>
            </a:r>
            <a:r>
              <a:rPr lang="en-US" altLang="zh-CN" sz="1350" dirty="0"/>
              <a:t>LangChain Agent</a:t>
            </a:r>
            <a:r>
              <a:rPr lang="zh-CN" altLang="en-US" sz="1350" dirty="0"/>
              <a:t>成熟框架快速搭建，无需自研底层逻辑；</a:t>
            </a:r>
          </a:p>
          <a:p>
            <a:pPr>
              <a:lnSpc>
                <a:spcPct val="150000"/>
              </a:lnSpc>
            </a:pPr>
            <a:r>
              <a:rPr lang="zh-CN" altLang="en-US" sz="1350" b="1" dirty="0"/>
              <a:t>知识问答模块：</a:t>
            </a:r>
            <a:r>
              <a:rPr lang="zh-CN" altLang="en-US" sz="1350" dirty="0"/>
              <a:t>通过 </a:t>
            </a:r>
            <a:r>
              <a:rPr lang="en-US" altLang="zh-CN" sz="1350" dirty="0"/>
              <a:t>RAG </a:t>
            </a:r>
            <a:r>
              <a:rPr lang="zh-CN" altLang="en-US" sz="1350" dirty="0"/>
              <a:t>技术对接知识库</a:t>
            </a:r>
            <a:r>
              <a:rPr lang="en-US" altLang="zh-CN" sz="1350" dirty="0"/>
              <a:t>,</a:t>
            </a:r>
            <a:r>
              <a:rPr lang="zh-CN" altLang="en-US" sz="1350" dirty="0"/>
              <a:t>解决 </a:t>
            </a:r>
            <a:r>
              <a:rPr lang="en-US" altLang="zh-CN" sz="1350" dirty="0"/>
              <a:t>Agent </a:t>
            </a:r>
            <a:r>
              <a:rPr lang="zh-CN" altLang="en-US" sz="1350" dirty="0"/>
              <a:t>知识时效性与准确性问题，依托 </a:t>
            </a:r>
            <a:r>
              <a:rPr lang="en-US" altLang="zh-CN" sz="1350" dirty="0"/>
              <a:t>Hugging Face </a:t>
            </a:r>
            <a:r>
              <a:rPr lang="zh-CN" altLang="en-US" sz="1350" dirty="0"/>
              <a:t>开源中文模型（如 </a:t>
            </a:r>
            <a:r>
              <a:rPr lang="en-US" altLang="zh-CN" sz="1350" dirty="0"/>
              <a:t>Qwen2</a:t>
            </a:r>
            <a:r>
              <a:rPr lang="zh-CN" altLang="en-US" sz="1350" dirty="0"/>
              <a:t>、</a:t>
            </a:r>
            <a:r>
              <a:rPr lang="en-US" altLang="zh-CN" sz="1350" dirty="0"/>
              <a:t>DeepSeek</a:t>
            </a:r>
            <a:r>
              <a:rPr lang="zh-CN" altLang="en-US" sz="1350" dirty="0"/>
              <a:t>） </a:t>
            </a:r>
            <a:r>
              <a:rPr lang="en-US" altLang="zh-CN" sz="1350" dirty="0"/>
              <a:t>API</a:t>
            </a:r>
            <a:r>
              <a:rPr lang="zh-CN" altLang="en-US" sz="1350" dirty="0"/>
              <a:t>，降低开发难度。</a:t>
            </a:r>
          </a:p>
          <a:p>
            <a:pPr>
              <a:lnSpc>
                <a:spcPct val="150000"/>
              </a:lnSpc>
            </a:pPr>
            <a:r>
              <a:rPr lang="zh-CN" altLang="en-US" sz="1350" b="1" dirty="0"/>
              <a:t>（</a:t>
            </a:r>
            <a:r>
              <a:rPr lang="en-US" altLang="zh-CN" sz="1350" b="1" dirty="0"/>
              <a:t>2</a:t>
            </a:r>
            <a:r>
              <a:rPr lang="zh-CN" altLang="en-US" sz="1350" b="1" dirty="0"/>
              <a:t>）前后端开发</a:t>
            </a:r>
            <a:r>
              <a:rPr lang="zh-CN" altLang="en-US" sz="1350" dirty="0"/>
              <a:t>：</a:t>
            </a:r>
          </a:p>
          <a:p>
            <a:pPr>
              <a:lnSpc>
                <a:spcPct val="150000"/>
              </a:lnSpc>
            </a:pPr>
            <a:r>
              <a:rPr lang="zh-CN" altLang="en-US" sz="1350" b="1" dirty="0"/>
              <a:t>前端：</a:t>
            </a:r>
            <a:r>
              <a:rPr lang="zh-CN" altLang="en-US" sz="1350" dirty="0"/>
              <a:t>采用 </a:t>
            </a:r>
            <a:r>
              <a:rPr lang="en-US" altLang="zh-CN" sz="1350" dirty="0"/>
              <a:t>React</a:t>
            </a:r>
            <a:r>
              <a:rPr lang="zh-CN" altLang="en-US" sz="1350" dirty="0"/>
              <a:t>开发可视化界面，支持对话交互、功能菜单（问答 </a:t>
            </a:r>
            <a:r>
              <a:rPr lang="en-US" altLang="zh-CN" sz="1350" dirty="0"/>
              <a:t>/ </a:t>
            </a:r>
            <a:r>
              <a:rPr lang="zh-CN" altLang="en-US" sz="1350" dirty="0"/>
              <a:t>工具入口）、结果展示等，开发框架成熟、社区资源丰富；</a:t>
            </a:r>
          </a:p>
          <a:p>
            <a:pPr>
              <a:lnSpc>
                <a:spcPct val="150000"/>
              </a:lnSpc>
            </a:pPr>
            <a:r>
              <a:rPr lang="zh-CN" altLang="en-US" sz="1350" b="1" dirty="0"/>
              <a:t>后端：</a:t>
            </a:r>
            <a:r>
              <a:rPr lang="zh-CN" altLang="en-US" sz="1350" dirty="0"/>
              <a:t>用</a:t>
            </a:r>
            <a:r>
              <a:rPr lang="en-US" altLang="zh-CN" sz="1350" dirty="0"/>
              <a:t>SpringBoot</a:t>
            </a:r>
            <a:r>
              <a:rPr lang="zh-CN" altLang="en-US" sz="1350" dirty="0"/>
              <a:t>搭建服务，可复用校园现有 </a:t>
            </a:r>
            <a:r>
              <a:rPr lang="en-US" altLang="zh-CN" sz="1350" dirty="0"/>
              <a:t>IT </a:t>
            </a:r>
            <a:r>
              <a:rPr lang="zh-CN" altLang="en-US" sz="1350" dirty="0"/>
              <a:t>架构的基础组件，降低集成成本。</a:t>
            </a:r>
          </a:p>
          <a:p>
            <a:pPr>
              <a:lnSpc>
                <a:spcPct val="150000"/>
              </a:lnSpc>
            </a:pPr>
            <a:r>
              <a:rPr lang="zh-CN" altLang="en-US" sz="1350" b="1" dirty="0"/>
              <a:t>（</a:t>
            </a:r>
            <a:r>
              <a:rPr lang="en-US" altLang="zh-CN" sz="1350" b="1" dirty="0"/>
              <a:t>3</a:t>
            </a:r>
            <a:r>
              <a:rPr lang="zh-CN" altLang="en-US" sz="1350" b="1" dirty="0"/>
              <a:t>） 数据与安全</a:t>
            </a:r>
            <a:r>
              <a:rPr lang="zh-CN" altLang="en-US" sz="1350" dirty="0"/>
              <a:t>：</a:t>
            </a:r>
          </a:p>
          <a:p>
            <a:pPr>
              <a:lnSpc>
                <a:spcPct val="150000"/>
              </a:lnSpc>
            </a:pPr>
            <a:r>
              <a:rPr lang="zh-CN" altLang="en-US" sz="1350" b="1" dirty="0"/>
              <a:t>知识库构建：</a:t>
            </a:r>
            <a:r>
              <a:rPr lang="zh-CN" altLang="en-US" sz="1350" dirty="0"/>
              <a:t>可批量导入校园官网文档、教务手册、后勤指南等公开数据，结合人工标注优化，数据获取成本低；</a:t>
            </a:r>
          </a:p>
          <a:p>
            <a:pPr>
              <a:lnSpc>
                <a:spcPct val="150000"/>
              </a:lnSpc>
            </a:pPr>
            <a:r>
              <a:rPr lang="en-US" altLang="zh-CN" sz="1350" b="1" dirty="0"/>
              <a:t>2.</a:t>
            </a:r>
            <a:r>
              <a:rPr lang="zh-CN" altLang="en-US" sz="1350" b="1" dirty="0"/>
              <a:t>需求可行性</a:t>
            </a:r>
            <a:endParaRPr lang="en-US" altLang="zh-CN" sz="1350" b="1" dirty="0"/>
          </a:p>
          <a:p>
            <a:pPr>
              <a:lnSpc>
                <a:spcPct val="150000"/>
              </a:lnSpc>
            </a:pPr>
            <a:r>
              <a:rPr lang="zh-CN" altLang="en-US" sz="1350" b="1" dirty="0"/>
              <a:t>（</a:t>
            </a:r>
            <a:r>
              <a:rPr lang="en-US" altLang="zh-CN" sz="1350" b="1" dirty="0"/>
              <a:t>1</a:t>
            </a:r>
            <a:r>
              <a:rPr lang="zh-CN" altLang="en-US" sz="1350" b="1" dirty="0"/>
              <a:t>）学生群体（核心用户）：</a:t>
            </a:r>
          </a:p>
          <a:p>
            <a:pPr marL="0" lvl="1">
              <a:lnSpc>
                <a:spcPct val="150000"/>
              </a:lnSpc>
            </a:pPr>
            <a:r>
              <a:rPr lang="zh-CN" altLang="en-US" sz="1350" b="1" dirty="0"/>
              <a:t>高频需求</a:t>
            </a:r>
            <a:r>
              <a:rPr lang="zh-CN" altLang="en-US" sz="1350" dirty="0"/>
              <a:t>：课表查询、考试安排等，当前多需登录多个系统或线下咨询，流程繁琐，需求迫切；个性化提醒（作业截止、考试倒计时）、跨系统流程办理（如请假申请→教务审批→通知辅导员），</a:t>
            </a:r>
            <a:r>
              <a:rPr lang="en-US" altLang="zh-CN" sz="1350" dirty="0"/>
              <a:t>Agent </a:t>
            </a:r>
            <a:r>
              <a:rPr lang="zh-CN" altLang="en-US" sz="1350" dirty="0"/>
              <a:t>可实现 “一站式” 闭环。</a:t>
            </a:r>
          </a:p>
          <a:p>
            <a:pPr>
              <a:lnSpc>
                <a:spcPct val="150000"/>
              </a:lnSpc>
            </a:pPr>
            <a:r>
              <a:rPr lang="zh-CN" altLang="en-US" sz="1350" b="1" dirty="0"/>
              <a:t>（</a:t>
            </a:r>
            <a:r>
              <a:rPr lang="en-US" altLang="zh-CN" sz="1350" b="1" dirty="0"/>
              <a:t>2</a:t>
            </a:r>
            <a:r>
              <a:rPr lang="zh-CN" altLang="en-US" sz="1350" b="1" dirty="0"/>
              <a:t>）校园管理方：</a:t>
            </a:r>
            <a:r>
              <a:rPr lang="zh-CN" altLang="en-US" sz="1350" dirty="0"/>
              <a:t>需求：降低人工咨询与事务处理压力，提升服务响应速度，收集用户反馈优化校园服务，智能体可作为 “</a:t>
            </a:r>
            <a:r>
              <a:rPr lang="en-US" altLang="zh-CN" sz="1350" dirty="0"/>
              <a:t>24 </a:t>
            </a:r>
            <a:r>
              <a:rPr lang="zh-CN" altLang="en-US" sz="1350" dirty="0"/>
              <a:t>小时在线服务窗口”。</a:t>
            </a:r>
          </a:p>
        </p:txBody>
      </p:sp>
    </p:spTree>
    <p:extLst>
      <p:ext uri="{BB962C8B-B14F-4D97-AF65-F5344CB8AC3E}">
        <p14:creationId xmlns:p14="http://schemas.microsoft.com/office/powerpoint/2010/main" val="1129913386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27307-265D-1B44-A0A7-A2EBAA1CC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7">
            <a:extLst>
              <a:ext uri="{FF2B5EF4-FFF2-40B4-BE49-F238E27FC236}">
                <a16:creationId xmlns:a16="http://schemas.microsoft.com/office/drawing/2014/main" id="{5CEE36D5-DF3D-8DDF-200E-1421A99F01E2}"/>
              </a:ext>
            </a:extLst>
          </p:cNvPr>
          <p:cNvSpPr txBox="1"/>
          <p:nvPr/>
        </p:nvSpPr>
        <p:spPr>
          <a:xfrm>
            <a:off x="3547590" y="2419435"/>
            <a:ext cx="3691459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800" b="1" dirty="0">
                <a:solidFill>
                  <a:srgbClr val="054487"/>
                </a:solidFill>
                <a:latin typeface="方正公文小标宋" panose="02000500000000000000" charset="-122"/>
                <a:ea typeface="方正公文小标宋" panose="02000500000000000000" charset="-122"/>
              </a:rPr>
              <a:t>Part 2</a:t>
            </a:r>
          </a:p>
        </p:txBody>
      </p:sp>
      <p:sp>
        <p:nvSpPr>
          <p:cNvPr id="4" name="Rectangle 22">
            <a:extLst>
              <a:ext uri="{FF2B5EF4-FFF2-40B4-BE49-F238E27FC236}">
                <a16:creationId xmlns:a16="http://schemas.microsoft.com/office/drawing/2014/main" id="{B0A25657-2550-36F4-6ACF-4E10AF565D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9051" y="3605137"/>
            <a:ext cx="6123073" cy="63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l" eaLnBrk="1" fontAlgn="base" hangingPunct="1">
              <a:lnSpc>
                <a:spcPct val="120000"/>
              </a:lnSpc>
              <a:buClrTx/>
              <a:buSzTx/>
            </a:pPr>
            <a:r>
              <a:rPr lang="zh-CN" altLang="en-US" sz="3200" b="1" dirty="0">
                <a:solidFill>
                  <a:srgbClr val="0544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系统设计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F9681BD-A17B-B9AC-727F-878D73BEED10}"/>
              </a:ext>
            </a:extLst>
          </p:cNvPr>
          <p:cNvCxnSpPr/>
          <p:nvPr/>
        </p:nvCxnSpPr>
        <p:spPr>
          <a:xfrm>
            <a:off x="3166954" y="3605138"/>
            <a:ext cx="3980798" cy="0"/>
          </a:xfrm>
          <a:prstGeom prst="line">
            <a:avLst/>
          </a:prstGeom>
          <a:ln w="12700">
            <a:solidFill>
              <a:srgbClr val="0544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椭圆 10">
            <a:extLst>
              <a:ext uri="{FF2B5EF4-FFF2-40B4-BE49-F238E27FC236}">
                <a16:creationId xmlns:a16="http://schemas.microsoft.com/office/drawing/2014/main" id="{A7D8C7E0-A519-F271-C39B-356BCDA2D510}"/>
              </a:ext>
            </a:extLst>
          </p:cNvPr>
          <p:cNvSpPr/>
          <p:nvPr/>
        </p:nvSpPr>
        <p:spPr>
          <a:xfrm>
            <a:off x="1245253" y="2419912"/>
            <a:ext cx="1785621" cy="1786507"/>
          </a:xfrm>
          <a:prstGeom prst="ellipse">
            <a:avLst/>
          </a:prstGeom>
          <a:solidFill>
            <a:srgbClr val="06449A"/>
          </a:solidFill>
          <a:ln>
            <a:solidFill>
              <a:srgbClr val="06449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75C1090-9862-F69F-9701-F362EFB73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5219" y="90643"/>
            <a:ext cx="2953162" cy="104789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956D0C4-C6E5-FFB1-5B56-13F2A1509D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3486" y="42414"/>
            <a:ext cx="884895" cy="905839"/>
          </a:xfrm>
          <a:prstGeom prst="rect">
            <a:avLst/>
          </a:prstGeom>
        </p:spPr>
      </p:pic>
      <p:cxnSp>
        <p:nvCxnSpPr>
          <p:cNvPr id="8" name="直线连接符 22">
            <a:extLst>
              <a:ext uri="{FF2B5EF4-FFF2-40B4-BE49-F238E27FC236}">
                <a16:creationId xmlns:a16="http://schemas.microsoft.com/office/drawing/2014/main" id="{0A4CC0BA-D481-2774-0CED-468478E264F0}"/>
              </a:ext>
            </a:extLst>
          </p:cNvPr>
          <p:cNvCxnSpPr>
            <a:cxnSpLocks/>
          </p:cNvCxnSpPr>
          <p:nvPr/>
        </p:nvCxnSpPr>
        <p:spPr>
          <a:xfrm>
            <a:off x="0" y="1010143"/>
            <a:ext cx="12192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7175018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2B88F-B4FF-7253-5C0A-E5DAE3736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BA569FF1-8D53-8EE2-0D5A-16F0E605EB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0148" y="155196"/>
            <a:ext cx="2521008" cy="2069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直线连接符 22">
            <a:extLst>
              <a:ext uri="{FF2B5EF4-FFF2-40B4-BE49-F238E27FC236}">
                <a16:creationId xmlns:a16="http://schemas.microsoft.com/office/drawing/2014/main" id="{024D24DC-5390-C375-8F25-26CD503027DB}"/>
              </a:ext>
            </a:extLst>
          </p:cNvPr>
          <p:cNvCxnSpPr>
            <a:cxnSpLocks/>
          </p:cNvCxnSpPr>
          <p:nvPr/>
        </p:nvCxnSpPr>
        <p:spPr>
          <a:xfrm>
            <a:off x="0" y="1010143"/>
            <a:ext cx="12192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62B18310-E55E-4CB3-B4D3-A3017DE36152}"/>
              </a:ext>
            </a:extLst>
          </p:cNvPr>
          <p:cNvSpPr txBox="1"/>
          <p:nvPr/>
        </p:nvSpPr>
        <p:spPr>
          <a:xfrm>
            <a:off x="802093" y="245183"/>
            <a:ext cx="4665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 spc="300" dirty="0">
                <a:solidFill>
                  <a:srgbClr val="06449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 </a:t>
            </a:r>
            <a:r>
              <a:rPr kumimoji="1" lang="zh-CN" altLang="en-US" sz="2800" b="1" spc="300" dirty="0">
                <a:solidFill>
                  <a:srgbClr val="06449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系统设计</a:t>
            </a:r>
            <a:endParaRPr kumimoji="1" lang="en-US" altLang="zh-CN" sz="2400" b="1" spc="300" dirty="0">
              <a:solidFill>
                <a:srgbClr val="06449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45784190-5201-C506-682C-38460B401007}"/>
              </a:ext>
            </a:extLst>
          </p:cNvPr>
          <p:cNvSpPr/>
          <p:nvPr/>
        </p:nvSpPr>
        <p:spPr>
          <a:xfrm>
            <a:off x="421100" y="364783"/>
            <a:ext cx="284020" cy="284020"/>
          </a:xfrm>
          <a:prstGeom prst="ellipse">
            <a:avLst/>
          </a:prstGeom>
          <a:solidFill>
            <a:srgbClr val="0644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rgbClr val="06449A"/>
              </a:solidFill>
            </a:endParaRPr>
          </a:p>
        </p:txBody>
      </p:sp>
      <p:sp>
        <p:nvSpPr>
          <p:cNvPr id="96" name="单圆角矩形 3">
            <a:extLst>
              <a:ext uri="{FF2B5EF4-FFF2-40B4-BE49-F238E27FC236}">
                <a16:creationId xmlns:a16="http://schemas.microsoft.com/office/drawing/2014/main" id="{97B50954-FC15-6A15-4E43-140CBB25E09D}"/>
              </a:ext>
            </a:extLst>
          </p:cNvPr>
          <p:cNvSpPr/>
          <p:nvPr/>
        </p:nvSpPr>
        <p:spPr>
          <a:xfrm flipV="1">
            <a:off x="124216" y="1734320"/>
            <a:ext cx="1298832" cy="607871"/>
          </a:xfrm>
          <a:prstGeom prst="round1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bg1"/>
              </a:solidFill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37627FB6-0B3E-85DF-CEB5-34E4F3EB6350}"/>
              </a:ext>
            </a:extLst>
          </p:cNvPr>
          <p:cNvSpPr txBox="1"/>
          <p:nvPr/>
        </p:nvSpPr>
        <p:spPr>
          <a:xfrm>
            <a:off x="124216" y="6145096"/>
            <a:ext cx="1228449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kumimoji="1" lang="zh-CN" altLang="en-US" sz="1600" b="1" spc="3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参考文献</a:t>
            </a:r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B9FB2C5E-2560-3EEB-6955-45B02C341B30}"/>
              </a:ext>
            </a:extLst>
          </p:cNvPr>
          <p:cNvSpPr txBox="1"/>
          <p:nvPr/>
        </p:nvSpPr>
        <p:spPr>
          <a:xfrm>
            <a:off x="113043" y="2704889"/>
            <a:ext cx="1228449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kumimoji="1" lang="zh-CN" altLang="en-US" sz="1600" b="1" spc="3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国内外研究概况</a:t>
            </a: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6C8B15C5-0EEB-FBE4-3DE2-FB01CECA91F8}"/>
              </a:ext>
            </a:extLst>
          </p:cNvPr>
          <p:cNvSpPr txBox="1"/>
          <p:nvPr/>
        </p:nvSpPr>
        <p:spPr>
          <a:xfrm>
            <a:off x="113043" y="3568337"/>
            <a:ext cx="1268709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 algn="ctr">
              <a:defRPr kumimoji="1" sz="1400" b="1" spc="3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sz="1600" dirty="0"/>
              <a:t>主要研究内容</a:t>
            </a: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6C452CD4-AFA7-4B8A-20A8-978515F23616}"/>
              </a:ext>
            </a:extLst>
          </p:cNvPr>
          <p:cNvSpPr txBox="1"/>
          <p:nvPr/>
        </p:nvSpPr>
        <p:spPr>
          <a:xfrm>
            <a:off x="124216" y="5263082"/>
            <a:ext cx="1228449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 algn="ctr">
              <a:defRPr kumimoji="1" sz="1400" b="1" spc="3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sz="1600" dirty="0"/>
              <a:t>计划与进度安排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D75529F-E698-EF4B-9AA0-3DF8A6B1CC26}"/>
              </a:ext>
            </a:extLst>
          </p:cNvPr>
          <p:cNvSpPr txBox="1"/>
          <p:nvPr/>
        </p:nvSpPr>
        <p:spPr>
          <a:xfrm>
            <a:off x="153303" y="4471861"/>
            <a:ext cx="1228449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 algn="ctr">
              <a:defRPr kumimoji="1" sz="1400" b="1" spc="3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sz="1600" dirty="0"/>
              <a:t>研究进展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228C1EF-1D34-85D6-6F9B-1B0644257E19}"/>
              </a:ext>
            </a:extLst>
          </p:cNvPr>
          <p:cNvSpPr txBox="1"/>
          <p:nvPr/>
        </p:nvSpPr>
        <p:spPr>
          <a:xfrm>
            <a:off x="375443" y="1214983"/>
            <a:ext cx="11032486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4330" marR="0" lvl="0" indent="-354330" algn="l" defTabSz="914400" rtl="0" eaLnBrk="1" fontAlgn="base" latinLnBrk="0" hangingPunct="1">
              <a:lnSpc>
                <a:spcPct val="100000"/>
              </a:lnSpc>
              <a:spcBef>
                <a:spcPct val="45000"/>
              </a:spcBef>
              <a:spcAft>
                <a:spcPct val="0"/>
              </a:spcAft>
              <a:buClr>
                <a:srgbClr val="FBB030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6449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前端</a:t>
            </a:r>
            <a:endParaRPr lang="en-US" altLang="zh-CN" sz="2400" b="1" kern="0" dirty="0">
              <a:solidFill>
                <a:srgbClr val="EEECE1">
                  <a:lumMod val="1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38455" lvl="1" fontAlgn="base">
              <a:spcBef>
                <a:spcPct val="45000"/>
              </a:spcBef>
              <a:spcAft>
                <a:spcPct val="0"/>
              </a:spcAft>
              <a:buClr>
                <a:srgbClr val="FBB030"/>
              </a:buClr>
              <a:defRPr/>
            </a:pPr>
            <a:r>
              <a:rPr lang="zh-CN" altLang="en-US" sz="2000" b="1" kern="0" dirty="0">
                <a:solidFill>
                  <a:srgbClr val="EEECE1">
                    <a:lumMod val="1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技术栈：</a:t>
            </a:r>
            <a:r>
              <a:rPr lang="en-US" altLang="zh-CN" sz="2000" b="1" kern="0" dirty="0">
                <a:solidFill>
                  <a:srgbClr val="EEECE1">
                    <a:lumMod val="1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React</a:t>
            </a:r>
            <a:r>
              <a:rPr lang="zh-CN" altLang="en-US" sz="2000" b="1" kern="0" dirty="0">
                <a:solidFill>
                  <a:srgbClr val="EEECE1">
                    <a:lumMod val="1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 kern="0" dirty="0">
                <a:solidFill>
                  <a:srgbClr val="EEECE1">
                    <a:lumMod val="1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typescript</a:t>
            </a:r>
          </a:p>
          <a:p>
            <a:pPr marL="338455" lvl="1" fontAlgn="base">
              <a:spcBef>
                <a:spcPct val="45000"/>
              </a:spcBef>
              <a:spcAft>
                <a:spcPct val="0"/>
              </a:spcAft>
              <a:buClr>
                <a:srgbClr val="FBB030"/>
              </a:buClr>
              <a:defRPr/>
            </a:pPr>
            <a:r>
              <a:rPr lang="zh-CN" altLang="en-US" sz="2000" b="1" kern="0" dirty="0">
                <a:solidFill>
                  <a:srgbClr val="EEECE1">
                    <a:lumMod val="1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优势：</a:t>
            </a:r>
            <a:r>
              <a:rPr lang="zh-CN" altLang="en-US" sz="2000" dirty="0"/>
              <a:t> </a:t>
            </a:r>
            <a:r>
              <a:rPr lang="en-US" altLang="zh-CN" sz="2000" dirty="0"/>
              <a:t>React + TypeScript </a:t>
            </a:r>
            <a:r>
              <a:rPr lang="zh-CN" altLang="en-US" sz="2000" dirty="0"/>
              <a:t>前端开发的核心优势的是，通过</a:t>
            </a:r>
            <a:r>
              <a:rPr lang="zh-CN" altLang="en-US" sz="2000" b="1" dirty="0"/>
              <a:t>静态类型检查</a:t>
            </a:r>
            <a:r>
              <a:rPr lang="zh-CN" altLang="en-US" sz="2000" dirty="0"/>
              <a:t>在编码阶段规避多数低级错误，搭配编辑器智能补全提升开发效率，类型定义自带文档属性降低团队协作成本，同时完美兼容 </a:t>
            </a:r>
            <a:r>
              <a:rPr lang="en-US" altLang="zh-CN" sz="2000" dirty="0"/>
              <a:t>React </a:t>
            </a:r>
            <a:r>
              <a:rPr lang="zh-CN" altLang="en-US" sz="2000" dirty="0"/>
              <a:t>生态，能有效约束状态、</a:t>
            </a:r>
            <a:r>
              <a:rPr lang="en-US" altLang="zh-CN" sz="2000" b="1" dirty="0"/>
              <a:t>Hook </a:t>
            </a:r>
            <a:r>
              <a:rPr lang="zh-CN" altLang="en-US" sz="2000" b="1" dirty="0"/>
              <a:t>及异步逻辑类型</a:t>
            </a:r>
            <a:r>
              <a:rPr lang="zh-CN" altLang="en-US" sz="2000" dirty="0"/>
              <a:t>，适配各类前端场景，且可渐进式使用，兼顾灵活性与代码健壮性，大幅提升开发质量和维护效率。</a:t>
            </a:r>
            <a:endParaRPr lang="en-US" altLang="zh-CN" sz="20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541AB04-7D85-8498-909C-4018A1B197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7644" y="0"/>
            <a:ext cx="2724356" cy="96670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4B334402-9D92-42C1-32E1-FBF23DE06E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42401" y="82788"/>
            <a:ext cx="884895" cy="905839"/>
          </a:xfrm>
          <a:prstGeom prst="rect">
            <a:avLst/>
          </a:prstGeom>
        </p:spPr>
      </p:pic>
      <p:sp>
        <p:nvSpPr>
          <p:cNvPr id="5" name="文本框 10">
            <a:extLst>
              <a:ext uri="{FF2B5EF4-FFF2-40B4-BE49-F238E27FC236}">
                <a16:creationId xmlns:a16="http://schemas.microsoft.com/office/drawing/2014/main" id="{C228C1EF-1D34-85D6-6F9B-1B0644257E19}"/>
              </a:ext>
            </a:extLst>
          </p:cNvPr>
          <p:cNvSpPr txBox="1"/>
          <p:nvPr/>
        </p:nvSpPr>
        <p:spPr>
          <a:xfrm>
            <a:off x="375443" y="3844804"/>
            <a:ext cx="11032486" cy="276691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4330" marR="0" lvl="0" indent="-354330" algn="l" defTabSz="914400" rtl="0" eaLnBrk="1" fontAlgn="base" latinLnBrk="0" hangingPunct="1">
              <a:lnSpc>
                <a:spcPct val="100000"/>
              </a:lnSpc>
              <a:spcBef>
                <a:spcPct val="45000"/>
              </a:spcBef>
              <a:spcAft>
                <a:spcPct val="0"/>
              </a:spcAft>
              <a:buClr>
                <a:srgbClr val="FBB030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3200" b="1" kern="0" dirty="0">
                <a:solidFill>
                  <a:srgbClr val="06449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6449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端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06449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45000"/>
              </a:spcBef>
              <a:spcAft>
                <a:spcPct val="0"/>
              </a:spcAft>
              <a:buClr>
                <a:srgbClr val="FBB030"/>
              </a:buClr>
              <a:buSzTx/>
              <a:tabLst/>
              <a:defRPr/>
            </a:pPr>
            <a:endParaRPr lang="en-US" altLang="zh-CN" sz="2400" b="1" kern="0" dirty="0">
              <a:solidFill>
                <a:srgbClr val="EEECE1">
                  <a:lumMod val="1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38455" lvl="1" fontAlgn="base">
              <a:spcBef>
                <a:spcPct val="45000"/>
              </a:spcBef>
              <a:spcAft>
                <a:spcPct val="0"/>
              </a:spcAft>
              <a:buClr>
                <a:srgbClr val="FBB030"/>
              </a:buClr>
              <a:defRPr/>
            </a:pPr>
            <a:r>
              <a:rPr lang="zh-CN" altLang="en-US" sz="2000" b="1" kern="0" dirty="0">
                <a:solidFill>
                  <a:srgbClr val="EEECE1">
                    <a:lumMod val="1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技术栈：</a:t>
            </a:r>
            <a:r>
              <a:rPr lang="en-US" altLang="zh-CN" sz="2000" b="1" kern="0" dirty="0">
                <a:solidFill>
                  <a:srgbClr val="EEECE1">
                    <a:lumMod val="1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Spring Boot</a:t>
            </a:r>
            <a:r>
              <a:rPr lang="zh-CN" altLang="en-US" sz="2000" b="1" kern="0" dirty="0">
                <a:solidFill>
                  <a:srgbClr val="EEECE1">
                    <a:lumMod val="1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 kern="0" dirty="0">
                <a:solidFill>
                  <a:srgbClr val="EEECE1">
                    <a:lumMod val="1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</a:p>
          <a:p>
            <a:pPr marL="338455" lvl="1" fontAlgn="base">
              <a:spcBef>
                <a:spcPct val="45000"/>
              </a:spcBef>
              <a:spcAft>
                <a:spcPct val="0"/>
              </a:spcAft>
              <a:buClr>
                <a:srgbClr val="FBB030"/>
              </a:buClr>
              <a:defRPr/>
            </a:pPr>
            <a:r>
              <a:rPr lang="zh-CN" altLang="en-US" sz="2000" b="1" kern="0" dirty="0">
                <a:solidFill>
                  <a:srgbClr val="EEECE1">
                    <a:lumMod val="1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优势：</a:t>
            </a:r>
            <a:r>
              <a:rPr lang="zh-CN" altLang="en-US" sz="2000" b="1" dirty="0"/>
              <a:t>生态丰富</a:t>
            </a:r>
            <a:r>
              <a:rPr lang="zh-CN" altLang="en-US" sz="2000" dirty="0"/>
              <a:t>，适配校园场景；</a:t>
            </a:r>
            <a:r>
              <a:rPr lang="en-US" altLang="zh-CN" sz="2000" dirty="0"/>
              <a:t>Java </a:t>
            </a:r>
            <a:r>
              <a:rPr lang="zh-CN" altLang="en-US" sz="2000" dirty="0"/>
              <a:t>有 </a:t>
            </a:r>
            <a:r>
              <a:rPr lang="en-US" altLang="zh-CN" sz="2000" dirty="0"/>
              <a:t>Spring Boot</a:t>
            </a:r>
            <a:r>
              <a:rPr lang="zh-CN" altLang="en-US" sz="2000" dirty="0"/>
              <a:t>、</a:t>
            </a:r>
            <a:r>
              <a:rPr lang="en-US" altLang="zh-CN" sz="2000" dirty="0"/>
              <a:t>Spring Cloud </a:t>
            </a:r>
            <a:r>
              <a:rPr lang="zh-CN" altLang="en-US" sz="2000" dirty="0"/>
              <a:t>等主流框架，能快速搭建 ；跨平台 </a:t>
            </a:r>
            <a:r>
              <a:rPr lang="en-US" altLang="zh-CN" sz="2000" dirty="0"/>
              <a:t>&amp; </a:t>
            </a:r>
            <a:r>
              <a:rPr lang="zh-CN" altLang="en-US" sz="2000" dirty="0"/>
              <a:t>扩展性好；</a:t>
            </a:r>
            <a:r>
              <a:rPr lang="en-US" altLang="zh-CN" sz="2000" dirty="0"/>
              <a:t>Java </a:t>
            </a:r>
            <a:r>
              <a:rPr lang="zh-CN" altLang="en-US" sz="2000" dirty="0"/>
              <a:t>的模块化架构也方便迭代扩展；并发处理能力适配校园高峰。</a:t>
            </a:r>
          </a:p>
          <a:p>
            <a:pPr marL="338455" lvl="1" fontAlgn="base">
              <a:spcBef>
                <a:spcPct val="45000"/>
              </a:spcBef>
              <a:spcAft>
                <a:spcPct val="0"/>
              </a:spcAft>
              <a:buClr>
                <a:srgbClr val="FBB030"/>
              </a:buClr>
              <a:defRPr/>
            </a:pPr>
            <a:endParaRPr lang="en-US" altLang="zh-CN" sz="2000" b="1" kern="0" dirty="0">
              <a:solidFill>
                <a:srgbClr val="EEECE1">
                  <a:lumMod val="1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5991CFA3-A6E8-2060-F219-B731FCD925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9925" y="3615640"/>
            <a:ext cx="2436401" cy="1460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5663485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15CC0-85FA-FCE8-486F-9C6AB7A89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直线连接符 22">
            <a:extLst>
              <a:ext uri="{FF2B5EF4-FFF2-40B4-BE49-F238E27FC236}">
                <a16:creationId xmlns:a16="http://schemas.microsoft.com/office/drawing/2014/main" id="{826CB7D1-20C9-7E9F-61F0-12156A3331D7}"/>
              </a:ext>
            </a:extLst>
          </p:cNvPr>
          <p:cNvCxnSpPr>
            <a:cxnSpLocks/>
          </p:cNvCxnSpPr>
          <p:nvPr/>
        </p:nvCxnSpPr>
        <p:spPr>
          <a:xfrm>
            <a:off x="0" y="1010143"/>
            <a:ext cx="12192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DC526C32-D509-567C-CE09-A20AAC5B54D7}"/>
              </a:ext>
            </a:extLst>
          </p:cNvPr>
          <p:cNvSpPr txBox="1"/>
          <p:nvPr/>
        </p:nvSpPr>
        <p:spPr>
          <a:xfrm>
            <a:off x="802093" y="245183"/>
            <a:ext cx="4665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 spc="300" dirty="0">
                <a:solidFill>
                  <a:srgbClr val="06449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 </a:t>
            </a:r>
            <a:r>
              <a:rPr kumimoji="1" lang="zh-CN" altLang="en-US" sz="2800" b="1" spc="300" dirty="0">
                <a:solidFill>
                  <a:srgbClr val="06449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系统设计</a:t>
            </a:r>
            <a:endParaRPr kumimoji="1" lang="en-US" altLang="zh-CN" sz="2400" b="1" spc="300" dirty="0">
              <a:solidFill>
                <a:srgbClr val="06449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56199BBE-2690-547D-5A98-F1CB3D0A67EA}"/>
              </a:ext>
            </a:extLst>
          </p:cNvPr>
          <p:cNvSpPr/>
          <p:nvPr/>
        </p:nvSpPr>
        <p:spPr>
          <a:xfrm>
            <a:off x="421100" y="364783"/>
            <a:ext cx="284020" cy="284020"/>
          </a:xfrm>
          <a:prstGeom prst="ellipse">
            <a:avLst/>
          </a:prstGeom>
          <a:solidFill>
            <a:srgbClr val="0644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rgbClr val="06449A"/>
              </a:solidFill>
            </a:endParaRPr>
          </a:p>
        </p:txBody>
      </p:sp>
      <p:sp>
        <p:nvSpPr>
          <p:cNvPr id="96" name="单圆角矩形 3">
            <a:extLst>
              <a:ext uri="{FF2B5EF4-FFF2-40B4-BE49-F238E27FC236}">
                <a16:creationId xmlns:a16="http://schemas.microsoft.com/office/drawing/2014/main" id="{88017333-5A16-BEB3-A640-8B1BDDDA6FBB}"/>
              </a:ext>
            </a:extLst>
          </p:cNvPr>
          <p:cNvSpPr/>
          <p:nvPr/>
        </p:nvSpPr>
        <p:spPr>
          <a:xfrm flipV="1">
            <a:off x="124216" y="1734320"/>
            <a:ext cx="1298832" cy="607871"/>
          </a:xfrm>
          <a:prstGeom prst="round1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bg1"/>
              </a:solidFill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39AEE29E-BDD0-00A3-28D7-27E08CF1007A}"/>
              </a:ext>
            </a:extLst>
          </p:cNvPr>
          <p:cNvSpPr txBox="1"/>
          <p:nvPr/>
        </p:nvSpPr>
        <p:spPr>
          <a:xfrm>
            <a:off x="124216" y="6145096"/>
            <a:ext cx="1228449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kumimoji="1" lang="zh-CN" altLang="en-US" sz="1600" b="1" spc="3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参考文献</a:t>
            </a:r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7C8D1432-446F-6B9C-9331-1E9451B8A691}"/>
              </a:ext>
            </a:extLst>
          </p:cNvPr>
          <p:cNvSpPr txBox="1"/>
          <p:nvPr/>
        </p:nvSpPr>
        <p:spPr>
          <a:xfrm>
            <a:off x="113043" y="2704889"/>
            <a:ext cx="1228449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kumimoji="1" lang="zh-CN" altLang="en-US" sz="1600" b="1" spc="3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国内外研究概况</a:t>
            </a: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14673593-67A4-2109-6FD0-587B1E9218FE}"/>
              </a:ext>
            </a:extLst>
          </p:cNvPr>
          <p:cNvSpPr txBox="1"/>
          <p:nvPr/>
        </p:nvSpPr>
        <p:spPr>
          <a:xfrm>
            <a:off x="113043" y="3568337"/>
            <a:ext cx="1268709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 algn="ctr">
              <a:defRPr kumimoji="1" sz="1400" b="1" spc="3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sz="1600" dirty="0"/>
              <a:t>主要研究内容</a:t>
            </a: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3260BB9B-3B8A-F316-9155-2B2F9D274360}"/>
              </a:ext>
            </a:extLst>
          </p:cNvPr>
          <p:cNvSpPr txBox="1"/>
          <p:nvPr/>
        </p:nvSpPr>
        <p:spPr>
          <a:xfrm>
            <a:off x="124216" y="5263082"/>
            <a:ext cx="1228449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 algn="ctr">
              <a:defRPr kumimoji="1" sz="1400" b="1" spc="3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sz="1600" dirty="0"/>
              <a:t>计划与进度安排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1683C2D-3616-62AE-D1A0-3541774064C5}"/>
              </a:ext>
            </a:extLst>
          </p:cNvPr>
          <p:cNvSpPr txBox="1"/>
          <p:nvPr/>
        </p:nvSpPr>
        <p:spPr>
          <a:xfrm>
            <a:off x="153303" y="4471861"/>
            <a:ext cx="1228449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 algn="ctr">
              <a:defRPr kumimoji="1" sz="1400" b="1" spc="3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sz="1600" dirty="0"/>
              <a:t>研究进展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50B1F01-DD9C-B173-5484-258BBD57EBEA}"/>
              </a:ext>
            </a:extLst>
          </p:cNvPr>
          <p:cNvSpPr txBox="1"/>
          <p:nvPr/>
        </p:nvSpPr>
        <p:spPr>
          <a:xfrm>
            <a:off x="375443" y="1214983"/>
            <a:ext cx="11032486" cy="2191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4330" marR="0" lvl="0" indent="-354330" algn="l" defTabSz="914400" rtl="0" eaLnBrk="1" fontAlgn="base" latinLnBrk="0" hangingPunct="1">
              <a:lnSpc>
                <a:spcPct val="100000"/>
              </a:lnSpc>
              <a:spcBef>
                <a:spcPct val="45000"/>
              </a:spcBef>
              <a:spcAft>
                <a:spcPct val="0"/>
              </a:spcAft>
              <a:buClr>
                <a:srgbClr val="FBB030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6449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数据库管理</a:t>
            </a: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srgbClr val="06449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38455" lvl="1" fontAlgn="base">
              <a:spcBef>
                <a:spcPct val="45000"/>
              </a:spcBef>
              <a:spcAft>
                <a:spcPct val="0"/>
              </a:spcAft>
              <a:buClr>
                <a:srgbClr val="FBB030"/>
              </a:buClr>
              <a:defRPr/>
            </a:pPr>
            <a:r>
              <a:rPr lang="zh-CN" altLang="en-US" sz="2400" b="1" kern="0" dirty="0">
                <a:solidFill>
                  <a:srgbClr val="EEECE1">
                    <a:lumMod val="1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技术栈：</a:t>
            </a:r>
            <a:r>
              <a:rPr lang="en-US" altLang="zh-CN" sz="2400" b="1" kern="0" dirty="0">
                <a:solidFill>
                  <a:srgbClr val="EEECE1">
                    <a:lumMod val="1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Redis</a:t>
            </a:r>
            <a:r>
              <a:rPr lang="zh-CN" altLang="en-US" sz="2400" b="1" kern="0" dirty="0">
                <a:solidFill>
                  <a:srgbClr val="EEECE1">
                    <a:lumMod val="1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b="1" kern="0" dirty="0">
                <a:solidFill>
                  <a:srgbClr val="EEECE1">
                    <a:lumMod val="1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MongoDB</a:t>
            </a:r>
            <a:r>
              <a:rPr lang="zh-CN" altLang="en-US" sz="2400" b="1" kern="0" dirty="0">
                <a:solidFill>
                  <a:srgbClr val="EEECE1">
                    <a:lumMod val="1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b="1" kern="0" dirty="0">
                <a:solidFill>
                  <a:srgbClr val="EEECE1">
                    <a:lumMod val="1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MySQL</a:t>
            </a:r>
          </a:p>
          <a:p>
            <a:pPr marL="338455" lvl="1" fontAlgn="base">
              <a:spcBef>
                <a:spcPct val="45000"/>
              </a:spcBef>
              <a:spcAft>
                <a:spcPct val="0"/>
              </a:spcAft>
              <a:buClr>
                <a:srgbClr val="FBB030"/>
              </a:buClr>
              <a:defRPr/>
            </a:pPr>
            <a:endParaRPr lang="en-US" altLang="zh-CN" sz="2400" b="1" kern="0" dirty="0">
              <a:solidFill>
                <a:srgbClr val="EEECE1">
                  <a:lumMod val="1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38455" lvl="1" fontAlgn="base">
              <a:spcBef>
                <a:spcPct val="45000"/>
              </a:spcBef>
              <a:spcAft>
                <a:spcPct val="0"/>
              </a:spcAft>
              <a:buClr>
                <a:srgbClr val="FBB030"/>
              </a:buClr>
              <a:defRPr/>
            </a:pPr>
            <a:endParaRPr lang="en-US" altLang="zh-CN" sz="2400" b="1" kern="0" dirty="0">
              <a:solidFill>
                <a:srgbClr val="EEECE1">
                  <a:lumMod val="1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2145C30-097C-3335-A03F-004335ED04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7644" y="0"/>
            <a:ext cx="2724356" cy="96670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B556CF9-B33B-665B-D9A4-82CDDFB727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2401" y="82788"/>
            <a:ext cx="884895" cy="905839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CB970F75-6084-5FD6-F587-7F10CCA1AC24}"/>
              </a:ext>
            </a:extLst>
          </p:cNvPr>
          <p:cNvSpPr txBox="1"/>
          <p:nvPr/>
        </p:nvSpPr>
        <p:spPr>
          <a:xfrm>
            <a:off x="854137" y="2514536"/>
            <a:ext cx="10288264" cy="4059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b="1" dirty="0"/>
              <a:t>Redis</a:t>
            </a:r>
            <a:r>
              <a:rPr lang="zh-CN" altLang="en-US" b="1" dirty="0"/>
              <a:t>（缓存）</a:t>
            </a:r>
          </a:p>
          <a:p>
            <a:pPr>
              <a:lnSpc>
                <a:spcPct val="120000"/>
              </a:lnSpc>
            </a:pPr>
            <a:r>
              <a:rPr lang="en-US" altLang="zh-CN" dirty="0"/>
              <a:t>Redis </a:t>
            </a:r>
            <a:r>
              <a:rPr lang="zh-CN" altLang="en-US" dirty="0"/>
              <a:t>作为高性能内存数据库，用于核心</a:t>
            </a:r>
            <a:r>
              <a:rPr lang="zh-CN" altLang="en-US" b="1" dirty="0"/>
              <a:t>数据缓存</a:t>
            </a:r>
            <a:r>
              <a:rPr lang="zh-CN" altLang="en-US" dirty="0"/>
              <a:t>：缓存高频访问的会话信息、用户状态、</a:t>
            </a:r>
            <a:r>
              <a:rPr lang="en-US" altLang="zh-CN" dirty="0"/>
              <a:t>AI </a:t>
            </a:r>
            <a:r>
              <a:rPr lang="zh-CN" altLang="en-US" dirty="0"/>
              <a:t>模型临时返回结果等，大幅降低后端数据库查询压力，提升接口响应速度；支持过期策略，可灵活控制缓存生命周期，适配聊天场景的实时性需求。</a:t>
            </a:r>
          </a:p>
          <a:p>
            <a:pPr>
              <a:lnSpc>
                <a:spcPct val="120000"/>
              </a:lnSpc>
            </a:pPr>
            <a:r>
              <a:rPr lang="en-US" altLang="zh-CN" b="1" dirty="0"/>
              <a:t>MongoDB</a:t>
            </a:r>
            <a:r>
              <a:rPr lang="zh-CN" altLang="en-US" b="1" dirty="0"/>
              <a:t>（聊天记录）</a:t>
            </a:r>
          </a:p>
          <a:p>
            <a:pPr>
              <a:lnSpc>
                <a:spcPct val="120000"/>
              </a:lnSpc>
            </a:pPr>
            <a:r>
              <a:rPr lang="en-US" altLang="zh-CN" dirty="0"/>
              <a:t>MongoDB </a:t>
            </a:r>
            <a:r>
              <a:rPr lang="zh-CN" altLang="en-US" dirty="0"/>
              <a:t>作为文档型数据库，</a:t>
            </a:r>
            <a:r>
              <a:rPr lang="zh-CN" altLang="en-US" b="1" dirty="0"/>
              <a:t>专门存储非结构化 </a:t>
            </a:r>
            <a:r>
              <a:rPr lang="en-US" altLang="zh-CN" b="1" dirty="0"/>
              <a:t>/ </a:t>
            </a:r>
            <a:r>
              <a:rPr lang="zh-CN" altLang="en-US" b="1" dirty="0"/>
              <a:t>半结构化的聊天记录</a:t>
            </a:r>
            <a:r>
              <a:rPr lang="zh-CN" altLang="en-US" dirty="0"/>
              <a:t>：无需固定表结构，可灵活适配消息内容、附件、时间戳等多维度字段；支持高效的文档查询与聚合操作，能快速检索历史聊天记录，适配聊天场景的灵活扩展需求。</a:t>
            </a:r>
          </a:p>
          <a:p>
            <a:pPr>
              <a:lnSpc>
                <a:spcPct val="120000"/>
              </a:lnSpc>
            </a:pPr>
            <a:r>
              <a:rPr lang="en-US" altLang="zh-CN" b="1" dirty="0"/>
              <a:t>MySQL</a:t>
            </a:r>
            <a:r>
              <a:rPr lang="zh-CN" altLang="en-US" b="1" dirty="0"/>
              <a:t>（结构化信息）</a:t>
            </a:r>
          </a:p>
          <a:p>
            <a:pPr>
              <a:lnSpc>
                <a:spcPct val="120000"/>
              </a:lnSpc>
            </a:pPr>
            <a:r>
              <a:rPr lang="en-US" altLang="zh-CN" dirty="0"/>
              <a:t>MySQL </a:t>
            </a:r>
            <a:r>
              <a:rPr lang="zh-CN" altLang="en-US" dirty="0"/>
              <a:t>作为关系型数据库，</a:t>
            </a:r>
            <a:r>
              <a:rPr lang="zh-CN" altLang="en-US" b="1" dirty="0"/>
              <a:t>存储用户信息、会话配置、权限规则等结构化数据</a:t>
            </a:r>
            <a:r>
              <a:rPr lang="zh-CN" altLang="en-US" dirty="0"/>
              <a:t>：依托强事务性和数据一致性保障，确保用户账号、权限等核心数据准确；支持复杂的关联查询，满足结构化信息的多维度检索与管理需求。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96C40FE-7858-BB2C-1049-A9D595C880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6536" y="1417685"/>
            <a:ext cx="2596958" cy="828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90885E95-E4F8-0BC5-4712-6256051D48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0683" y="1147823"/>
            <a:ext cx="2720760" cy="1264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1539651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36E6F-B657-218D-A81B-0B2472752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直线连接符 22">
            <a:extLst>
              <a:ext uri="{FF2B5EF4-FFF2-40B4-BE49-F238E27FC236}">
                <a16:creationId xmlns:a16="http://schemas.microsoft.com/office/drawing/2014/main" id="{3183B68C-DA42-7AB0-ED69-C8A59473B677}"/>
              </a:ext>
            </a:extLst>
          </p:cNvPr>
          <p:cNvCxnSpPr>
            <a:cxnSpLocks/>
          </p:cNvCxnSpPr>
          <p:nvPr/>
        </p:nvCxnSpPr>
        <p:spPr>
          <a:xfrm>
            <a:off x="0" y="1010143"/>
            <a:ext cx="12192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AAFEE2D6-5033-7042-1DCE-B2818E4ABD99}"/>
              </a:ext>
            </a:extLst>
          </p:cNvPr>
          <p:cNvSpPr txBox="1"/>
          <p:nvPr/>
        </p:nvSpPr>
        <p:spPr>
          <a:xfrm>
            <a:off x="802093" y="245183"/>
            <a:ext cx="4665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 spc="300" dirty="0">
                <a:solidFill>
                  <a:srgbClr val="06449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 </a:t>
            </a:r>
            <a:r>
              <a:rPr kumimoji="1" lang="zh-CN" altLang="en-US" sz="2800" b="1" spc="300" dirty="0">
                <a:solidFill>
                  <a:srgbClr val="06449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系统设计</a:t>
            </a:r>
            <a:endParaRPr kumimoji="1" lang="en-US" altLang="zh-CN" sz="2400" b="1" spc="300" dirty="0">
              <a:solidFill>
                <a:srgbClr val="06449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19AFECF7-F639-F635-74EB-AE50C541F373}"/>
              </a:ext>
            </a:extLst>
          </p:cNvPr>
          <p:cNvSpPr/>
          <p:nvPr/>
        </p:nvSpPr>
        <p:spPr>
          <a:xfrm>
            <a:off x="421100" y="364783"/>
            <a:ext cx="284020" cy="284020"/>
          </a:xfrm>
          <a:prstGeom prst="ellipse">
            <a:avLst/>
          </a:prstGeom>
          <a:solidFill>
            <a:srgbClr val="0644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rgbClr val="06449A"/>
              </a:solidFill>
            </a:endParaRPr>
          </a:p>
        </p:txBody>
      </p:sp>
      <p:sp>
        <p:nvSpPr>
          <p:cNvPr id="96" name="单圆角矩形 3">
            <a:extLst>
              <a:ext uri="{FF2B5EF4-FFF2-40B4-BE49-F238E27FC236}">
                <a16:creationId xmlns:a16="http://schemas.microsoft.com/office/drawing/2014/main" id="{66B2FF5E-63E8-7D3A-B6A6-4B1F04279A91}"/>
              </a:ext>
            </a:extLst>
          </p:cNvPr>
          <p:cNvSpPr/>
          <p:nvPr/>
        </p:nvSpPr>
        <p:spPr>
          <a:xfrm flipV="1">
            <a:off x="124216" y="1734320"/>
            <a:ext cx="1298832" cy="607871"/>
          </a:xfrm>
          <a:prstGeom prst="round1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bg1"/>
              </a:solidFill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600A185D-0235-56B8-63A8-94DC91A8C2A2}"/>
              </a:ext>
            </a:extLst>
          </p:cNvPr>
          <p:cNvSpPr txBox="1"/>
          <p:nvPr/>
        </p:nvSpPr>
        <p:spPr>
          <a:xfrm>
            <a:off x="124216" y="6145096"/>
            <a:ext cx="1228449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kumimoji="1" lang="zh-CN" altLang="en-US" sz="1600" b="1" spc="3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参考文献</a:t>
            </a:r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D6DB18FC-FED1-8AB4-3BB0-73DC6DF4E7C8}"/>
              </a:ext>
            </a:extLst>
          </p:cNvPr>
          <p:cNvSpPr txBox="1"/>
          <p:nvPr/>
        </p:nvSpPr>
        <p:spPr>
          <a:xfrm>
            <a:off x="113043" y="2704889"/>
            <a:ext cx="1228449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kumimoji="1" lang="zh-CN" altLang="en-US" sz="1600" b="1" spc="3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国内外研究概况</a:t>
            </a: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0E266863-6965-51FB-C391-7E2DF58F40B0}"/>
              </a:ext>
            </a:extLst>
          </p:cNvPr>
          <p:cNvSpPr txBox="1"/>
          <p:nvPr/>
        </p:nvSpPr>
        <p:spPr>
          <a:xfrm>
            <a:off x="113043" y="3568337"/>
            <a:ext cx="1268709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 algn="ctr">
              <a:defRPr kumimoji="1" sz="1400" b="1" spc="3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sz="1600" dirty="0"/>
              <a:t>主要研究内容</a:t>
            </a: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DFE89FD4-D082-D104-C0C6-B44CA7CACAD7}"/>
              </a:ext>
            </a:extLst>
          </p:cNvPr>
          <p:cNvSpPr txBox="1"/>
          <p:nvPr/>
        </p:nvSpPr>
        <p:spPr>
          <a:xfrm>
            <a:off x="124216" y="5263082"/>
            <a:ext cx="1228449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 algn="ctr">
              <a:defRPr kumimoji="1" sz="1400" b="1" spc="3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sz="1600" dirty="0"/>
              <a:t>计划与进度安排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1D182B7-03FD-204F-D09A-573110B6F904}"/>
              </a:ext>
            </a:extLst>
          </p:cNvPr>
          <p:cNvSpPr txBox="1"/>
          <p:nvPr/>
        </p:nvSpPr>
        <p:spPr>
          <a:xfrm>
            <a:off x="153303" y="4471861"/>
            <a:ext cx="1228449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 algn="ctr">
              <a:defRPr kumimoji="1" sz="1400" b="1" spc="3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sz="1600" dirty="0"/>
              <a:t>研究进展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A71F4B1-65E1-925C-C80A-73BE64873B09}"/>
              </a:ext>
            </a:extLst>
          </p:cNvPr>
          <p:cNvSpPr txBox="1"/>
          <p:nvPr/>
        </p:nvSpPr>
        <p:spPr>
          <a:xfrm>
            <a:off x="375443" y="1214983"/>
            <a:ext cx="110324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4330" marR="0" lvl="0" indent="-354330" algn="l" defTabSz="914400" rtl="0" eaLnBrk="1" fontAlgn="base" latinLnBrk="0" hangingPunct="1">
              <a:lnSpc>
                <a:spcPct val="100000"/>
              </a:lnSpc>
              <a:spcBef>
                <a:spcPct val="45000"/>
              </a:spcBef>
              <a:spcAft>
                <a:spcPct val="0"/>
              </a:spcAft>
              <a:buClr>
                <a:srgbClr val="FBB030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en-US" altLang="zh-CN" sz="3200" b="1" kern="0" dirty="0">
                <a:solidFill>
                  <a:srgbClr val="06449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  <a:r>
              <a:rPr lang="zh-CN" altLang="en-US" sz="3200" b="1" kern="0" dirty="0">
                <a:solidFill>
                  <a:srgbClr val="06449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  <a:endParaRPr lang="en-US" altLang="zh-CN" sz="2400" b="1" kern="0" dirty="0">
              <a:solidFill>
                <a:srgbClr val="EEECE1">
                  <a:lumMod val="1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9A574E4-19B2-7910-63A2-17E1E0F95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7644" y="0"/>
            <a:ext cx="2724356" cy="96670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F6660269-D852-1366-5C30-71366D0A77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2401" y="82788"/>
            <a:ext cx="884895" cy="905839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F23AC207-42F7-8564-36DF-916363B3254A}"/>
              </a:ext>
            </a:extLst>
          </p:cNvPr>
          <p:cNvSpPr txBox="1"/>
          <p:nvPr/>
        </p:nvSpPr>
        <p:spPr>
          <a:xfrm>
            <a:off x="617838" y="1930272"/>
            <a:ext cx="10790091" cy="4662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/>
              <a:t>核心架构</a:t>
            </a:r>
          </a:p>
          <a:p>
            <a:pPr>
              <a:lnSpc>
                <a:spcPct val="150000"/>
              </a:lnSpc>
            </a:pPr>
            <a:r>
              <a:rPr lang="zh-CN" altLang="en-US" sz="2000" dirty="0"/>
              <a:t>基于 </a:t>
            </a:r>
            <a:r>
              <a:rPr lang="en-US" altLang="zh-CN" sz="2000" dirty="0"/>
              <a:t>Java </a:t>
            </a:r>
            <a:r>
              <a:rPr lang="zh-CN" altLang="en-US" sz="2000" dirty="0"/>
              <a:t>版 </a:t>
            </a:r>
            <a:r>
              <a:rPr lang="en-US" altLang="zh-CN" sz="2000" dirty="0"/>
              <a:t>Langchain4j </a:t>
            </a:r>
            <a:r>
              <a:rPr lang="zh-CN" altLang="en-US" sz="2000" dirty="0"/>
              <a:t>构建智能体核心框架，依托其组件化生态实现功能解耦，整体架构轻量化且易扩展，适配实时交互与多维度数据管理需求。</a:t>
            </a:r>
          </a:p>
          <a:p>
            <a:pPr>
              <a:lnSpc>
                <a:spcPct val="150000"/>
              </a:lnSpc>
            </a:pPr>
            <a:r>
              <a:rPr lang="zh-CN" altLang="en-US" sz="2000" b="1" dirty="0"/>
              <a:t>核心能力</a:t>
            </a:r>
          </a:p>
          <a:p>
            <a:pPr>
              <a:lnSpc>
                <a:spcPct val="150000"/>
              </a:lnSpc>
            </a:pPr>
            <a:r>
              <a:rPr lang="en-US" altLang="zh-CN" sz="2000" dirty="0"/>
              <a:t>- </a:t>
            </a:r>
            <a:r>
              <a:rPr lang="zh-CN" altLang="en-US" sz="2000" dirty="0"/>
              <a:t>流式输出：集成 </a:t>
            </a:r>
            <a:r>
              <a:rPr lang="en-US" altLang="zh-CN" sz="2000" dirty="0"/>
              <a:t>Langchain4j </a:t>
            </a:r>
            <a:r>
              <a:rPr lang="zh-CN" altLang="en-US" sz="2000" dirty="0"/>
              <a:t>流式响应接口，结合 </a:t>
            </a:r>
            <a:r>
              <a:rPr lang="en-US" altLang="zh-CN" sz="2000" dirty="0"/>
              <a:t>SSE </a:t>
            </a:r>
            <a:r>
              <a:rPr lang="zh-CN" altLang="en-US" sz="2000" dirty="0"/>
              <a:t>协议实现 </a:t>
            </a:r>
            <a:r>
              <a:rPr lang="en-US" altLang="zh-CN" sz="2000" dirty="0"/>
              <a:t>AI </a:t>
            </a:r>
            <a:r>
              <a:rPr lang="zh-CN" altLang="en-US" sz="2000" dirty="0"/>
              <a:t>回复实时推送，提升用户</a:t>
            </a:r>
            <a:r>
              <a:rPr lang="en-US" altLang="zh-CN" sz="2000" dirty="0"/>
              <a:t>- - </a:t>
            </a:r>
            <a:r>
              <a:rPr lang="zh-CN" altLang="en-US" sz="2000" dirty="0"/>
              <a:t>内容检索：通过 </a:t>
            </a:r>
            <a:r>
              <a:rPr lang="en-US" altLang="zh-CN" sz="2000" dirty="0"/>
              <a:t>contentRetriever </a:t>
            </a:r>
            <a:r>
              <a:rPr lang="zh-CN" altLang="en-US" sz="2000" dirty="0"/>
              <a:t>组件对接多数据源（课程评价、课程介绍），支持聊天上下文 </a:t>
            </a:r>
            <a:r>
              <a:rPr lang="en-US" altLang="zh-CN" sz="2000" dirty="0"/>
              <a:t>+ </a:t>
            </a:r>
            <a:r>
              <a:rPr lang="zh-CN" altLang="en-US" sz="2000" dirty="0"/>
              <a:t>知识库精准检索，增强问答准确性。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000" b="1" dirty="0"/>
              <a:t>模型选择</a:t>
            </a:r>
            <a:r>
              <a:rPr lang="en-US" altLang="zh-CN" sz="2000" b="1" dirty="0"/>
              <a:t>: </a:t>
            </a:r>
            <a:r>
              <a:rPr lang="en-US" altLang="zh-CN" sz="2000" dirty="0"/>
              <a:t>Qwen-plus</a:t>
            </a:r>
            <a:r>
              <a:rPr lang="zh-CN" altLang="en-US" sz="2000" dirty="0"/>
              <a:t>流式大模型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000" b="1" dirty="0"/>
              <a:t>向量数据库选择</a:t>
            </a:r>
            <a:r>
              <a:rPr lang="en-US" altLang="zh-CN" sz="2000" b="1" dirty="0"/>
              <a:t>: </a:t>
            </a:r>
            <a:r>
              <a:rPr lang="en-US" altLang="zh-CN" sz="2000" dirty="0"/>
              <a:t>Pinecone</a:t>
            </a:r>
            <a:r>
              <a:rPr lang="zh-CN" altLang="en-US" sz="2000" dirty="0"/>
              <a:t>向量数据库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000" b="1" dirty="0"/>
              <a:t>向量模型选择</a:t>
            </a:r>
            <a:r>
              <a:rPr lang="en-US" altLang="zh-CN" sz="2000" b="1" dirty="0"/>
              <a:t>: </a:t>
            </a:r>
            <a:r>
              <a:rPr lang="en-US" altLang="zh-CN" sz="2000" dirty="0"/>
              <a:t>text-embedding-v4</a:t>
            </a:r>
          </a:p>
        </p:txBody>
      </p:sp>
    </p:spTree>
    <p:extLst>
      <p:ext uri="{BB962C8B-B14F-4D97-AF65-F5344CB8AC3E}">
        <p14:creationId xmlns:p14="http://schemas.microsoft.com/office/powerpoint/2010/main" val="3049281984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E488E-6377-9B0D-181A-A68FAF52E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183726C7-659D-4FF6-9D19-A457B7B99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41" y="1677484"/>
            <a:ext cx="5244292" cy="5058242"/>
          </a:xfrm>
          <a:prstGeom prst="rect">
            <a:avLst/>
          </a:prstGeom>
        </p:spPr>
      </p:pic>
      <p:cxnSp>
        <p:nvCxnSpPr>
          <p:cNvPr id="23" name="直线连接符 22">
            <a:extLst>
              <a:ext uri="{FF2B5EF4-FFF2-40B4-BE49-F238E27FC236}">
                <a16:creationId xmlns:a16="http://schemas.microsoft.com/office/drawing/2014/main" id="{DFD8E71A-0473-4C38-AC2F-AAA569FA9318}"/>
              </a:ext>
            </a:extLst>
          </p:cNvPr>
          <p:cNvCxnSpPr>
            <a:cxnSpLocks/>
          </p:cNvCxnSpPr>
          <p:nvPr/>
        </p:nvCxnSpPr>
        <p:spPr>
          <a:xfrm>
            <a:off x="0" y="1010143"/>
            <a:ext cx="12192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7F9454D6-7BE1-6310-5296-1A16C3CF7909}"/>
              </a:ext>
            </a:extLst>
          </p:cNvPr>
          <p:cNvSpPr txBox="1"/>
          <p:nvPr/>
        </p:nvSpPr>
        <p:spPr>
          <a:xfrm>
            <a:off x="802093" y="245183"/>
            <a:ext cx="4665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 spc="300" dirty="0">
                <a:solidFill>
                  <a:srgbClr val="06449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 </a:t>
            </a:r>
            <a:r>
              <a:rPr kumimoji="1" lang="zh-CN" altLang="en-US" sz="2800" b="1" spc="300" dirty="0">
                <a:solidFill>
                  <a:srgbClr val="06449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系统设计</a:t>
            </a:r>
            <a:endParaRPr kumimoji="1" lang="en-US" altLang="zh-CN" sz="2400" b="1" spc="300" dirty="0">
              <a:solidFill>
                <a:srgbClr val="06449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EF8D33CA-4F21-E3F2-6A5E-19C7B098A9AD}"/>
              </a:ext>
            </a:extLst>
          </p:cNvPr>
          <p:cNvSpPr/>
          <p:nvPr/>
        </p:nvSpPr>
        <p:spPr>
          <a:xfrm>
            <a:off x="421100" y="364783"/>
            <a:ext cx="284020" cy="284020"/>
          </a:xfrm>
          <a:prstGeom prst="ellipse">
            <a:avLst/>
          </a:prstGeom>
          <a:solidFill>
            <a:srgbClr val="0644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1" dirty="0">
              <a:solidFill>
                <a:srgbClr val="06449A"/>
              </a:solidFill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D26E4C3D-00C2-021A-CE5B-2D8A4FF1490F}"/>
              </a:ext>
            </a:extLst>
          </p:cNvPr>
          <p:cNvSpPr txBox="1"/>
          <p:nvPr/>
        </p:nvSpPr>
        <p:spPr>
          <a:xfrm>
            <a:off x="124216" y="6145096"/>
            <a:ext cx="1228449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kumimoji="1" lang="zh-CN" altLang="en-US" sz="1600" b="1" spc="3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参考文献</a:t>
            </a:r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BC781717-06CE-FF60-2C4D-373F94BBE457}"/>
              </a:ext>
            </a:extLst>
          </p:cNvPr>
          <p:cNvSpPr txBox="1"/>
          <p:nvPr/>
        </p:nvSpPr>
        <p:spPr>
          <a:xfrm>
            <a:off x="113043" y="2704889"/>
            <a:ext cx="1228449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kumimoji="1" lang="zh-CN" altLang="en-US" sz="1600" b="1" spc="3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国内外研究概况</a:t>
            </a: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5538F9D4-B6D7-1E71-BB9E-037B8E00F5F8}"/>
              </a:ext>
            </a:extLst>
          </p:cNvPr>
          <p:cNvSpPr txBox="1"/>
          <p:nvPr/>
        </p:nvSpPr>
        <p:spPr>
          <a:xfrm>
            <a:off x="113043" y="3568337"/>
            <a:ext cx="1268709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 algn="ctr">
              <a:defRPr kumimoji="1" sz="1400" b="1" spc="3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sz="1600" dirty="0"/>
              <a:t>主要研究内容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C92FF88-1612-4C06-B149-8E6DB6A31436}"/>
              </a:ext>
            </a:extLst>
          </p:cNvPr>
          <p:cNvSpPr txBox="1"/>
          <p:nvPr/>
        </p:nvSpPr>
        <p:spPr>
          <a:xfrm>
            <a:off x="153303" y="4471861"/>
            <a:ext cx="1228449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 algn="ctr">
              <a:defRPr kumimoji="1" sz="1400" b="1" spc="3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sz="1600" dirty="0"/>
              <a:t>研究进展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3A60186-E9B9-7016-F968-2ADBAEB8A52E}"/>
              </a:ext>
            </a:extLst>
          </p:cNvPr>
          <p:cNvSpPr txBox="1"/>
          <p:nvPr/>
        </p:nvSpPr>
        <p:spPr>
          <a:xfrm>
            <a:off x="299902" y="1092709"/>
            <a:ext cx="110324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4330" marR="0" lvl="0" indent="-354330" algn="l" defTabSz="914400" rtl="0" eaLnBrk="1" fontAlgn="base" latinLnBrk="0" hangingPunct="1">
              <a:lnSpc>
                <a:spcPct val="100000"/>
              </a:lnSpc>
              <a:spcBef>
                <a:spcPct val="45000"/>
              </a:spcBef>
              <a:spcAft>
                <a:spcPct val="0"/>
              </a:spcAft>
              <a:buClr>
                <a:srgbClr val="FBB030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en-US" altLang="zh-CN" sz="3200" b="1" kern="0" dirty="0">
                <a:solidFill>
                  <a:srgbClr val="06449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  <a:r>
              <a:rPr lang="zh-CN" altLang="en-US" sz="3200" b="1" kern="0" dirty="0">
                <a:solidFill>
                  <a:srgbClr val="06449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  <a:endParaRPr lang="en-US" altLang="zh-CN" sz="2400" b="1" kern="0" dirty="0">
              <a:solidFill>
                <a:srgbClr val="EEECE1">
                  <a:lumMod val="1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E8A2DD2-7710-F692-43E9-5D2CCF85D8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7644" y="0"/>
            <a:ext cx="2724356" cy="96670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E82A66B5-F080-EE25-201C-3161F93123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42401" y="82788"/>
            <a:ext cx="884895" cy="905839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D59C7255-D37C-146A-69A4-E94A7725C352}"/>
              </a:ext>
            </a:extLst>
          </p:cNvPr>
          <p:cNvSpPr txBox="1"/>
          <p:nvPr/>
        </p:nvSpPr>
        <p:spPr>
          <a:xfrm>
            <a:off x="3059815" y="1371484"/>
            <a:ext cx="10790091" cy="507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/>
              <a:t>提示词</a:t>
            </a:r>
            <a:endParaRPr lang="en-US" altLang="zh-CN" sz="2000" b="1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B4B2CDAD-042D-4C7E-A25D-0EAA1B8CE4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1780" y="2704889"/>
            <a:ext cx="6105883" cy="3450142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3B79478B-4CCB-BE42-A2F2-153DF1FEA2E5}"/>
              </a:ext>
            </a:extLst>
          </p:cNvPr>
          <p:cNvSpPr txBox="1"/>
          <p:nvPr/>
        </p:nvSpPr>
        <p:spPr>
          <a:xfrm>
            <a:off x="8242478" y="1987783"/>
            <a:ext cx="1390919" cy="46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/>
              <a:t>向量数据库</a:t>
            </a:r>
            <a:endParaRPr lang="en-US" altLang="zh-CN" b="1" dirty="0"/>
          </a:p>
        </p:txBody>
      </p:sp>
    </p:spTree>
    <p:extLst>
      <p:ext uri="{BB962C8B-B14F-4D97-AF65-F5344CB8AC3E}">
        <p14:creationId xmlns:p14="http://schemas.microsoft.com/office/powerpoint/2010/main" val="4239553593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F3ADF-EF37-708D-0797-682AFD251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直线连接符 22">
            <a:extLst>
              <a:ext uri="{FF2B5EF4-FFF2-40B4-BE49-F238E27FC236}">
                <a16:creationId xmlns:a16="http://schemas.microsoft.com/office/drawing/2014/main" id="{EC1A3042-EFF3-0C4D-8700-9457482EE7A4}"/>
              </a:ext>
            </a:extLst>
          </p:cNvPr>
          <p:cNvCxnSpPr>
            <a:cxnSpLocks/>
          </p:cNvCxnSpPr>
          <p:nvPr/>
        </p:nvCxnSpPr>
        <p:spPr>
          <a:xfrm>
            <a:off x="0" y="1010143"/>
            <a:ext cx="12192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2B0B3F3E-0F16-EA8A-6E10-C0742E997F22}"/>
              </a:ext>
            </a:extLst>
          </p:cNvPr>
          <p:cNvSpPr txBox="1"/>
          <p:nvPr/>
        </p:nvSpPr>
        <p:spPr>
          <a:xfrm>
            <a:off x="802093" y="245183"/>
            <a:ext cx="4665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 spc="300" dirty="0">
                <a:solidFill>
                  <a:srgbClr val="06449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 </a:t>
            </a:r>
            <a:r>
              <a:rPr kumimoji="1" lang="zh-CN" altLang="en-US" sz="2800" b="1" spc="300" dirty="0">
                <a:solidFill>
                  <a:srgbClr val="06449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系统设计</a:t>
            </a:r>
            <a:endParaRPr kumimoji="1" lang="en-US" altLang="zh-CN" sz="2400" b="1" spc="300" dirty="0">
              <a:solidFill>
                <a:srgbClr val="06449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AB3EA1C1-A181-5F69-5423-91DE87FD5AF8}"/>
              </a:ext>
            </a:extLst>
          </p:cNvPr>
          <p:cNvSpPr/>
          <p:nvPr/>
        </p:nvSpPr>
        <p:spPr>
          <a:xfrm>
            <a:off x="421100" y="364783"/>
            <a:ext cx="284020" cy="284020"/>
          </a:xfrm>
          <a:prstGeom prst="ellipse">
            <a:avLst/>
          </a:prstGeom>
          <a:solidFill>
            <a:srgbClr val="0644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rgbClr val="06449A"/>
              </a:solidFill>
            </a:endParaRPr>
          </a:p>
        </p:txBody>
      </p:sp>
      <p:sp>
        <p:nvSpPr>
          <p:cNvPr id="96" name="单圆角矩形 3">
            <a:extLst>
              <a:ext uri="{FF2B5EF4-FFF2-40B4-BE49-F238E27FC236}">
                <a16:creationId xmlns:a16="http://schemas.microsoft.com/office/drawing/2014/main" id="{DB3B5A25-EE62-44B4-577D-9ED84673EE9D}"/>
              </a:ext>
            </a:extLst>
          </p:cNvPr>
          <p:cNvSpPr/>
          <p:nvPr/>
        </p:nvSpPr>
        <p:spPr>
          <a:xfrm flipV="1">
            <a:off x="859443" y="2357004"/>
            <a:ext cx="1298832" cy="607871"/>
          </a:xfrm>
          <a:prstGeom prst="round1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bg1"/>
              </a:solidFill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B077962A-8ADB-AA5F-0EA8-7E863E664C12}"/>
              </a:ext>
            </a:extLst>
          </p:cNvPr>
          <p:cNvSpPr txBox="1"/>
          <p:nvPr/>
        </p:nvSpPr>
        <p:spPr>
          <a:xfrm>
            <a:off x="124216" y="6145096"/>
            <a:ext cx="1228449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kumimoji="1" lang="zh-CN" altLang="en-US" sz="1600" b="1" spc="3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参考文献</a:t>
            </a:r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F0AB6EBA-C886-8F85-EE19-C67D5E85F7FE}"/>
              </a:ext>
            </a:extLst>
          </p:cNvPr>
          <p:cNvSpPr txBox="1"/>
          <p:nvPr/>
        </p:nvSpPr>
        <p:spPr>
          <a:xfrm>
            <a:off x="113043" y="2704889"/>
            <a:ext cx="1228449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kumimoji="1" lang="zh-CN" altLang="en-US" sz="1600" b="1" spc="3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国内外研究概况</a:t>
            </a: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0EF3138F-9569-4C19-288F-23C01CE0C4CA}"/>
              </a:ext>
            </a:extLst>
          </p:cNvPr>
          <p:cNvSpPr txBox="1"/>
          <p:nvPr/>
        </p:nvSpPr>
        <p:spPr>
          <a:xfrm>
            <a:off x="113043" y="3568337"/>
            <a:ext cx="1268709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 algn="ctr">
              <a:defRPr kumimoji="1" sz="1400" b="1" spc="3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sz="1600" dirty="0"/>
              <a:t>主要研究内容</a:t>
            </a: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26123185-ACF7-4F0C-F779-5E88D4E58129}"/>
              </a:ext>
            </a:extLst>
          </p:cNvPr>
          <p:cNvSpPr txBox="1"/>
          <p:nvPr/>
        </p:nvSpPr>
        <p:spPr>
          <a:xfrm>
            <a:off x="124216" y="5263082"/>
            <a:ext cx="1228449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 algn="ctr">
              <a:defRPr kumimoji="1" sz="1400" b="1" spc="3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sz="1600" dirty="0"/>
              <a:t>计划与进度安排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408F69D-94A5-6342-2F8B-96DA826382E4}"/>
              </a:ext>
            </a:extLst>
          </p:cNvPr>
          <p:cNvSpPr txBox="1"/>
          <p:nvPr/>
        </p:nvSpPr>
        <p:spPr>
          <a:xfrm>
            <a:off x="375443" y="1214983"/>
            <a:ext cx="110324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4330" marR="0" lvl="0" indent="-354330" algn="l" defTabSz="914400" rtl="0" eaLnBrk="1" fontAlgn="base" latinLnBrk="0" hangingPunct="1">
              <a:lnSpc>
                <a:spcPct val="100000"/>
              </a:lnSpc>
              <a:spcBef>
                <a:spcPct val="45000"/>
              </a:spcBef>
              <a:spcAft>
                <a:spcPct val="0"/>
              </a:spcAft>
              <a:buClr>
                <a:srgbClr val="FBB030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3200" b="1" kern="0" dirty="0">
                <a:solidFill>
                  <a:srgbClr val="06449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模块设计</a:t>
            </a:r>
            <a:endParaRPr lang="en-US" altLang="zh-CN" sz="2400" b="1" kern="0" dirty="0">
              <a:solidFill>
                <a:srgbClr val="EEECE1">
                  <a:lumMod val="1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164FE08-18E3-9B3A-0EA5-DE6B95EFAA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7644" y="0"/>
            <a:ext cx="2724356" cy="96670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8ADCA491-D498-BDE0-B65B-653CD4589E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42401" y="82788"/>
            <a:ext cx="884895" cy="90583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0E4080E-FB22-AF97-92E8-2DBE5F322A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110" y="3348102"/>
            <a:ext cx="4579751" cy="279699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C0870BF-8EA8-B95B-FD98-B7F09A5DA6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22570" y="1251884"/>
            <a:ext cx="4365539" cy="5367389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25E8CBDB-E4A7-57E1-C52F-934CD270D325}"/>
              </a:ext>
            </a:extLst>
          </p:cNvPr>
          <p:cNvSpPr txBox="1"/>
          <p:nvPr/>
        </p:nvSpPr>
        <p:spPr>
          <a:xfrm>
            <a:off x="2410659" y="2704889"/>
            <a:ext cx="1879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系统总览图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68D2975-2DAC-C102-F0C1-D7231F344FDF}"/>
              </a:ext>
            </a:extLst>
          </p:cNvPr>
          <p:cNvSpPr txBox="1"/>
          <p:nvPr/>
        </p:nvSpPr>
        <p:spPr>
          <a:xfrm>
            <a:off x="5619146" y="2704888"/>
            <a:ext cx="2269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后端总览图</a:t>
            </a:r>
          </a:p>
        </p:txBody>
      </p:sp>
    </p:spTree>
    <p:extLst>
      <p:ext uri="{BB962C8B-B14F-4D97-AF65-F5344CB8AC3E}">
        <p14:creationId xmlns:p14="http://schemas.microsoft.com/office/powerpoint/2010/main" val="3542913706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BA7A5-6172-DCF8-E92F-F5AECCBC3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直线连接符 22">
            <a:extLst>
              <a:ext uri="{FF2B5EF4-FFF2-40B4-BE49-F238E27FC236}">
                <a16:creationId xmlns:a16="http://schemas.microsoft.com/office/drawing/2014/main" id="{955D1522-D6B3-8362-5753-508AF99B73D0}"/>
              </a:ext>
            </a:extLst>
          </p:cNvPr>
          <p:cNvCxnSpPr>
            <a:cxnSpLocks/>
          </p:cNvCxnSpPr>
          <p:nvPr/>
        </p:nvCxnSpPr>
        <p:spPr>
          <a:xfrm>
            <a:off x="0" y="1010143"/>
            <a:ext cx="12192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D487CCAD-61DC-A89E-D72A-ED5F3D0AD956}"/>
              </a:ext>
            </a:extLst>
          </p:cNvPr>
          <p:cNvSpPr txBox="1"/>
          <p:nvPr/>
        </p:nvSpPr>
        <p:spPr>
          <a:xfrm>
            <a:off x="802093" y="245183"/>
            <a:ext cx="4665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 spc="300" dirty="0">
                <a:solidFill>
                  <a:srgbClr val="06449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 </a:t>
            </a:r>
            <a:r>
              <a:rPr kumimoji="1" lang="zh-CN" altLang="en-US" sz="2800" b="1" spc="300" dirty="0">
                <a:solidFill>
                  <a:srgbClr val="06449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系统设计</a:t>
            </a:r>
            <a:endParaRPr kumimoji="1" lang="en-US" altLang="zh-CN" sz="2400" b="1" spc="300" dirty="0">
              <a:solidFill>
                <a:srgbClr val="06449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629D907E-F8D6-16B1-BEA1-3B142AE08042}"/>
              </a:ext>
            </a:extLst>
          </p:cNvPr>
          <p:cNvSpPr/>
          <p:nvPr/>
        </p:nvSpPr>
        <p:spPr>
          <a:xfrm>
            <a:off x="421100" y="364783"/>
            <a:ext cx="284020" cy="284020"/>
          </a:xfrm>
          <a:prstGeom prst="ellipse">
            <a:avLst/>
          </a:prstGeom>
          <a:solidFill>
            <a:srgbClr val="0644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rgbClr val="06449A"/>
              </a:solidFill>
            </a:endParaRPr>
          </a:p>
        </p:txBody>
      </p:sp>
      <p:sp>
        <p:nvSpPr>
          <p:cNvPr id="96" name="单圆角矩形 3">
            <a:extLst>
              <a:ext uri="{FF2B5EF4-FFF2-40B4-BE49-F238E27FC236}">
                <a16:creationId xmlns:a16="http://schemas.microsoft.com/office/drawing/2014/main" id="{C607BCF0-86E7-6761-977F-F8046F389394}"/>
              </a:ext>
            </a:extLst>
          </p:cNvPr>
          <p:cNvSpPr/>
          <p:nvPr/>
        </p:nvSpPr>
        <p:spPr>
          <a:xfrm flipV="1">
            <a:off x="859443" y="2357004"/>
            <a:ext cx="1298832" cy="607871"/>
          </a:xfrm>
          <a:prstGeom prst="round1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bg1"/>
              </a:solidFill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C5CD1741-D728-D5F6-8E05-13E432808295}"/>
              </a:ext>
            </a:extLst>
          </p:cNvPr>
          <p:cNvSpPr txBox="1"/>
          <p:nvPr/>
        </p:nvSpPr>
        <p:spPr>
          <a:xfrm>
            <a:off x="124216" y="6145096"/>
            <a:ext cx="1228449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kumimoji="1" lang="zh-CN" altLang="en-US" sz="1600" b="1" spc="3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参考文献</a:t>
            </a:r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D8E3F8B1-534E-C8AA-8DE2-1A101832A1FF}"/>
              </a:ext>
            </a:extLst>
          </p:cNvPr>
          <p:cNvSpPr txBox="1"/>
          <p:nvPr/>
        </p:nvSpPr>
        <p:spPr>
          <a:xfrm>
            <a:off x="113043" y="2704889"/>
            <a:ext cx="1228449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kumimoji="1" lang="zh-CN" altLang="en-US" sz="1600" b="1" spc="3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国内外研究概况</a:t>
            </a: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2AF2712B-3229-8969-733E-8FC7F7B451B8}"/>
              </a:ext>
            </a:extLst>
          </p:cNvPr>
          <p:cNvSpPr txBox="1"/>
          <p:nvPr/>
        </p:nvSpPr>
        <p:spPr>
          <a:xfrm>
            <a:off x="113043" y="3568337"/>
            <a:ext cx="1268709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 algn="ctr">
              <a:defRPr kumimoji="1" sz="1400" b="1" spc="3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sz="1600" dirty="0"/>
              <a:t>主要研究内容</a:t>
            </a: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E742BB81-F249-789E-CBE1-E2E37313CBDB}"/>
              </a:ext>
            </a:extLst>
          </p:cNvPr>
          <p:cNvSpPr txBox="1"/>
          <p:nvPr/>
        </p:nvSpPr>
        <p:spPr>
          <a:xfrm>
            <a:off x="124216" y="5263082"/>
            <a:ext cx="1228449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 algn="ctr">
              <a:defRPr kumimoji="1" sz="1400" b="1" spc="3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sz="1600" dirty="0"/>
              <a:t>计划与进度安排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1DA5CDF-8D5F-D4BE-F367-21C3B298CD36}"/>
              </a:ext>
            </a:extLst>
          </p:cNvPr>
          <p:cNvSpPr txBox="1"/>
          <p:nvPr/>
        </p:nvSpPr>
        <p:spPr>
          <a:xfrm>
            <a:off x="375443" y="1214983"/>
            <a:ext cx="110324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4330" marR="0" lvl="0" indent="-354330" algn="l" defTabSz="914400" rtl="0" eaLnBrk="1" fontAlgn="base" latinLnBrk="0" hangingPunct="1">
              <a:lnSpc>
                <a:spcPct val="100000"/>
              </a:lnSpc>
              <a:spcBef>
                <a:spcPct val="45000"/>
              </a:spcBef>
              <a:spcAft>
                <a:spcPct val="0"/>
              </a:spcAft>
              <a:buClr>
                <a:srgbClr val="FBB030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3200" b="1" kern="0" dirty="0">
                <a:solidFill>
                  <a:srgbClr val="06449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模块设计</a:t>
            </a:r>
            <a:endParaRPr lang="en-US" altLang="zh-CN" sz="2400" b="1" kern="0" dirty="0">
              <a:solidFill>
                <a:srgbClr val="EEECE1">
                  <a:lumMod val="1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BC3790E-7C09-E45F-502D-11462DF710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7644" y="0"/>
            <a:ext cx="2724356" cy="96670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2D0CAD9-FCE1-8684-C946-E9C4DBAB17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42401" y="82788"/>
            <a:ext cx="884895" cy="90583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B3A61C2-4CDB-7EC8-FE99-1B5945882C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235" y="2660939"/>
            <a:ext cx="4767938" cy="3422266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0C32BDBD-6E46-F184-2C7E-BC6D2E8758F7}"/>
              </a:ext>
            </a:extLst>
          </p:cNvPr>
          <p:cNvSpPr txBox="1"/>
          <p:nvPr/>
        </p:nvSpPr>
        <p:spPr>
          <a:xfrm>
            <a:off x="2224451" y="1990418"/>
            <a:ext cx="1879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前端总览图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EE48B4CD-A5E3-12B1-845E-D1D4C1AAFB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7366" y="1715796"/>
            <a:ext cx="5460564" cy="4719688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83C210A2-2AF9-E6FF-763D-0F11712D5F7E}"/>
              </a:ext>
            </a:extLst>
          </p:cNvPr>
          <p:cNvSpPr txBox="1"/>
          <p:nvPr/>
        </p:nvSpPr>
        <p:spPr>
          <a:xfrm>
            <a:off x="8434846" y="1151711"/>
            <a:ext cx="1879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页面子层图</a:t>
            </a:r>
          </a:p>
        </p:txBody>
      </p:sp>
    </p:spTree>
    <p:extLst>
      <p:ext uri="{BB962C8B-B14F-4D97-AF65-F5344CB8AC3E}">
        <p14:creationId xmlns:p14="http://schemas.microsoft.com/office/powerpoint/2010/main" val="630288642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A811F-5D9B-07C2-0419-0955E3427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直线连接符 22">
            <a:extLst>
              <a:ext uri="{FF2B5EF4-FFF2-40B4-BE49-F238E27FC236}">
                <a16:creationId xmlns:a16="http://schemas.microsoft.com/office/drawing/2014/main" id="{BA5BC71D-1B97-BE61-16E7-1B89AD652F95}"/>
              </a:ext>
            </a:extLst>
          </p:cNvPr>
          <p:cNvCxnSpPr>
            <a:cxnSpLocks/>
          </p:cNvCxnSpPr>
          <p:nvPr/>
        </p:nvCxnSpPr>
        <p:spPr>
          <a:xfrm>
            <a:off x="0" y="1010143"/>
            <a:ext cx="12192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4555403A-96FE-190A-2876-76A46527089E}"/>
              </a:ext>
            </a:extLst>
          </p:cNvPr>
          <p:cNvSpPr txBox="1"/>
          <p:nvPr/>
        </p:nvSpPr>
        <p:spPr>
          <a:xfrm>
            <a:off x="802093" y="245183"/>
            <a:ext cx="4665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 spc="300" dirty="0">
                <a:solidFill>
                  <a:srgbClr val="06449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 </a:t>
            </a:r>
            <a:r>
              <a:rPr kumimoji="1" lang="zh-CN" altLang="en-US" sz="2800" b="1" spc="300" dirty="0">
                <a:solidFill>
                  <a:srgbClr val="06449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系统设计</a:t>
            </a:r>
            <a:endParaRPr kumimoji="1" lang="en-US" altLang="zh-CN" sz="2400" b="1" spc="300" dirty="0">
              <a:solidFill>
                <a:srgbClr val="06449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3129EFE4-E6AF-181D-79B1-77C275A743DE}"/>
              </a:ext>
            </a:extLst>
          </p:cNvPr>
          <p:cNvSpPr/>
          <p:nvPr/>
        </p:nvSpPr>
        <p:spPr>
          <a:xfrm>
            <a:off x="421100" y="364783"/>
            <a:ext cx="284020" cy="284020"/>
          </a:xfrm>
          <a:prstGeom prst="ellipse">
            <a:avLst/>
          </a:prstGeom>
          <a:solidFill>
            <a:srgbClr val="0644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rgbClr val="06449A"/>
              </a:solidFill>
            </a:endParaRPr>
          </a:p>
        </p:txBody>
      </p:sp>
      <p:sp>
        <p:nvSpPr>
          <p:cNvPr id="96" name="单圆角矩形 3">
            <a:extLst>
              <a:ext uri="{FF2B5EF4-FFF2-40B4-BE49-F238E27FC236}">
                <a16:creationId xmlns:a16="http://schemas.microsoft.com/office/drawing/2014/main" id="{69C8540B-9108-69C1-0C61-7AD111D42F2A}"/>
              </a:ext>
            </a:extLst>
          </p:cNvPr>
          <p:cNvSpPr/>
          <p:nvPr/>
        </p:nvSpPr>
        <p:spPr>
          <a:xfrm flipV="1">
            <a:off x="859443" y="2357004"/>
            <a:ext cx="1298832" cy="607871"/>
          </a:xfrm>
          <a:prstGeom prst="round1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bg1"/>
              </a:solidFill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77EF20A9-74D0-7CBF-118D-AE0FEFF94EC8}"/>
              </a:ext>
            </a:extLst>
          </p:cNvPr>
          <p:cNvSpPr txBox="1"/>
          <p:nvPr/>
        </p:nvSpPr>
        <p:spPr>
          <a:xfrm>
            <a:off x="124216" y="6145096"/>
            <a:ext cx="1228449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kumimoji="1" lang="zh-CN" altLang="en-US" sz="1600" b="1" spc="3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参考文献</a:t>
            </a:r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12882B0D-6ECE-59DB-5AE7-78D89825B022}"/>
              </a:ext>
            </a:extLst>
          </p:cNvPr>
          <p:cNvSpPr txBox="1"/>
          <p:nvPr/>
        </p:nvSpPr>
        <p:spPr>
          <a:xfrm>
            <a:off x="113043" y="2704889"/>
            <a:ext cx="1228449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kumimoji="1" lang="zh-CN" altLang="en-US" sz="1600" b="1" spc="3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国内外研究概况</a:t>
            </a: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BAE8A0FF-90C3-18BD-361C-EDF36F58EF37}"/>
              </a:ext>
            </a:extLst>
          </p:cNvPr>
          <p:cNvSpPr txBox="1"/>
          <p:nvPr/>
        </p:nvSpPr>
        <p:spPr>
          <a:xfrm>
            <a:off x="113043" y="3568337"/>
            <a:ext cx="1268709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 algn="ctr">
              <a:defRPr kumimoji="1" sz="1400" b="1" spc="3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sz="1600" dirty="0"/>
              <a:t>主要研究内容</a:t>
            </a: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01D7AA1A-B23F-A572-A2AD-D0F5E5D00457}"/>
              </a:ext>
            </a:extLst>
          </p:cNvPr>
          <p:cNvSpPr txBox="1"/>
          <p:nvPr/>
        </p:nvSpPr>
        <p:spPr>
          <a:xfrm>
            <a:off x="124216" y="5263082"/>
            <a:ext cx="1228449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 algn="ctr">
              <a:defRPr kumimoji="1" sz="1400" b="1" spc="3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sz="1600" dirty="0"/>
              <a:t>计划与进度安排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989E431-7E12-56D3-B86B-DF1683DE28F1}"/>
              </a:ext>
            </a:extLst>
          </p:cNvPr>
          <p:cNvSpPr txBox="1"/>
          <p:nvPr/>
        </p:nvSpPr>
        <p:spPr>
          <a:xfrm>
            <a:off x="375443" y="1214983"/>
            <a:ext cx="110324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4330" marR="0" lvl="0" indent="-354330" algn="l" defTabSz="914400" rtl="0" eaLnBrk="1" fontAlgn="base" latinLnBrk="0" hangingPunct="1">
              <a:lnSpc>
                <a:spcPct val="100000"/>
              </a:lnSpc>
              <a:spcBef>
                <a:spcPct val="45000"/>
              </a:spcBef>
              <a:spcAft>
                <a:spcPct val="0"/>
              </a:spcAft>
              <a:buClr>
                <a:srgbClr val="FBB030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3200" b="1" kern="0" dirty="0">
                <a:solidFill>
                  <a:srgbClr val="06449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模块设计</a:t>
            </a:r>
            <a:endParaRPr lang="en-US" altLang="zh-CN" sz="2400" b="1" kern="0" dirty="0">
              <a:solidFill>
                <a:srgbClr val="EEECE1">
                  <a:lumMod val="1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5141135-35FD-6CF4-797F-E22E496139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7644" y="0"/>
            <a:ext cx="2724356" cy="96670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1C9D444B-4623-C120-9D3C-D62E98EBCC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42401" y="82788"/>
            <a:ext cx="884895" cy="90583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63DCDD3-3688-A664-C7FD-9112DF9011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579" y="2609148"/>
            <a:ext cx="10801350" cy="370522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285681A-3D61-9B69-8789-34E39ECC8B2B}"/>
              </a:ext>
            </a:extLst>
          </p:cNvPr>
          <p:cNvSpPr txBox="1"/>
          <p:nvPr/>
        </p:nvSpPr>
        <p:spPr>
          <a:xfrm>
            <a:off x="4919024" y="1958655"/>
            <a:ext cx="2818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AI</a:t>
            </a:r>
            <a:r>
              <a:rPr lang="zh-CN" altLang="en-US" sz="2400" b="1" dirty="0"/>
              <a:t>服务总览图</a:t>
            </a:r>
          </a:p>
        </p:txBody>
      </p:sp>
    </p:spTree>
    <p:extLst>
      <p:ext uri="{BB962C8B-B14F-4D97-AF65-F5344CB8AC3E}">
        <p14:creationId xmlns:p14="http://schemas.microsoft.com/office/powerpoint/2010/main" val="819895527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C3887-0F9F-A982-610D-08B3E20FD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7">
            <a:extLst>
              <a:ext uri="{FF2B5EF4-FFF2-40B4-BE49-F238E27FC236}">
                <a16:creationId xmlns:a16="http://schemas.microsoft.com/office/drawing/2014/main" id="{AC2EEA9F-A5BD-B459-2B0B-8AF927F8211A}"/>
              </a:ext>
            </a:extLst>
          </p:cNvPr>
          <p:cNvSpPr txBox="1"/>
          <p:nvPr/>
        </p:nvSpPr>
        <p:spPr>
          <a:xfrm>
            <a:off x="3547590" y="2419435"/>
            <a:ext cx="369145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800" b="1" dirty="0">
                <a:solidFill>
                  <a:srgbClr val="054487"/>
                </a:solidFill>
                <a:latin typeface="方正公文小标宋" panose="02000500000000000000" charset="-122"/>
                <a:ea typeface="方正公文小标宋" panose="02000500000000000000" charset="-122"/>
              </a:rPr>
              <a:t>Part 3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BD51ACCF-594D-812A-39AC-4D85793B6C19}"/>
              </a:ext>
            </a:extLst>
          </p:cNvPr>
          <p:cNvCxnSpPr/>
          <p:nvPr/>
        </p:nvCxnSpPr>
        <p:spPr>
          <a:xfrm>
            <a:off x="3166954" y="3605138"/>
            <a:ext cx="3980798" cy="0"/>
          </a:xfrm>
          <a:prstGeom prst="line">
            <a:avLst/>
          </a:prstGeom>
          <a:ln w="12700">
            <a:solidFill>
              <a:srgbClr val="0544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椭圆 10">
            <a:extLst>
              <a:ext uri="{FF2B5EF4-FFF2-40B4-BE49-F238E27FC236}">
                <a16:creationId xmlns:a16="http://schemas.microsoft.com/office/drawing/2014/main" id="{F7FF090A-070C-F07A-2689-B8D8C3CE181C}"/>
              </a:ext>
            </a:extLst>
          </p:cNvPr>
          <p:cNvSpPr/>
          <p:nvPr/>
        </p:nvSpPr>
        <p:spPr>
          <a:xfrm>
            <a:off x="1245253" y="2419912"/>
            <a:ext cx="1785621" cy="1786507"/>
          </a:xfrm>
          <a:prstGeom prst="ellipse">
            <a:avLst/>
          </a:prstGeom>
          <a:solidFill>
            <a:srgbClr val="06449A"/>
          </a:solidFill>
          <a:ln>
            <a:solidFill>
              <a:srgbClr val="06449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7F981F4-540D-47B6-618B-235C359CA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5219" y="90643"/>
            <a:ext cx="2953162" cy="104789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C959335-6F2E-FD9F-C021-557C53070F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3486" y="42414"/>
            <a:ext cx="884895" cy="905839"/>
          </a:xfrm>
          <a:prstGeom prst="rect">
            <a:avLst/>
          </a:prstGeom>
        </p:spPr>
      </p:pic>
      <p:cxnSp>
        <p:nvCxnSpPr>
          <p:cNvPr id="8" name="直线连接符 22">
            <a:extLst>
              <a:ext uri="{FF2B5EF4-FFF2-40B4-BE49-F238E27FC236}">
                <a16:creationId xmlns:a16="http://schemas.microsoft.com/office/drawing/2014/main" id="{C5964982-3379-B1CF-8535-E5D4ACCB1B4C}"/>
              </a:ext>
            </a:extLst>
          </p:cNvPr>
          <p:cNvCxnSpPr>
            <a:cxnSpLocks/>
          </p:cNvCxnSpPr>
          <p:nvPr/>
        </p:nvCxnSpPr>
        <p:spPr>
          <a:xfrm>
            <a:off x="0" y="1010143"/>
            <a:ext cx="12192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77BA1872-8C28-05EF-76F8-D95C7B875F9A}"/>
              </a:ext>
            </a:extLst>
          </p:cNvPr>
          <p:cNvSpPr txBox="1"/>
          <p:nvPr/>
        </p:nvSpPr>
        <p:spPr>
          <a:xfrm>
            <a:off x="3380774" y="3727055"/>
            <a:ext cx="61011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rgbClr val="0544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接口与数据需求</a:t>
            </a:r>
          </a:p>
        </p:txBody>
      </p:sp>
    </p:spTree>
    <p:extLst>
      <p:ext uri="{BB962C8B-B14F-4D97-AF65-F5344CB8AC3E}">
        <p14:creationId xmlns:p14="http://schemas.microsoft.com/office/powerpoint/2010/main" val="1726004023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3352F-8767-7B87-8366-8B5EAF686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直线连接符 22">
            <a:extLst>
              <a:ext uri="{FF2B5EF4-FFF2-40B4-BE49-F238E27FC236}">
                <a16:creationId xmlns:a16="http://schemas.microsoft.com/office/drawing/2014/main" id="{9A8F1978-DE34-68D7-D328-5FEF1980DFCF}"/>
              </a:ext>
            </a:extLst>
          </p:cNvPr>
          <p:cNvCxnSpPr>
            <a:cxnSpLocks/>
          </p:cNvCxnSpPr>
          <p:nvPr/>
        </p:nvCxnSpPr>
        <p:spPr>
          <a:xfrm>
            <a:off x="0" y="1010143"/>
            <a:ext cx="12192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AE8B0796-AD57-FAF5-A1A2-BD0BD11EA748}"/>
              </a:ext>
            </a:extLst>
          </p:cNvPr>
          <p:cNvSpPr txBox="1"/>
          <p:nvPr/>
        </p:nvSpPr>
        <p:spPr>
          <a:xfrm>
            <a:off x="802093" y="245183"/>
            <a:ext cx="466525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 spc="300" dirty="0">
                <a:solidFill>
                  <a:srgbClr val="06449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 </a:t>
            </a:r>
            <a:r>
              <a:rPr lang="zh-CN" altLang="en-US" sz="2800" b="1" dirty="0">
                <a:solidFill>
                  <a:srgbClr val="0544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接口与数据需求</a:t>
            </a:r>
          </a:p>
          <a:p>
            <a:endParaRPr kumimoji="1" lang="en-US" altLang="zh-CN" sz="2400" b="1" spc="300" dirty="0">
              <a:solidFill>
                <a:srgbClr val="06449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F8EC4A8B-9C0D-FE6F-FD58-F8B5E5EFE69C}"/>
              </a:ext>
            </a:extLst>
          </p:cNvPr>
          <p:cNvSpPr/>
          <p:nvPr/>
        </p:nvSpPr>
        <p:spPr>
          <a:xfrm>
            <a:off x="421100" y="364783"/>
            <a:ext cx="284020" cy="284020"/>
          </a:xfrm>
          <a:prstGeom prst="ellipse">
            <a:avLst/>
          </a:prstGeom>
          <a:solidFill>
            <a:srgbClr val="0644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rgbClr val="06449A"/>
              </a:solidFill>
            </a:endParaRPr>
          </a:p>
        </p:txBody>
      </p:sp>
      <p:sp>
        <p:nvSpPr>
          <p:cNvPr id="96" name="单圆角矩形 3">
            <a:extLst>
              <a:ext uri="{FF2B5EF4-FFF2-40B4-BE49-F238E27FC236}">
                <a16:creationId xmlns:a16="http://schemas.microsoft.com/office/drawing/2014/main" id="{FE03974A-ABB3-6F62-2914-9B36AB6454E3}"/>
              </a:ext>
            </a:extLst>
          </p:cNvPr>
          <p:cNvSpPr/>
          <p:nvPr/>
        </p:nvSpPr>
        <p:spPr>
          <a:xfrm flipV="1">
            <a:off x="124216" y="1734320"/>
            <a:ext cx="1298832" cy="607871"/>
          </a:xfrm>
          <a:prstGeom prst="round1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bg1"/>
              </a:solidFill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130939AA-3BE5-9AF4-8159-B816A34DC8E1}"/>
              </a:ext>
            </a:extLst>
          </p:cNvPr>
          <p:cNvSpPr txBox="1"/>
          <p:nvPr/>
        </p:nvSpPr>
        <p:spPr>
          <a:xfrm>
            <a:off x="124216" y="6145096"/>
            <a:ext cx="1228449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kumimoji="1" lang="zh-CN" altLang="en-US" sz="1600" b="1" spc="3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参考文献</a:t>
            </a:r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E3E4962A-F875-0B64-D591-02EB72C59B84}"/>
              </a:ext>
            </a:extLst>
          </p:cNvPr>
          <p:cNvSpPr txBox="1"/>
          <p:nvPr/>
        </p:nvSpPr>
        <p:spPr>
          <a:xfrm>
            <a:off x="113043" y="2704889"/>
            <a:ext cx="1228449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kumimoji="1" lang="zh-CN" altLang="en-US" sz="1600" b="1" spc="3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国内外研究概况</a:t>
            </a: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E549DD9C-D10F-DD9A-8A41-01CED7798E17}"/>
              </a:ext>
            </a:extLst>
          </p:cNvPr>
          <p:cNvSpPr txBox="1"/>
          <p:nvPr/>
        </p:nvSpPr>
        <p:spPr>
          <a:xfrm>
            <a:off x="113043" y="3568337"/>
            <a:ext cx="1268709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 algn="ctr">
              <a:defRPr kumimoji="1" sz="1400" b="1" spc="3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sz="1600" dirty="0"/>
              <a:t>主要研究内容</a:t>
            </a: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0DA3883C-FCEF-4E0A-8457-C29230D39B5C}"/>
              </a:ext>
            </a:extLst>
          </p:cNvPr>
          <p:cNvSpPr txBox="1"/>
          <p:nvPr/>
        </p:nvSpPr>
        <p:spPr>
          <a:xfrm>
            <a:off x="124216" y="5263082"/>
            <a:ext cx="1228449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 algn="ctr">
              <a:defRPr kumimoji="1" sz="1400" b="1" spc="3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sz="1600" dirty="0"/>
              <a:t>计划与进度安排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C2C2179-6FA6-5A36-4D77-5B2DAB4BBDFF}"/>
              </a:ext>
            </a:extLst>
          </p:cNvPr>
          <p:cNvSpPr txBox="1"/>
          <p:nvPr/>
        </p:nvSpPr>
        <p:spPr>
          <a:xfrm>
            <a:off x="153303" y="4471861"/>
            <a:ext cx="1228449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 algn="ctr">
              <a:defRPr kumimoji="1" sz="1400" b="1" spc="3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sz="1600" dirty="0"/>
              <a:t>研究进展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85F9D5A-A167-43F2-E613-00B72621DB44}"/>
              </a:ext>
            </a:extLst>
          </p:cNvPr>
          <p:cNvSpPr txBox="1"/>
          <p:nvPr/>
        </p:nvSpPr>
        <p:spPr>
          <a:xfrm>
            <a:off x="375443" y="1214983"/>
            <a:ext cx="110324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4330" lvl="0" indent="-354330" fontAlgn="base">
              <a:spcBef>
                <a:spcPct val="45000"/>
              </a:spcBef>
              <a:spcAft>
                <a:spcPct val="0"/>
              </a:spcAft>
              <a:buClr>
                <a:srgbClr val="FBB03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3200" b="1" dirty="0">
                <a:solidFill>
                  <a:srgbClr val="0544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接口与数据需求</a:t>
            </a:r>
            <a:endParaRPr lang="en-US" altLang="zh-CN" sz="2400" b="1" kern="0" dirty="0">
              <a:solidFill>
                <a:srgbClr val="EEECE1">
                  <a:lumMod val="1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3150242-F55A-4590-7E60-5397A0B575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7644" y="0"/>
            <a:ext cx="2724356" cy="96670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48155466-1BCB-C3F1-DC5E-B79E22CAA7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2401" y="82788"/>
            <a:ext cx="884895" cy="905839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E709942F-0F04-5C62-6239-F909E8F67159}"/>
              </a:ext>
            </a:extLst>
          </p:cNvPr>
          <p:cNvSpPr txBox="1"/>
          <p:nvPr/>
        </p:nvSpPr>
        <p:spPr>
          <a:xfrm>
            <a:off x="501567" y="1916658"/>
            <a:ext cx="5527261" cy="4398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b="1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</a:rPr>
              <a:t>基本原则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</a:rPr>
              <a:t>- </a:t>
            </a:r>
            <a:r>
              <a:rPr lang="zh-CN" altLang="zh-CN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</a:rPr>
              <a:t>前后端通过 HTTP + JSON 进行数据交互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</a:rPr>
              <a:t>- </a:t>
            </a:r>
            <a:r>
              <a:rPr lang="zh-CN" altLang="zh-CN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</a:rPr>
              <a:t>后端接口统一以 /xiaoY 为服务前缀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</a:rPr>
              <a:t>- </a:t>
            </a:r>
            <a:r>
              <a:rPr lang="zh-CN" altLang="zh-CN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</a:rPr>
              <a:t>返回结构建议统一为：success、errorMsg、data、total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</a:rPr>
              <a:t>- </a:t>
            </a:r>
            <a:r>
              <a:rPr lang="zh-CN" altLang="zh-CN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</a:rPr>
              <a:t>分页列表接口统一接收 pageNum、pageSize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b="1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</a:rPr>
              <a:t>鉴权原则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</a:rPr>
              <a:t>- </a:t>
            </a:r>
            <a:r>
              <a:rPr lang="zh-CN" altLang="zh-CN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</a:rPr>
              <a:t>受保护接口在请求头中传递 Authorization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</a:rPr>
              <a:t>- </a:t>
            </a:r>
            <a:r>
              <a:rPr lang="zh-CN" altLang="zh-CN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</a:rPr>
              <a:t>当前聊天相关接口和评论提交接口需要登录后访问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zh-CN" sz="2800" dirty="0"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D964282-C446-176D-D1F3-641F0CA210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3F4F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26960" rIns="0" bIns="12696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4A45AC2-4D0D-F1DA-8063-626CF07D0D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3174" y="1137735"/>
            <a:ext cx="6038728" cy="262818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2A92D60B-5DAC-8CC3-BC39-9097B32A20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8828" y="4073900"/>
            <a:ext cx="6095999" cy="2378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542316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F1B7E-3D8F-670B-8BFB-69F566BDD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直线连接符 22">
            <a:extLst>
              <a:ext uri="{FF2B5EF4-FFF2-40B4-BE49-F238E27FC236}">
                <a16:creationId xmlns:a16="http://schemas.microsoft.com/office/drawing/2014/main" id="{71C13EE0-A1AF-FCD0-9638-3820A9A73330}"/>
              </a:ext>
            </a:extLst>
          </p:cNvPr>
          <p:cNvCxnSpPr>
            <a:cxnSpLocks/>
          </p:cNvCxnSpPr>
          <p:nvPr/>
        </p:nvCxnSpPr>
        <p:spPr>
          <a:xfrm>
            <a:off x="0" y="1010143"/>
            <a:ext cx="12192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FD76212C-6A55-0C79-04F0-D0960569C2CC}"/>
              </a:ext>
            </a:extLst>
          </p:cNvPr>
          <p:cNvSpPr txBox="1"/>
          <p:nvPr/>
        </p:nvSpPr>
        <p:spPr>
          <a:xfrm>
            <a:off x="802093" y="245183"/>
            <a:ext cx="466525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 spc="300" dirty="0">
                <a:solidFill>
                  <a:srgbClr val="06449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 </a:t>
            </a:r>
            <a:r>
              <a:rPr lang="zh-CN" altLang="en-US" sz="2800" b="1" dirty="0">
                <a:solidFill>
                  <a:srgbClr val="0544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接口与数据需求</a:t>
            </a:r>
          </a:p>
          <a:p>
            <a:endParaRPr kumimoji="1" lang="en-US" altLang="zh-CN" sz="2400" b="1" spc="300" dirty="0">
              <a:solidFill>
                <a:srgbClr val="06449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139007E5-D505-08A8-3B3E-CD14A6547AB9}"/>
              </a:ext>
            </a:extLst>
          </p:cNvPr>
          <p:cNvSpPr/>
          <p:nvPr/>
        </p:nvSpPr>
        <p:spPr>
          <a:xfrm>
            <a:off x="421100" y="364783"/>
            <a:ext cx="284020" cy="284020"/>
          </a:xfrm>
          <a:prstGeom prst="ellipse">
            <a:avLst/>
          </a:prstGeom>
          <a:solidFill>
            <a:srgbClr val="0644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rgbClr val="06449A"/>
              </a:solidFill>
            </a:endParaRPr>
          </a:p>
        </p:txBody>
      </p:sp>
      <p:sp>
        <p:nvSpPr>
          <p:cNvPr id="96" name="单圆角矩形 3">
            <a:extLst>
              <a:ext uri="{FF2B5EF4-FFF2-40B4-BE49-F238E27FC236}">
                <a16:creationId xmlns:a16="http://schemas.microsoft.com/office/drawing/2014/main" id="{07160B1A-B7EC-A457-7AC3-289F28144B4E}"/>
              </a:ext>
            </a:extLst>
          </p:cNvPr>
          <p:cNvSpPr/>
          <p:nvPr/>
        </p:nvSpPr>
        <p:spPr>
          <a:xfrm flipV="1">
            <a:off x="124216" y="1734320"/>
            <a:ext cx="1298832" cy="607871"/>
          </a:xfrm>
          <a:prstGeom prst="round1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bg1"/>
              </a:solidFill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A71C7DC9-3D97-C1B9-DCA5-ED13189097CE}"/>
              </a:ext>
            </a:extLst>
          </p:cNvPr>
          <p:cNvSpPr txBox="1"/>
          <p:nvPr/>
        </p:nvSpPr>
        <p:spPr>
          <a:xfrm>
            <a:off x="124216" y="6145096"/>
            <a:ext cx="1228449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kumimoji="1" lang="zh-CN" altLang="en-US" sz="1600" b="1" spc="3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参考文献</a:t>
            </a:r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409FA6D8-A758-CA8A-CDC3-8A0769B0B9D0}"/>
              </a:ext>
            </a:extLst>
          </p:cNvPr>
          <p:cNvSpPr txBox="1"/>
          <p:nvPr/>
        </p:nvSpPr>
        <p:spPr>
          <a:xfrm>
            <a:off x="113043" y="2704889"/>
            <a:ext cx="1228449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kumimoji="1" lang="zh-CN" altLang="en-US" sz="1600" b="1" spc="3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国内外研究概况</a:t>
            </a: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D236581C-5897-E841-C484-F21221A74115}"/>
              </a:ext>
            </a:extLst>
          </p:cNvPr>
          <p:cNvSpPr txBox="1"/>
          <p:nvPr/>
        </p:nvSpPr>
        <p:spPr>
          <a:xfrm>
            <a:off x="113043" y="3568337"/>
            <a:ext cx="1268709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 algn="ctr">
              <a:defRPr kumimoji="1" sz="1400" b="1" spc="3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sz="1600" dirty="0"/>
              <a:t>主要研究内容</a:t>
            </a: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DA89DE72-A577-CCCE-04E3-9DCBB50617CE}"/>
              </a:ext>
            </a:extLst>
          </p:cNvPr>
          <p:cNvSpPr txBox="1"/>
          <p:nvPr/>
        </p:nvSpPr>
        <p:spPr>
          <a:xfrm>
            <a:off x="124216" y="5263082"/>
            <a:ext cx="1228449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 algn="ctr">
              <a:defRPr kumimoji="1" sz="1400" b="1" spc="3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sz="1600" dirty="0"/>
              <a:t>计划与进度安排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E049506-B0EB-1494-AB95-7C0F799778EF}"/>
              </a:ext>
            </a:extLst>
          </p:cNvPr>
          <p:cNvSpPr txBox="1"/>
          <p:nvPr/>
        </p:nvSpPr>
        <p:spPr>
          <a:xfrm>
            <a:off x="153303" y="4471861"/>
            <a:ext cx="1228449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 algn="ctr">
              <a:defRPr kumimoji="1" sz="1400" b="1" spc="3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sz="1600" dirty="0"/>
              <a:t>研究进展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86871AE-FB09-1370-EDAB-8F7F6A7E2917}"/>
              </a:ext>
            </a:extLst>
          </p:cNvPr>
          <p:cNvSpPr txBox="1"/>
          <p:nvPr/>
        </p:nvSpPr>
        <p:spPr>
          <a:xfrm>
            <a:off x="375443" y="1214983"/>
            <a:ext cx="110324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4330" lvl="0" indent="-354330" fontAlgn="base">
              <a:spcBef>
                <a:spcPct val="45000"/>
              </a:spcBef>
              <a:spcAft>
                <a:spcPct val="0"/>
              </a:spcAft>
              <a:buClr>
                <a:srgbClr val="FBB03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3200" b="1" dirty="0">
                <a:solidFill>
                  <a:srgbClr val="0544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接口与数据需求</a:t>
            </a:r>
            <a:endParaRPr lang="en-US" altLang="zh-CN" sz="2400" b="1" kern="0" dirty="0">
              <a:solidFill>
                <a:srgbClr val="EEECE1">
                  <a:lumMod val="1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3AF7F5B-C3E3-C0E5-CB43-6A5B294A8F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7644" y="0"/>
            <a:ext cx="2724356" cy="96670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4B3FF1B5-D152-994D-602C-47D7E0EAFE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2401" y="82788"/>
            <a:ext cx="884895" cy="90583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26C27F3-B939-E4BA-7CE5-02C55A9884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3F4F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26960" rIns="0" bIns="12696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8BE65E4-BF2B-AB17-F29F-F58903BFF3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885" y="1775104"/>
            <a:ext cx="6235603" cy="4635615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09F58D24-A322-8C29-57CA-7C84EF27B5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1686" y="1933738"/>
            <a:ext cx="6221799" cy="4416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272534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8DEBF-7635-BE35-1E48-99A9514C5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直线连接符 22">
            <a:extLst>
              <a:ext uri="{FF2B5EF4-FFF2-40B4-BE49-F238E27FC236}">
                <a16:creationId xmlns:a16="http://schemas.microsoft.com/office/drawing/2014/main" id="{0BF8D522-0115-0D80-B5E4-F8356CD59B05}"/>
              </a:ext>
            </a:extLst>
          </p:cNvPr>
          <p:cNvCxnSpPr>
            <a:cxnSpLocks/>
          </p:cNvCxnSpPr>
          <p:nvPr/>
        </p:nvCxnSpPr>
        <p:spPr>
          <a:xfrm>
            <a:off x="0" y="1010143"/>
            <a:ext cx="12192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69C5BAB2-A4A0-E690-D1E3-7F3B1D243F8C}"/>
              </a:ext>
            </a:extLst>
          </p:cNvPr>
          <p:cNvSpPr txBox="1"/>
          <p:nvPr/>
        </p:nvSpPr>
        <p:spPr>
          <a:xfrm>
            <a:off x="802093" y="245183"/>
            <a:ext cx="466525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 spc="300" dirty="0">
                <a:solidFill>
                  <a:srgbClr val="06449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 </a:t>
            </a:r>
            <a:r>
              <a:rPr lang="zh-CN" altLang="en-US" sz="2800" b="1" dirty="0">
                <a:solidFill>
                  <a:srgbClr val="0544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接口与数据需求</a:t>
            </a:r>
          </a:p>
          <a:p>
            <a:endParaRPr kumimoji="1" lang="en-US" altLang="zh-CN" sz="2400" b="1" spc="300" dirty="0">
              <a:solidFill>
                <a:srgbClr val="06449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E7EF80FC-7BB8-A4FB-4843-7D44DA910FD4}"/>
              </a:ext>
            </a:extLst>
          </p:cNvPr>
          <p:cNvSpPr/>
          <p:nvPr/>
        </p:nvSpPr>
        <p:spPr>
          <a:xfrm>
            <a:off x="421100" y="364783"/>
            <a:ext cx="284020" cy="284020"/>
          </a:xfrm>
          <a:prstGeom prst="ellipse">
            <a:avLst/>
          </a:prstGeom>
          <a:solidFill>
            <a:srgbClr val="0644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rgbClr val="06449A"/>
              </a:solidFill>
            </a:endParaRPr>
          </a:p>
        </p:txBody>
      </p:sp>
      <p:sp>
        <p:nvSpPr>
          <p:cNvPr id="96" name="单圆角矩形 3">
            <a:extLst>
              <a:ext uri="{FF2B5EF4-FFF2-40B4-BE49-F238E27FC236}">
                <a16:creationId xmlns:a16="http://schemas.microsoft.com/office/drawing/2014/main" id="{90134170-CD7C-C11C-0C1B-A29BBA9F77F0}"/>
              </a:ext>
            </a:extLst>
          </p:cNvPr>
          <p:cNvSpPr/>
          <p:nvPr/>
        </p:nvSpPr>
        <p:spPr>
          <a:xfrm flipV="1">
            <a:off x="124216" y="1734320"/>
            <a:ext cx="1298832" cy="607871"/>
          </a:xfrm>
          <a:prstGeom prst="round1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bg1"/>
              </a:solidFill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F0240249-FD6B-B6E9-7E7C-25A6355475B0}"/>
              </a:ext>
            </a:extLst>
          </p:cNvPr>
          <p:cNvSpPr txBox="1"/>
          <p:nvPr/>
        </p:nvSpPr>
        <p:spPr>
          <a:xfrm>
            <a:off x="124216" y="6145096"/>
            <a:ext cx="1228449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kumimoji="1" lang="zh-CN" altLang="en-US" sz="1600" b="1" spc="3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参考文献</a:t>
            </a:r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94BEAFB4-DD70-E0F7-B4B7-ED32EE9C3E20}"/>
              </a:ext>
            </a:extLst>
          </p:cNvPr>
          <p:cNvSpPr txBox="1"/>
          <p:nvPr/>
        </p:nvSpPr>
        <p:spPr>
          <a:xfrm>
            <a:off x="113043" y="2704889"/>
            <a:ext cx="1228449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kumimoji="1" lang="zh-CN" altLang="en-US" sz="1600" b="1" spc="3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国内外研究概况</a:t>
            </a: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961842E7-2435-C6C4-AD44-B719908E8980}"/>
              </a:ext>
            </a:extLst>
          </p:cNvPr>
          <p:cNvSpPr txBox="1"/>
          <p:nvPr/>
        </p:nvSpPr>
        <p:spPr>
          <a:xfrm>
            <a:off x="113043" y="3568337"/>
            <a:ext cx="1268709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 algn="ctr">
              <a:defRPr kumimoji="1" sz="1400" b="1" spc="3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sz="1600" dirty="0"/>
              <a:t>主要研究内容</a:t>
            </a: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1B505739-E3FC-E995-B7D6-229892DC64EC}"/>
              </a:ext>
            </a:extLst>
          </p:cNvPr>
          <p:cNvSpPr txBox="1"/>
          <p:nvPr/>
        </p:nvSpPr>
        <p:spPr>
          <a:xfrm>
            <a:off x="124216" y="5263082"/>
            <a:ext cx="1228449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 algn="ctr">
              <a:defRPr kumimoji="1" sz="1400" b="1" spc="3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sz="1600" dirty="0"/>
              <a:t>计划与进度安排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5408E96-45C1-B0E1-0EBB-EFEEAF08E65D}"/>
              </a:ext>
            </a:extLst>
          </p:cNvPr>
          <p:cNvSpPr txBox="1"/>
          <p:nvPr/>
        </p:nvSpPr>
        <p:spPr>
          <a:xfrm>
            <a:off x="153303" y="4471861"/>
            <a:ext cx="1228449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 algn="ctr">
              <a:defRPr kumimoji="1" sz="1400" b="1" spc="3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sz="1600" dirty="0"/>
              <a:t>研究进展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FA80F-D8B2-F5CE-57F0-F06DCCA09D64}"/>
              </a:ext>
            </a:extLst>
          </p:cNvPr>
          <p:cNvSpPr txBox="1"/>
          <p:nvPr/>
        </p:nvSpPr>
        <p:spPr>
          <a:xfrm>
            <a:off x="375443" y="1214983"/>
            <a:ext cx="110324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4330" lvl="0" indent="-354330" fontAlgn="base">
              <a:spcBef>
                <a:spcPct val="45000"/>
              </a:spcBef>
              <a:spcAft>
                <a:spcPct val="0"/>
              </a:spcAft>
              <a:buClr>
                <a:srgbClr val="FBB03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3200" b="1" dirty="0">
                <a:solidFill>
                  <a:srgbClr val="0544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接口与数据需求</a:t>
            </a:r>
            <a:endParaRPr lang="en-US" altLang="zh-CN" sz="2400" b="1" kern="0" dirty="0">
              <a:solidFill>
                <a:srgbClr val="EEECE1">
                  <a:lumMod val="1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8FDEDB4-CBEB-34D0-E478-2A5FF8E36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7644" y="0"/>
            <a:ext cx="2724356" cy="96670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412B3AF1-A105-763E-08DC-902544F9FF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2401" y="82788"/>
            <a:ext cx="884895" cy="905839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ABA665C-6080-0948-CDDE-E4AD29177CA9}"/>
              </a:ext>
            </a:extLst>
          </p:cNvPr>
          <p:cNvSpPr txBox="1"/>
          <p:nvPr/>
        </p:nvSpPr>
        <p:spPr>
          <a:xfrm>
            <a:off x="608531" y="2089157"/>
            <a:ext cx="5527261" cy="54425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b="1" dirty="0">
                <a:solidFill>
                  <a:srgbClr val="333333"/>
                </a:solidFill>
                <a:latin typeface="Arial" panose="020B0604020202020204" pitchFamily="34" charset="0"/>
                <a:ea typeface="Open Sans" panose="020B0606030504020204" pitchFamily="34" charset="0"/>
              </a:rPr>
              <a:t>通用规范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b="1" dirty="0">
                <a:solidFill>
                  <a:srgbClr val="333333"/>
                </a:solidFill>
                <a:latin typeface="Arial" panose="020B0604020202020204" pitchFamily="34" charset="0"/>
                <a:ea typeface="Open Sans" panose="020B0606030504020204" pitchFamily="34" charset="0"/>
              </a:rPr>
              <a:t> 基本原则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zh-CN" altLang="zh-CN" dirty="0">
                <a:solidFill>
                  <a:srgbClr val="333333"/>
                </a:solidFill>
                <a:latin typeface="Arial" panose="020B0604020202020204" pitchFamily="34" charset="0"/>
                <a:ea typeface="Open Sans" panose="020B0606030504020204" pitchFamily="34" charset="0"/>
              </a:rPr>
              <a:t>代码应以“可读性优先”为原则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r>
              <a:rPr lang="zh-CN" altLang="zh-CN" dirty="0">
                <a:solidFill>
                  <a:srgbClr val="333333"/>
                </a:solidFill>
                <a:latin typeface="Arial" panose="020B0604020202020204" pitchFamily="34" charset="0"/>
                <a:ea typeface="Open Sans" panose="020B0606030504020204" pitchFamily="34" charset="0"/>
              </a:rPr>
              <a:t>命名应表达真实业务含义，避免无意义缩写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3"/>
            </a:pPr>
            <a:r>
              <a:rPr lang="zh-CN" altLang="zh-CN" dirty="0">
                <a:solidFill>
                  <a:srgbClr val="333333"/>
                </a:solidFill>
                <a:latin typeface="Arial" panose="020B0604020202020204" pitchFamily="34" charset="0"/>
                <a:ea typeface="Open Sans" panose="020B0606030504020204" pitchFamily="34" charset="0"/>
              </a:rPr>
              <a:t>单个模块职责应尽量单一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4"/>
            </a:pPr>
            <a:r>
              <a:rPr lang="zh-CN" altLang="zh-CN" dirty="0">
                <a:solidFill>
                  <a:srgbClr val="333333"/>
                </a:solidFill>
                <a:latin typeface="Arial" panose="020B0604020202020204" pitchFamily="34" charset="0"/>
                <a:ea typeface="Open Sans" panose="020B0606030504020204" pitchFamily="34" charset="0"/>
              </a:rPr>
              <a:t>不随意修改无关代码或大面积重排格式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5"/>
            </a:pPr>
            <a:r>
              <a:rPr lang="zh-CN" altLang="zh-CN" dirty="0">
                <a:solidFill>
                  <a:srgbClr val="333333"/>
                </a:solidFill>
                <a:latin typeface="Arial" panose="020B0604020202020204" pitchFamily="34" charset="0"/>
                <a:ea typeface="Open Sans" panose="020B0606030504020204" pitchFamily="34" charset="0"/>
              </a:rPr>
              <a:t>公共逻辑优先抽取，避免重复实现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6"/>
            </a:pPr>
            <a:r>
              <a:rPr lang="zh-CN" altLang="zh-CN" dirty="0">
                <a:solidFill>
                  <a:srgbClr val="333333"/>
                </a:solidFill>
                <a:latin typeface="Arial" panose="020B0604020202020204" pitchFamily="34" charset="0"/>
                <a:ea typeface="Open Sans" panose="020B0606030504020204" pitchFamily="34" charset="0"/>
              </a:rPr>
              <a:t>新增功能应优先与现有结构保持一致</a:t>
            </a:r>
            <a:endParaRPr lang="en-US" altLang="zh-CN" dirty="0">
              <a:solidFill>
                <a:srgbClr val="333333"/>
              </a:solidFill>
              <a:latin typeface="Arial" panose="020B0604020202020204" pitchFamily="34" charset="0"/>
              <a:ea typeface="Open Sans" panose="020B0606030504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6"/>
            </a:pPr>
            <a:endParaRPr lang="en-US" altLang="zh-CN" dirty="0">
              <a:solidFill>
                <a:srgbClr val="333333"/>
              </a:solidFill>
              <a:latin typeface="Arial" panose="020B0604020202020204" pitchFamily="34" charset="0"/>
              <a:ea typeface="Open Sans" panose="020B0606030504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6"/>
            </a:pPr>
            <a:endParaRPr lang="en-US" altLang="zh-CN" dirty="0">
              <a:solidFill>
                <a:srgbClr val="333333"/>
              </a:solidFill>
              <a:latin typeface="Arial" panose="020B0604020202020204" pitchFamily="34" charset="0"/>
              <a:ea typeface="Open Sans" panose="020B0606030504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zh-CN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6"/>
            </a:pPr>
            <a:endParaRPr lang="zh-CN" altLang="zh-CN" dirty="0">
              <a:solidFill>
                <a:srgbClr val="333333"/>
              </a:solidFill>
              <a:latin typeface="Arial" panose="020B0604020202020204" pitchFamily="34" charset="0"/>
              <a:ea typeface="Open Sans" panose="020B0606030504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zh-CN" dirty="0"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582FAD-453F-8E96-FDD4-4255F5F831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099"/>
            <a:ext cx="65" cy="533399"/>
          </a:xfrm>
          <a:prstGeom prst="rect">
            <a:avLst/>
          </a:prstGeom>
          <a:solidFill>
            <a:srgbClr val="F3F4F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26960" rIns="0" bIns="12696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7008BF95-73F0-319C-7090-CC55CDC810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2711"/>
            <a:ext cx="65" cy="502621"/>
          </a:xfrm>
          <a:prstGeom prst="rect">
            <a:avLst/>
          </a:prstGeom>
          <a:solidFill>
            <a:srgbClr val="F3F4F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26960" rIns="0" bIns="12696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152C55C-C0EC-7966-3074-9FCF74FC15FF}"/>
              </a:ext>
            </a:extLst>
          </p:cNvPr>
          <p:cNvSpPr txBox="1"/>
          <p:nvPr/>
        </p:nvSpPr>
        <p:spPr>
          <a:xfrm>
            <a:off x="6305635" y="1877006"/>
            <a:ext cx="4836766" cy="3782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b="1" dirty="0">
                <a:solidFill>
                  <a:srgbClr val="333333"/>
                </a:solidFill>
                <a:latin typeface="Arial" panose="020B0604020202020204" pitchFamily="34" charset="0"/>
                <a:ea typeface="Open Sans" panose="020B0606030504020204" pitchFamily="34" charset="0"/>
              </a:rPr>
              <a:t> 目录规范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dirty="0">
                <a:solidFill>
                  <a:srgbClr val="333333"/>
                </a:solidFill>
                <a:latin typeface="Arial" panose="020B0604020202020204" pitchFamily="34" charset="0"/>
                <a:ea typeface="Open Sans" panose="020B0606030504020204" pitchFamily="34" charset="0"/>
              </a:rPr>
              <a:t>建议保持如下职责划分：</a:t>
            </a:r>
            <a:endParaRPr lang="zh-CN" altLang="zh-CN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dirty="0">
                <a:solidFill>
                  <a:srgbClr val="333333"/>
                </a:solidFill>
                <a:latin typeface="Arial Unicode MS"/>
                <a:ea typeface="var(--monospace)"/>
              </a:rPr>
              <a:t>pages/</a:t>
            </a:r>
            <a:r>
              <a:rPr lang="zh-CN" altLang="zh-CN" dirty="0">
                <a:solidFill>
                  <a:srgbClr val="333333"/>
                </a:solidFill>
                <a:ea typeface="Open Sans" panose="020B0606030504020204" pitchFamily="34" charset="0"/>
              </a:rPr>
              <a:t>：页面组件</a:t>
            </a:r>
            <a:endParaRPr lang="zh-CN" altLang="zh-CN" dirty="0">
              <a:solidFill>
                <a:srgbClr val="333333"/>
              </a:solidFill>
              <a:latin typeface="Arial" panose="020B0604020202020204" pitchFamily="34" charset="0"/>
              <a:ea typeface="Open Sans" panose="020B0606030504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dirty="0">
                <a:solidFill>
                  <a:srgbClr val="333333"/>
                </a:solidFill>
                <a:latin typeface="Arial Unicode MS"/>
                <a:ea typeface="var(--monospace)"/>
              </a:rPr>
              <a:t>components/</a:t>
            </a:r>
            <a:r>
              <a:rPr lang="zh-CN" altLang="zh-CN" dirty="0">
                <a:solidFill>
                  <a:srgbClr val="333333"/>
                </a:solidFill>
                <a:ea typeface="Open Sans" panose="020B0606030504020204" pitchFamily="34" charset="0"/>
              </a:rPr>
              <a:t>：公共组件</a:t>
            </a:r>
            <a:endParaRPr lang="zh-CN" altLang="zh-CN" dirty="0">
              <a:solidFill>
                <a:srgbClr val="333333"/>
              </a:solidFill>
              <a:latin typeface="Arial" panose="020B0604020202020204" pitchFamily="34" charset="0"/>
              <a:ea typeface="Open Sans" panose="020B0606030504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dirty="0">
                <a:solidFill>
                  <a:srgbClr val="333333"/>
                </a:solidFill>
                <a:latin typeface="Arial Unicode MS"/>
                <a:ea typeface="var(--monospace)"/>
              </a:rPr>
              <a:t>services/</a:t>
            </a:r>
            <a:r>
              <a:rPr lang="zh-CN" altLang="zh-CN" dirty="0">
                <a:solidFill>
                  <a:srgbClr val="333333"/>
                </a:solidFill>
                <a:ea typeface="Open Sans" panose="020B0606030504020204" pitchFamily="34" charset="0"/>
              </a:rPr>
              <a:t>：接口调用层</a:t>
            </a:r>
            <a:endParaRPr lang="zh-CN" altLang="zh-CN" dirty="0">
              <a:solidFill>
                <a:srgbClr val="333333"/>
              </a:solidFill>
              <a:latin typeface="Arial" panose="020B0604020202020204" pitchFamily="34" charset="0"/>
              <a:ea typeface="Open Sans" panose="020B0606030504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dirty="0">
                <a:solidFill>
                  <a:srgbClr val="333333"/>
                </a:solidFill>
                <a:latin typeface="Arial Unicode MS"/>
                <a:ea typeface="var(--monospace)"/>
              </a:rPr>
              <a:t>store/</a:t>
            </a:r>
            <a:r>
              <a:rPr lang="zh-CN" altLang="zh-CN" dirty="0">
                <a:solidFill>
                  <a:srgbClr val="333333"/>
                </a:solidFill>
                <a:ea typeface="Open Sans" panose="020B0606030504020204" pitchFamily="34" charset="0"/>
              </a:rPr>
              <a:t>：全局状态管理</a:t>
            </a:r>
            <a:endParaRPr lang="zh-CN" altLang="zh-CN" dirty="0">
              <a:solidFill>
                <a:srgbClr val="333333"/>
              </a:solidFill>
              <a:latin typeface="Arial" panose="020B0604020202020204" pitchFamily="34" charset="0"/>
              <a:ea typeface="Open Sans" panose="020B0606030504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dirty="0">
                <a:solidFill>
                  <a:srgbClr val="333333"/>
                </a:solidFill>
                <a:latin typeface="Arial Unicode MS"/>
                <a:ea typeface="var(--monospace)"/>
              </a:rPr>
              <a:t>router/</a:t>
            </a:r>
            <a:r>
              <a:rPr lang="zh-CN" altLang="zh-CN" dirty="0">
                <a:solidFill>
                  <a:srgbClr val="333333"/>
                </a:solidFill>
                <a:ea typeface="Open Sans" panose="020B0606030504020204" pitchFamily="34" charset="0"/>
              </a:rPr>
              <a:t>：路由配置</a:t>
            </a:r>
            <a:endParaRPr lang="zh-CN" altLang="zh-CN" dirty="0">
              <a:solidFill>
                <a:srgbClr val="333333"/>
              </a:solidFill>
              <a:latin typeface="Arial" panose="020B0604020202020204" pitchFamily="34" charset="0"/>
              <a:ea typeface="Open Sans" panose="020B0606030504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dirty="0">
                <a:solidFill>
                  <a:srgbClr val="333333"/>
                </a:solidFill>
                <a:latin typeface="Arial Unicode MS"/>
                <a:ea typeface="var(--monospace)"/>
              </a:rPr>
              <a:t>types/</a:t>
            </a:r>
            <a:r>
              <a:rPr lang="zh-CN" altLang="zh-CN" dirty="0">
                <a:solidFill>
                  <a:srgbClr val="333333"/>
                </a:solidFill>
                <a:ea typeface="Open Sans" panose="020B0606030504020204" pitchFamily="34" charset="0"/>
              </a:rPr>
              <a:t>：类型定义</a:t>
            </a:r>
            <a:endParaRPr lang="zh-CN" altLang="zh-CN" dirty="0">
              <a:solidFill>
                <a:srgbClr val="333333"/>
              </a:solidFill>
              <a:latin typeface="Arial" panose="020B0604020202020204" pitchFamily="34" charset="0"/>
              <a:ea typeface="Open Sans" panose="020B0606030504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dirty="0">
                <a:solidFill>
                  <a:srgbClr val="333333"/>
                </a:solidFill>
                <a:latin typeface="Arial Unicode MS"/>
                <a:ea typeface="var(--monospace)"/>
              </a:rPr>
              <a:t>assets/</a:t>
            </a:r>
            <a:r>
              <a:rPr lang="zh-CN" altLang="zh-CN" dirty="0">
                <a:solidFill>
                  <a:srgbClr val="333333"/>
                </a:solidFill>
                <a:ea typeface="Open Sans" panose="020B0606030504020204" pitchFamily="34" charset="0"/>
              </a:rPr>
              <a:t>：静态资源</a:t>
            </a:r>
            <a:endParaRPr lang="zh-CN" altLang="zh-CN" dirty="0">
              <a:solidFill>
                <a:srgbClr val="333333"/>
              </a:solidFill>
              <a:latin typeface="Arial" panose="020B0604020202020204" pitchFamily="34" charset="0"/>
              <a:ea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7276729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6D4B8-578F-4C11-FD66-5BC0548D4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7">
            <a:extLst>
              <a:ext uri="{FF2B5EF4-FFF2-40B4-BE49-F238E27FC236}">
                <a16:creationId xmlns:a16="http://schemas.microsoft.com/office/drawing/2014/main" id="{6C3F3A5E-DF80-26AD-A9E1-B5FC0CDF4B4E}"/>
              </a:ext>
            </a:extLst>
          </p:cNvPr>
          <p:cNvSpPr txBox="1"/>
          <p:nvPr/>
        </p:nvSpPr>
        <p:spPr>
          <a:xfrm>
            <a:off x="3547590" y="2419435"/>
            <a:ext cx="369145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800" b="1" dirty="0">
                <a:solidFill>
                  <a:srgbClr val="054487"/>
                </a:solidFill>
                <a:latin typeface="方正公文小标宋" panose="02000500000000000000" charset="-122"/>
                <a:ea typeface="方正公文小标宋" panose="02000500000000000000" charset="-122"/>
              </a:rPr>
              <a:t>Part 4</a:t>
            </a:r>
          </a:p>
        </p:txBody>
      </p:sp>
      <p:sp>
        <p:nvSpPr>
          <p:cNvPr id="4" name="Rectangle 22">
            <a:extLst>
              <a:ext uri="{FF2B5EF4-FFF2-40B4-BE49-F238E27FC236}">
                <a16:creationId xmlns:a16="http://schemas.microsoft.com/office/drawing/2014/main" id="{BE22B9A3-D69E-0A26-35B6-E6BAA17D4E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9051" y="3605137"/>
            <a:ext cx="6123073" cy="6425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</a:pPr>
            <a:r>
              <a:rPr lang="zh-CN" altLang="en-US" sz="3200" b="1" dirty="0">
                <a:solidFill>
                  <a:srgbClr val="0544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小组分工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C4E4B4E3-2695-9C10-5E7B-6D680A3AA87C}"/>
              </a:ext>
            </a:extLst>
          </p:cNvPr>
          <p:cNvCxnSpPr/>
          <p:nvPr/>
        </p:nvCxnSpPr>
        <p:spPr>
          <a:xfrm>
            <a:off x="3166954" y="3605138"/>
            <a:ext cx="3980798" cy="0"/>
          </a:xfrm>
          <a:prstGeom prst="line">
            <a:avLst/>
          </a:prstGeom>
          <a:ln w="12700">
            <a:solidFill>
              <a:srgbClr val="0544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椭圆 10">
            <a:extLst>
              <a:ext uri="{FF2B5EF4-FFF2-40B4-BE49-F238E27FC236}">
                <a16:creationId xmlns:a16="http://schemas.microsoft.com/office/drawing/2014/main" id="{46CDEE3A-77AB-6280-0939-22005699309C}"/>
              </a:ext>
            </a:extLst>
          </p:cNvPr>
          <p:cNvSpPr/>
          <p:nvPr/>
        </p:nvSpPr>
        <p:spPr>
          <a:xfrm>
            <a:off x="1245253" y="2419912"/>
            <a:ext cx="1785621" cy="1786507"/>
          </a:xfrm>
          <a:prstGeom prst="ellipse">
            <a:avLst/>
          </a:prstGeom>
          <a:solidFill>
            <a:srgbClr val="06449A"/>
          </a:solidFill>
          <a:ln>
            <a:solidFill>
              <a:srgbClr val="06449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F5D8417-B061-8A53-20AB-468628E51B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5219" y="90643"/>
            <a:ext cx="2953162" cy="104789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F4D30DB-8BC8-EEBE-F90F-935B5807D1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3486" y="42414"/>
            <a:ext cx="884895" cy="905839"/>
          </a:xfrm>
          <a:prstGeom prst="rect">
            <a:avLst/>
          </a:prstGeom>
        </p:spPr>
      </p:pic>
      <p:cxnSp>
        <p:nvCxnSpPr>
          <p:cNvPr id="8" name="直线连接符 22">
            <a:extLst>
              <a:ext uri="{FF2B5EF4-FFF2-40B4-BE49-F238E27FC236}">
                <a16:creationId xmlns:a16="http://schemas.microsoft.com/office/drawing/2014/main" id="{6922515C-3E00-8710-75CA-0B3D7754BC68}"/>
              </a:ext>
            </a:extLst>
          </p:cNvPr>
          <p:cNvCxnSpPr>
            <a:cxnSpLocks/>
          </p:cNvCxnSpPr>
          <p:nvPr/>
        </p:nvCxnSpPr>
        <p:spPr>
          <a:xfrm>
            <a:off x="0" y="1010143"/>
            <a:ext cx="12192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7269930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E11FF-0FFB-5565-7463-7F6F744C6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直线连接符 22">
            <a:extLst>
              <a:ext uri="{FF2B5EF4-FFF2-40B4-BE49-F238E27FC236}">
                <a16:creationId xmlns:a16="http://schemas.microsoft.com/office/drawing/2014/main" id="{8CAC648F-A709-2630-6D37-BF037EA5C12B}"/>
              </a:ext>
            </a:extLst>
          </p:cNvPr>
          <p:cNvCxnSpPr>
            <a:cxnSpLocks/>
          </p:cNvCxnSpPr>
          <p:nvPr/>
        </p:nvCxnSpPr>
        <p:spPr>
          <a:xfrm>
            <a:off x="0" y="1010143"/>
            <a:ext cx="12192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74480156-04D5-EACC-7113-1122ECF5C14F}"/>
              </a:ext>
            </a:extLst>
          </p:cNvPr>
          <p:cNvSpPr txBox="1"/>
          <p:nvPr/>
        </p:nvSpPr>
        <p:spPr>
          <a:xfrm>
            <a:off x="802093" y="245183"/>
            <a:ext cx="4665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 spc="300" dirty="0">
                <a:solidFill>
                  <a:srgbClr val="06449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 </a:t>
            </a:r>
            <a:r>
              <a:rPr kumimoji="1" lang="zh-CN" altLang="en-US" sz="2800" b="1" spc="300" dirty="0">
                <a:solidFill>
                  <a:srgbClr val="06449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小组分工</a:t>
            </a:r>
            <a:endParaRPr kumimoji="1" lang="en-US" altLang="zh-CN" sz="2400" b="1" spc="300" dirty="0">
              <a:solidFill>
                <a:srgbClr val="06449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7C674C48-999B-5B45-E068-9BB67DAFC777}"/>
              </a:ext>
            </a:extLst>
          </p:cNvPr>
          <p:cNvSpPr/>
          <p:nvPr/>
        </p:nvSpPr>
        <p:spPr>
          <a:xfrm>
            <a:off x="421100" y="364783"/>
            <a:ext cx="284020" cy="284020"/>
          </a:xfrm>
          <a:prstGeom prst="ellipse">
            <a:avLst/>
          </a:prstGeom>
          <a:solidFill>
            <a:srgbClr val="0644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rgbClr val="06449A"/>
              </a:solidFill>
            </a:endParaRPr>
          </a:p>
        </p:txBody>
      </p:sp>
      <p:sp>
        <p:nvSpPr>
          <p:cNvPr id="96" name="单圆角矩形 3">
            <a:extLst>
              <a:ext uri="{FF2B5EF4-FFF2-40B4-BE49-F238E27FC236}">
                <a16:creationId xmlns:a16="http://schemas.microsoft.com/office/drawing/2014/main" id="{D929F35D-945A-78B6-75D2-250E0BC598D4}"/>
              </a:ext>
            </a:extLst>
          </p:cNvPr>
          <p:cNvSpPr/>
          <p:nvPr/>
        </p:nvSpPr>
        <p:spPr>
          <a:xfrm flipV="1">
            <a:off x="124216" y="1734320"/>
            <a:ext cx="1298832" cy="607871"/>
          </a:xfrm>
          <a:prstGeom prst="round1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bg1"/>
              </a:solidFill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5FED8527-253B-2232-AC1A-805A77200AD8}"/>
              </a:ext>
            </a:extLst>
          </p:cNvPr>
          <p:cNvSpPr txBox="1"/>
          <p:nvPr/>
        </p:nvSpPr>
        <p:spPr>
          <a:xfrm>
            <a:off x="124216" y="6145096"/>
            <a:ext cx="1228449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kumimoji="1" lang="zh-CN" altLang="en-US" sz="1600" b="1" spc="3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参考文献</a:t>
            </a:r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1A685D7E-346E-79F7-FAF5-9B9328FE28E5}"/>
              </a:ext>
            </a:extLst>
          </p:cNvPr>
          <p:cNvSpPr txBox="1"/>
          <p:nvPr/>
        </p:nvSpPr>
        <p:spPr>
          <a:xfrm>
            <a:off x="113043" y="2704889"/>
            <a:ext cx="1228449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kumimoji="1" lang="zh-CN" altLang="en-US" sz="1600" b="1" spc="3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国内外研究概况</a:t>
            </a: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EE967E37-39E1-51AC-08CA-DECAB96CA2B0}"/>
              </a:ext>
            </a:extLst>
          </p:cNvPr>
          <p:cNvSpPr txBox="1"/>
          <p:nvPr/>
        </p:nvSpPr>
        <p:spPr>
          <a:xfrm>
            <a:off x="113043" y="3568337"/>
            <a:ext cx="1268709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 algn="ctr">
              <a:defRPr kumimoji="1" sz="1400" b="1" spc="3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sz="1600" dirty="0"/>
              <a:t>主要研究内容</a:t>
            </a: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489C389E-E0FB-8E00-FD5A-5067715B2FAB}"/>
              </a:ext>
            </a:extLst>
          </p:cNvPr>
          <p:cNvSpPr txBox="1"/>
          <p:nvPr/>
        </p:nvSpPr>
        <p:spPr>
          <a:xfrm>
            <a:off x="124216" y="5263082"/>
            <a:ext cx="1228449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 algn="ctr">
              <a:defRPr kumimoji="1" sz="1400" b="1" spc="3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sz="1600" dirty="0"/>
              <a:t>计划与进度安排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2E2F7F1-E644-3853-D513-70AFB2752E2E}"/>
              </a:ext>
            </a:extLst>
          </p:cNvPr>
          <p:cNvSpPr txBox="1"/>
          <p:nvPr/>
        </p:nvSpPr>
        <p:spPr>
          <a:xfrm>
            <a:off x="153303" y="4471861"/>
            <a:ext cx="1228449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 algn="ctr">
              <a:defRPr kumimoji="1" sz="1400" b="1" spc="3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sz="1600" dirty="0"/>
              <a:t>研究进展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B20EE5B-D6CF-E657-AF04-3A03CAA84624}"/>
              </a:ext>
            </a:extLst>
          </p:cNvPr>
          <p:cNvSpPr txBox="1"/>
          <p:nvPr/>
        </p:nvSpPr>
        <p:spPr>
          <a:xfrm>
            <a:off x="375443" y="1214983"/>
            <a:ext cx="110324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4330" marR="0" lvl="0" indent="-354330" algn="l" defTabSz="914400" rtl="0" eaLnBrk="1" fontAlgn="base" latinLnBrk="0" hangingPunct="1">
              <a:lnSpc>
                <a:spcPct val="100000"/>
              </a:lnSpc>
              <a:spcBef>
                <a:spcPct val="45000"/>
              </a:spcBef>
              <a:spcAft>
                <a:spcPct val="0"/>
              </a:spcAft>
              <a:buClr>
                <a:srgbClr val="FBB030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3200" b="1" kern="0" dirty="0">
                <a:solidFill>
                  <a:srgbClr val="06449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小组分工</a:t>
            </a:r>
            <a:endParaRPr lang="en-US" altLang="zh-CN" sz="2400" b="1" kern="0" dirty="0">
              <a:solidFill>
                <a:srgbClr val="EEECE1">
                  <a:lumMod val="1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2961AC2-0F6E-758A-C3C3-7BF81DFB08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7644" y="0"/>
            <a:ext cx="2724356" cy="96670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03307A4D-BC2C-B002-FEED-CD7C720A64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2401" y="82788"/>
            <a:ext cx="884895" cy="905839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77B62828-FFD4-B708-1774-8E22D24CECCD}"/>
              </a:ext>
            </a:extLst>
          </p:cNvPr>
          <p:cNvSpPr txBox="1"/>
          <p:nvPr/>
        </p:nvSpPr>
        <p:spPr>
          <a:xfrm>
            <a:off x="199873" y="2252425"/>
            <a:ext cx="5267477" cy="46138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pc="1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采用</a:t>
            </a:r>
            <a:r>
              <a:rPr lang="en-US" altLang="zh-CN" spc="1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Github</a:t>
            </a:r>
            <a:r>
              <a:rPr lang="zh-CN" altLang="en-US" spc="1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小组合作模式，项目地址</a:t>
            </a:r>
            <a:r>
              <a:rPr lang="en-US" altLang="zh-CN" spc="1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altLang="zh-CN" spc="1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  <a:hlinkClick r:id="rId4"/>
              </a:rPr>
              <a:t>https://github.com/moonlight1639/xiaoY</a:t>
            </a:r>
            <a:endParaRPr lang="en-US" altLang="zh-CN" spc="100" dirty="0">
              <a:solidFill>
                <a:srgbClr val="262626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pPr>
              <a:lnSpc>
                <a:spcPct val="150000"/>
              </a:lnSpc>
            </a:pPr>
            <a:endParaRPr lang="en-US" altLang="zh-CN" spc="100" dirty="0">
              <a:solidFill>
                <a:srgbClr val="262626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接口文档采用</a:t>
            </a:r>
            <a:r>
              <a:rPr lang="en-US" altLang="zh-CN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Apifox</a:t>
            </a:r>
            <a:r>
              <a:rPr lang="zh-CN" altLang="en-US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协作。</a:t>
            </a:r>
            <a:endParaRPr lang="en-US" altLang="zh-CN" dirty="0">
              <a:solidFill>
                <a:srgbClr val="262626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pPr>
              <a:lnSpc>
                <a:spcPct val="150000"/>
              </a:lnSpc>
            </a:pPr>
            <a:endParaRPr lang="en-US" altLang="zh-CN" dirty="0">
              <a:solidFill>
                <a:srgbClr val="262626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</a:rPr>
              <a:t>卢岳：后端、</a:t>
            </a:r>
            <a:r>
              <a:rPr lang="en-US" altLang="zh-CN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</a:rPr>
              <a:t> python</a:t>
            </a:r>
            <a:r>
              <a:rPr lang="zh-CN" altLang="en-US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</a:rPr>
              <a:t>脚本数据收集。</a:t>
            </a:r>
            <a:endParaRPr lang="en-US" altLang="zh-CN" dirty="0">
              <a:solidFill>
                <a:srgbClr val="262626"/>
              </a:solidFill>
              <a:latin typeface="MiSans" pitchFamily="34" charset="0"/>
              <a:ea typeface="MiSans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</a:rPr>
              <a:t>李想：前端、后端、</a:t>
            </a:r>
            <a:r>
              <a:rPr lang="en-US" altLang="zh-CN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</a:rPr>
              <a:t>python</a:t>
            </a:r>
            <a:r>
              <a:rPr lang="zh-CN" altLang="en-US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</a:rPr>
              <a:t>脚本数据收集。</a:t>
            </a:r>
            <a:endParaRPr lang="en-US" altLang="zh-CN" dirty="0">
              <a:solidFill>
                <a:srgbClr val="262626"/>
              </a:solidFill>
              <a:latin typeface="MiSans" pitchFamily="34" charset="0"/>
              <a:ea typeface="MiSans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</a:rPr>
              <a:t>刘乐鹏：前后端、课表、食堂</a:t>
            </a:r>
            <a:r>
              <a:rPr lang="en-US" altLang="zh-CN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</a:rPr>
              <a:t>Agent</a:t>
            </a:r>
            <a:r>
              <a:rPr lang="zh-CN" altLang="en-US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</a:rPr>
              <a:t>，向量数据库</a:t>
            </a:r>
            <a:r>
              <a:rPr lang="en-US" altLang="zh-CN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</a:rPr>
              <a:t> </a:t>
            </a:r>
            <a:r>
              <a:rPr lang="zh-CN" altLang="en-US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</a:rPr>
              <a:t>。</a:t>
            </a:r>
            <a:endParaRPr lang="en-US" altLang="zh-CN" dirty="0">
              <a:solidFill>
                <a:srgbClr val="262626"/>
              </a:solidFill>
              <a:latin typeface="MiSans" pitchFamily="34" charset="0"/>
              <a:ea typeface="MiSans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</a:rPr>
              <a:t>朱艺杭：后端、食堂</a:t>
            </a:r>
            <a:r>
              <a:rPr lang="en-US" altLang="zh-CN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</a:rPr>
              <a:t>Agent </a:t>
            </a:r>
            <a:r>
              <a:rPr lang="zh-CN" altLang="en-US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</a:rPr>
              <a:t>。</a:t>
            </a:r>
            <a:endParaRPr lang="en-US" altLang="zh-CN" dirty="0">
              <a:solidFill>
                <a:srgbClr val="262626"/>
              </a:solidFill>
              <a:latin typeface="MiSans" pitchFamily="34" charset="0"/>
              <a:ea typeface="MiSans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dirty="0">
              <a:solidFill>
                <a:srgbClr val="262626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pPr>
              <a:lnSpc>
                <a:spcPct val="150000"/>
              </a:lnSpc>
            </a:pPr>
            <a:endParaRPr lang="en-US" altLang="zh-CN" dirty="0">
              <a:solidFill>
                <a:srgbClr val="262626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F7404E4-39E5-A6FA-D8A8-D3AC90D4A1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9125" y="1013444"/>
            <a:ext cx="6707859" cy="5844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436070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67A0B-337D-F1DE-0AB5-3AFE5656F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直线连接符 22">
            <a:extLst>
              <a:ext uri="{FF2B5EF4-FFF2-40B4-BE49-F238E27FC236}">
                <a16:creationId xmlns:a16="http://schemas.microsoft.com/office/drawing/2014/main" id="{3A83CCBE-27AA-8904-304A-B4D637A4406F}"/>
              </a:ext>
            </a:extLst>
          </p:cNvPr>
          <p:cNvCxnSpPr>
            <a:cxnSpLocks/>
          </p:cNvCxnSpPr>
          <p:nvPr/>
        </p:nvCxnSpPr>
        <p:spPr>
          <a:xfrm>
            <a:off x="0" y="1010143"/>
            <a:ext cx="12192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FA073679-96DF-E068-8E62-D29C6980F500}"/>
              </a:ext>
            </a:extLst>
          </p:cNvPr>
          <p:cNvSpPr txBox="1"/>
          <p:nvPr/>
        </p:nvSpPr>
        <p:spPr>
          <a:xfrm>
            <a:off x="802093" y="245183"/>
            <a:ext cx="46652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spc="300" dirty="0">
                <a:solidFill>
                  <a:srgbClr val="06449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项目目标</a:t>
            </a:r>
            <a:endParaRPr kumimoji="1" lang="en-US" altLang="zh-CN" sz="2400" b="1" spc="300" dirty="0">
              <a:solidFill>
                <a:srgbClr val="06449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C4D871D7-9C5A-69F3-83CB-117B4E451D6C}"/>
              </a:ext>
            </a:extLst>
          </p:cNvPr>
          <p:cNvSpPr/>
          <p:nvPr/>
        </p:nvSpPr>
        <p:spPr>
          <a:xfrm>
            <a:off x="421100" y="364783"/>
            <a:ext cx="284020" cy="284020"/>
          </a:xfrm>
          <a:prstGeom prst="ellipse">
            <a:avLst/>
          </a:prstGeom>
          <a:solidFill>
            <a:srgbClr val="0644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rgbClr val="06449A"/>
              </a:solidFill>
            </a:endParaRPr>
          </a:p>
        </p:txBody>
      </p:sp>
      <p:sp>
        <p:nvSpPr>
          <p:cNvPr id="96" name="单圆角矩形 3">
            <a:extLst>
              <a:ext uri="{FF2B5EF4-FFF2-40B4-BE49-F238E27FC236}">
                <a16:creationId xmlns:a16="http://schemas.microsoft.com/office/drawing/2014/main" id="{BCF1DC60-5507-7ABE-334D-2C7EDE61B4BF}"/>
              </a:ext>
            </a:extLst>
          </p:cNvPr>
          <p:cNvSpPr/>
          <p:nvPr/>
        </p:nvSpPr>
        <p:spPr>
          <a:xfrm flipV="1">
            <a:off x="124216" y="1734320"/>
            <a:ext cx="1298832" cy="607871"/>
          </a:xfrm>
          <a:prstGeom prst="round1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bg1"/>
              </a:solidFill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56870678-069E-BB04-99F0-7CDB6979705F}"/>
              </a:ext>
            </a:extLst>
          </p:cNvPr>
          <p:cNvSpPr txBox="1"/>
          <p:nvPr/>
        </p:nvSpPr>
        <p:spPr>
          <a:xfrm>
            <a:off x="124216" y="6145096"/>
            <a:ext cx="1228449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kumimoji="1" lang="zh-CN" altLang="en-US" sz="1600" b="1" spc="3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参考文献</a:t>
            </a:r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AA968F92-D59F-0125-CB6B-2DB84AB9439C}"/>
              </a:ext>
            </a:extLst>
          </p:cNvPr>
          <p:cNvSpPr txBox="1"/>
          <p:nvPr/>
        </p:nvSpPr>
        <p:spPr>
          <a:xfrm>
            <a:off x="113043" y="2704889"/>
            <a:ext cx="1228449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kumimoji="1" lang="zh-CN" altLang="en-US" sz="1600" b="1" spc="3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国内外研究概况</a:t>
            </a: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3A9B37E4-1AD4-B8EC-D5D4-56F3B86C21A7}"/>
              </a:ext>
            </a:extLst>
          </p:cNvPr>
          <p:cNvSpPr txBox="1"/>
          <p:nvPr/>
        </p:nvSpPr>
        <p:spPr>
          <a:xfrm>
            <a:off x="113043" y="3568337"/>
            <a:ext cx="1268709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 algn="ctr">
              <a:defRPr kumimoji="1" sz="1400" b="1" spc="3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sz="1600" dirty="0"/>
              <a:t>主要研究内容</a:t>
            </a: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C378EDC7-C22C-DC26-7F4F-8AEB4BD95D55}"/>
              </a:ext>
            </a:extLst>
          </p:cNvPr>
          <p:cNvSpPr txBox="1"/>
          <p:nvPr/>
        </p:nvSpPr>
        <p:spPr>
          <a:xfrm>
            <a:off x="124216" y="5263082"/>
            <a:ext cx="1228449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 algn="ctr">
              <a:defRPr kumimoji="1" sz="1400" b="1" spc="3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sz="1600" dirty="0"/>
              <a:t>计划与进度安排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72C9197-F286-F263-9961-F4316EDE8B9F}"/>
              </a:ext>
            </a:extLst>
          </p:cNvPr>
          <p:cNvSpPr txBox="1"/>
          <p:nvPr/>
        </p:nvSpPr>
        <p:spPr>
          <a:xfrm>
            <a:off x="153303" y="4471861"/>
            <a:ext cx="1228449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 algn="ctr">
              <a:defRPr kumimoji="1" sz="1400" b="1" spc="3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sz="1600" dirty="0"/>
              <a:t>研究进展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C35A17E-310E-DD1F-AF39-7BA92ECE579C}"/>
              </a:ext>
            </a:extLst>
          </p:cNvPr>
          <p:cNvSpPr txBox="1"/>
          <p:nvPr/>
        </p:nvSpPr>
        <p:spPr>
          <a:xfrm>
            <a:off x="375443" y="1214983"/>
            <a:ext cx="110324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4330" marR="0" lvl="0" indent="-354330" algn="l" defTabSz="914400" rtl="0" eaLnBrk="1" fontAlgn="base" latinLnBrk="0" hangingPunct="1">
              <a:lnSpc>
                <a:spcPct val="100000"/>
              </a:lnSpc>
              <a:spcBef>
                <a:spcPct val="45000"/>
              </a:spcBef>
              <a:spcAft>
                <a:spcPct val="0"/>
              </a:spcAft>
              <a:buClr>
                <a:srgbClr val="FBB030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3200" b="1" kern="0" dirty="0">
                <a:solidFill>
                  <a:srgbClr val="06449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项目目标</a:t>
            </a:r>
            <a:endParaRPr lang="en-US" altLang="zh-CN" sz="2400" b="1" kern="0" dirty="0">
              <a:solidFill>
                <a:srgbClr val="EEECE1">
                  <a:lumMod val="1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573B862-395D-2086-6ECE-8F0B00C19F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7644" y="0"/>
            <a:ext cx="2724356" cy="96670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20FBD6DC-1745-0DC5-058A-CCAA1CD0DD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2401" y="82788"/>
            <a:ext cx="884895" cy="905839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C3439A88-05AD-C041-ADD2-298B647CFC13}"/>
              </a:ext>
            </a:extLst>
          </p:cNvPr>
          <p:cNvSpPr txBox="1"/>
          <p:nvPr/>
        </p:nvSpPr>
        <p:spPr>
          <a:xfrm>
            <a:off x="199873" y="2252425"/>
            <a:ext cx="5267477" cy="874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US" altLang="zh-CN" dirty="0">
              <a:solidFill>
                <a:srgbClr val="262626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pPr>
              <a:lnSpc>
                <a:spcPct val="150000"/>
              </a:lnSpc>
            </a:pPr>
            <a:endParaRPr lang="en-US" altLang="zh-CN" dirty="0">
              <a:solidFill>
                <a:srgbClr val="262626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E570AA4-CA98-8BB9-11F9-0C39C5C1E264}"/>
              </a:ext>
            </a:extLst>
          </p:cNvPr>
          <p:cNvSpPr txBox="1"/>
          <p:nvPr/>
        </p:nvSpPr>
        <p:spPr>
          <a:xfrm>
            <a:off x="802093" y="2004597"/>
            <a:ext cx="10448734" cy="4666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/>
              <a:t>项目不足与优化方向</a:t>
            </a:r>
          </a:p>
          <a:p>
            <a:pPr>
              <a:lnSpc>
                <a:spcPct val="150000"/>
              </a:lnSpc>
            </a:pPr>
            <a:r>
              <a:rPr lang="en-US" altLang="zh-CN" b="1" dirty="0"/>
              <a:t>1. </a:t>
            </a:r>
            <a:r>
              <a:rPr lang="zh-CN" altLang="en-US" b="1" dirty="0"/>
              <a:t>向量数据库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当前向量数据库</a:t>
            </a:r>
            <a:r>
              <a:rPr lang="zh-CN" altLang="en-US" b="1" dirty="0"/>
              <a:t>类型单一</a:t>
            </a:r>
            <a:r>
              <a:rPr lang="zh-CN" altLang="en-US" dirty="0"/>
              <a:t>，支持种类有限。后续将接入多种主流向量库，提升检索适配性与检索效率。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向量数据库主要以</a:t>
            </a:r>
            <a:r>
              <a:rPr lang="zh-CN" altLang="en-US" b="1" dirty="0"/>
              <a:t>语义检索为主</a:t>
            </a:r>
            <a:r>
              <a:rPr lang="zh-CN" altLang="en-US" dirty="0"/>
              <a:t>，关键词搜索不强，项目优化将用</a:t>
            </a:r>
            <a:r>
              <a:rPr lang="en-US" altLang="zh-CN" dirty="0"/>
              <a:t>python + bge-m4</a:t>
            </a:r>
            <a:r>
              <a:rPr lang="zh-CN" altLang="en-US" dirty="0"/>
              <a:t>模型混合检索提升准确度。</a:t>
            </a:r>
          </a:p>
          <a:p>
            <a:pPr>
              <a:lnSpc>
                <a:spcPct val="150000"/>
              </a:lnSpc>
            </a:pPr>
            <a:r>
              <a:rPr lang="en-US" altLang="zh-CN" b="1" dirty="0"/>
              <a:t>2. </a:t>
            </a:r>
            <a:r>
              <a:rPr lang="zh-CN" altLang="en-US" b="1" dirty="0"/>
              <a:t>知识库管理</a:t>
            </a:r>
          </a:p>
          <a:p>
            <a:pPr>
              <a:lnSpc>
                <a:spcPct val="150000"/>
              </a:lnSpc>
            </a:pPr>
            <a:r>
              <a:rPr lang="zh-CN" altLang="en-US" b="1" dirty="0"/>
              <a:t>缺少可视化的知识库上传与管理页面</a:t>
            </a:r>
            <a:r>
              <a:rPr lang="zh-CN" altLang="en-US" dirty="0"/>
              <a:t>。需要新增前端界面，支持文档上传、处理与向量入库。</a:t>
            </a:r>
          </a:p>
          <a:p>
            <a:pPr>
              <a:lnSpc>
                <a:spcPct val="150000"/>
              </a:lnSpc>
            </a:pPr>
            <a:r>
              <a:rPr lang="en-US" altLang="zh-CN" b="1" dirty="0"/>
              <a:t>3. Agent </a:t>
            </a:r>
            <a:r>
              <a:rPr lang="zh-CN" altLang="en-US" b="1" dirty="0"/>
              <a:t>智能能力</a:t>
            </a:r>
          </a:p>
          <a:p>
            <a:pPr>
              <a:lnSpc>
                <a:spcPct val="150000"/>
              </a:lnSpc>
            </a:pPr>
            <a:r>
              <a:rPr lang="zh-CN" altLang="en-US" b="1" dirty="0"/>
              <a:t>未实现</a:t>
            </a:r>
            <a:r>
              <a:rPr lang="en-US" altLang="zh-CN" b="1" dirty="0"/>
              <a:t>Tools</a:t>
            </a:r>
            <a:r>
              <a:rPr lang="zh-CN" altLang="en-US" b="1" dirty="0"/>
              <a:t>能力，并未完全体现</a:t>
            </a:r>
            <a:r>
              <a:rPr lang="en-US" altLang="zh-CN" b="1" dirty="0"/>
              <a:t>Agent</a:t>
            </a:r>
            <a:r>
              <a:rPr lang="zh-CN" altLang="en-US" b="1" dirty="0"/>
              <a:t>能力。</a:t>
            </a:r>
            <a:r>
              <a:rPr lang="zh-CN" altLang="en-US" dirty="0"/>
              <a:t>将完善工具链，优化调度逻辑，充分释放智能体自主执行与决策能力。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49301988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0B99A-6639-5D03-EA73-9EF0B40D8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矩形 5">
            <a:extLst>
              <a:ext uri="{FF2B5EF4-FFF2-40B4-BE49-F238E27FC236}">
                <a16:creationId xmlns:a16="http://schemas.microsoft.com/office/drawing/2014/main" id="{09A5F13D-9063-F2FB-1614-A3E56B110CBC}"/>
              </a:ext>
            </a:extLst>
          </p:cNvPr>
          <p:cNvSpPr/>
          <p:nvPr/>
        </p:nvSpPr>
        <p:spPr>
          <a:xfrm>
            <a:off x="-1" y="2428875"/>
            <a:ext cx="12192001" cy="2016125"/>
          </a:xfrm>
          <a:prstGeom prst="rect">
            <a:avLst/>
          </a:prstGeom>
          <a:solidFill>
            <a:srgbClr val="0644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 sz="32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48588" name="文本框 8">
            <a:extLst>
              <a:ext uri="{FF2B5EF4-FFF2-40B4-BE49-F238E27FC236}">
                <a16:creationId xmlns:a16="http://schemas.microsoft.com/office/drawing/2014/main" id="{9B03543C-7DAC-FD8D-4D56-B6583E967341}"/>
              </a:ext>
            </a:extLst>
          </p:cNvPr>
          <p:cNvSpPr txBox="1"/>
          <p:nvPr/>
        </p:nvSpPr>
        <p:spPr>
          <a:xfrm>
            <a:off x="124991" y="2331995"/>
            <a:ext cx="11335953" cy="20040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ct val="130000"/>
              </a:lnSpc>
              <a:defRPr sz="4800" b="1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kumimoji="1" lang="zh-CN" altLang="en-US" sz="4400" dirty="0">
                <a:solidFill>
                  <a:schemeClr val="bg1"/>
                </a:solidFill>
              </a:rPr>
              <a:t>感谢倾听</a:t>
            </a:r>
            <a:endParaRPr kumimoji="1" lang="en-US" altLang="zh-CN" sz="4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kumimoji="1" lang="zh-CN" altLang="en-US" sz="4400" dirty="0">
                <a:solidFill>
                  <a:schemeClr val="bg1"/>
                </a:solidFill>
              </a:rPr>
              <a:t>敬请批评指正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7273D39-79D1-2DDF-8DBA-7204C465B2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7341" y="974931"/>
            <a:ext cx="5483866" cy="1239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02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自定义 333">
      <a:dk1>
        <a:srgbClr val="363636"/>
      </a:dk1>
      <a:lt1>
        <a:srgbClr val="FEFFFF"/>
      </a:lt1>
      <a:dk2>
        <a:srgbClr val="FEFFFF"/>
      </a:dk2>
      <a:lt2>
        <a:srgbClr val="FEFFFF"/>
      </a:lt2>
      <a:accent1>
        <a:srgbClr val="2270B6"/>
      </a:accent1>
      <a:accent2>
        <a:srgbClr val="2270B6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D2F6E"/>
      </a:hlink>
      <a:folHlink>
        <a:srgbClr val="0D2F6E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3821</TotalTime>
  <Words>2192</Words>
  <Application>Microsoft Office PowerPoint</Application>
  <PresentationFormat>宽屏</PresentationFormat>
  <Paragraphs>276</Paragraphs>
  <Slides>24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5" baseType="lpstr">
      <vt:lpstr>Arial Unicode MS</vt:lpstr>
      <vt:lpstr>MiSans</vt:lpstr>
      <vt:lpstr>等线</vt:lpstr>
      <vt:lpstr>方正公文小标宋</vt:lpstr>
      <vt:lpstr>微软雅黑</vt:lpstr>
      <vt:lpstr>微软雅黑</vt:lpstr>
      <vt:lpstr>Arial</vt:lpstr>
      <vt:lpstr>Arial Narrow</vt:lpstr>
      <vt:lpstr>Open Sans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乐鹏 刘</cp:lastModifiedBy>
  <cp:revision>131</cp:revision>
  <dcterms:created xsi:type="dcterms:W3CDTF">2022-04-21T01:49:40Z</dcterms:created>
  <dcterms:modified xsi:type="dcterms:W3CDTF">2026-03-09T16:27:58Z</dcterms:modified>
</cp:coreProperties>
</file>